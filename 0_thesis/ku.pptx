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342" r:id="rId2"/>
    <p:sldId id="374" r:id="rId3"/>
    <p:sldId id="320" r:id="rId4"/>
    <p:sldId id="412" r:id="rId5"/>
    <p:sldId id="347" r:id="rId6"/>
    <p:sldId id="464" r:id="rId7"/>
    <p:sldId id="422" r:id="rId8"/>
    <p:sldId id="419" r:id="rId9"/>
    <p:sldId id="471" r:id="rId10"/>
    <p:sldId id="359" r:id="rId11"/>
    <p:sldId id="420" r:id="rId12"/>
    <p:sldId id="421" r:id="rId13"/>
    <p:sldId id="463" r:id="rId14"/>
    <p:sldId id="414" r:id="rId15"/>
    <p:sldId id="425" r:id="rId16"/>
    <p:sldId id="432" r:id="rId17"/>
    <p:sldId id="465" r:id="rId18"/>
    <p:sldId id="466" r:id="rId19"/>
    <p:sldId id="470" r:id="rId20"/>
    <p:sldId id="460" r:id="rId21"/>
    <p:sldId id="444" r:id="rId22"/>
    <p:sldId id="441" r:id="rId23"/>
    <p:sldId id="469" r:id="rId24"/>
    <p:sldId id="392" r:id="rId25"/>
    <p:sldId id="397" r:id="rId26"/>
    <p:sldId id="448" r:id="rId27"/>
    <p:sldId id="433" r:id="rId28"/>
    <p:sldId id="451" r:id="rId29"/>
    <p:sldId id="452" r:id="rId30"/>
    <p:sldId id="454" r:id="rId31"/>
    <p:sldId id="455" r:id="rId32"/>
    <p:sldId id="457" r:id="rId33"/>
    <p:sldId id="458" r:id="rId34"/>
    <p:sldId id="459" r:id="rId35"/>
    <p:sldId id="273" r:id="rId36"/>
    <p:sldId id="369" r:id="rId37"/>
    <p:sldId id="461" r:id="rId38"/>
    <p:sldId id="462" r:id="rId39"/>
    <p:sldId id="350" r:id="rId40"/>
    <p:sldId id="468" r:id="rId4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0EE7"/>
    <a:srgbClr val="1C06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66" autoAdjust="0"/>
    <p:restoredTop sz="81588" autoAdjust="0"/>
  </p:normalViewPr>
  <p:slideViewPr>
    <p:cSldViewPr snapToGrid="0">
      <p:cViewPr varScale="1">
        <p:scale>
          <a:sx n="90" d="100"/>
          <a:sy n="90" d="100"/>
        </p:scale>
        <p:origin x="116" y="60"/>
      </p:cViewPr>
      <p:guideLst/>
    </p:cSldViewPr>
  </p:slideViewPr>
  <p:notesTextViewPr>
    <p:cViewPr>
      <p:scale>
        <a:sx n="1" d="1"/>
        <a:sy n="1" d="1"/>
      </p:scale>
      <p:origin x="0" y="0"/>
    </p:cViewPr>
  </p:notesTextViewPr>
  <p:sorterViewPr>
    <p:cViewPr>
      <p:scale>
        <a:sx n="100" d="100"/>
        <a:sy n="100" d="100"/>
      </p:scale>
      <p:origin x="0" y="-21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282F6B-64A1-488F-A9E0-CEF36CE69D5D}" type="datetimeFigureOut">
              <a:rPr kumimoji="1" lang="ja-JP" altLang="en-US" smtClean="0"/>
              <a:t>2025/2/18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3AB39-2151-4E9B-986E-1F25CF106DBB}" type="slidenum">
              <a:rPr kumimoji="1" lang="ja-JP" altLang="en-US" smtClean="0"/>
              <a:t>‹#›</a:t>
            </a:fld>
            <a:endParaRPr kumimoji="1" lang="ja-JP" altLang="en-US"/>
          </a:p>
        </p:txBody>
      </p:sp>
    </p:spTree>
    <p:extLst>
      <p:ext uri="{BB962C8B-B14F-4D97-AF65-F5344CB8AC3E}">
        <p14:creationId xmlns:p14="http://schemas.microsoft.com/office/powerpoint/2010/main" val="31590335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dirty="0"/>
              <a:t>類似貢献度に基づく文書検索結果の可視化分析法と評価法の研究成果を発表します。</a:t>
            </a:r>
            <a:endParaRPr lang="en-US" altLang="ja-JP" b="0" dirty="0"/>
          </a:p>
          <a:p>
            <a:endParaRPr kumimoji="1" lang="en-US" altLang="ja-JP" b="0" dirty="0"/>
          </a:p>
          <a:p>
            <a:r>
              <a:rPr kumimoji="1" lang="ja-JP" altLang="en-US" b="0" dirty="0"/>
              <a:t>神奈川大学大学院 理学研究科 理学専攻 情報科学領域 </a:t>
            </a:r>
            <a:r>
              <a:rPr kumimoji="1" lang="en-US" altLang="ja-JP" b="0" dirty="0"/>
              <a:t>2</a:t>
            </a:r>
            <a:r>
              <a:rPr kumimoji="1" lang="ja-JP" altLang="en-US" b="0" dirty="0"/>
              <a:t>年</a:t>
            </a:r>
            <a:r>
              <a:rPr kumimoji="1" lang="en-US" altLang="ja-JP" b="0" dirty="0"/>
              <a:t> </a:t>
            </a:r>
            <a:r>
              <a:rPr lang="ja-JP" altLang="en-US" b="0" dirty="0"/>
              <a:t>尾崎了祐 です。</a:t>
            </a:r>
            <a:endParaRPr kumimoji="1" lang="ja-JP" altLang="en-US" b="0" dirty="0"/>
          </a:p>
          <a:p>
            <a:endParaRPr lang="en-US" altLang="ja-JP" b="0" dirty="0"/>
          </a:p>
          <a:p>
            <a:r>
              <a:rPr kumimoji="1" lang="ja-JP" altLang="en-US" dirty="0"/>
              <a:t>よろしくお願いします。</a:t>
            </a:r>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1</a:t>
            </a:fld>
            <a:endParaRPr kumimoji="1" lang="ja-JP" altLang="en-US"/>
          </a:p>
        </p:txBody>
      </p:sp>
    </p:spTree>
    <p:extLst>
      <p:ext uri="{BB962C8B-B14F-4D97-AF65-F5344CB8AC3E}">
        <p14:creationId xmlns:p14="http://schemas.microsoft.com/office/powerpoint/2010/main" val="1781519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2AF2B-C099-31F8-EE99-1D5AA014B4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B033A54-D588-96EB-8690-23C6EC97DB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249D578-0344-5CE9-E427-775817D2FE13}"/>
              </a:ext>
            </a:extLst>
          </p:cNvPr>
          <p:cNvSpPr>
            <a:spLocks noGrp="1"/>
          </p:cNvSpPr>
          <p:nvPr>
            <p:ph type="body" idx="1"/>
          </p:nvPr>
        </p:nvSpPr>
        <p:spPr/>
        <p:txBody>
          <a:bodyPr/>
          <a:lstStyle/>
          <a:p>
            <a:pPr marL="0" indent="0">
              <a:buNone/>
            </a:pPr>
            <a:r>
              <a:rPr lang="ja-JP" altLang="en-US" sz="1200" b="0" dirty="0"/>
              <a:t>本研究では</a:t>
            </a:r>
            <a:r>
              <a:rPr lang="en-US" altLang="ja-JP" sz="1200" b="0" dirty="0"/>
              <a:t>, </a:t>
            </a:r>
            <a:r>
              <a:rPr lang="ja-JP" altLang="en-US" sz="1200" b="0" dirty="0"/>
              <a:t>与えられた文書と</a:t>
            </a:r>
            <a:r>
              <a:rPr lang="ja-JP" altLang="en-US" sz="1200" b="0" dirty="0">
                <a:solidFill>
                  <a:srgbClr val="C00000"/>
                </a:solidFill>
              </a:rPr>
              <a:t>似ている文書を検索</a:t>
            </a:r>
            <a:r>
              <a:rPr lang="ja-JP" altLang="en-US" b="0" dirty="0"/>
              <a:t>し</a:t>
            </a:r>
            <a:r>
              <a:rPr lang="en-US" altLang="ja-JP" b="0" dirty="0"/>
              <a:t>,</a:t>
            </a:r>
          </a:p>
          <a:p>
            <a:pPr marL="0" indent="0">
              <a:buNone/>
            </a:pPr>
            <a:endParaRPr lang="en-US" altLang="ja-JP" b="0" dirty="0">
              <a:solidFill>
                <a:srgbClr val="C00000"/>
              </a:solidFill>
            </a:endParaRPr>
          </a:p>
          <a:p>
            <a:pPr marL="0" indent="0">
              <a:buNone/>
            </a:pPr>
            <a:r>
              <a:rPr kumimoji="1" lang="ja-JP" altLang="en-US" b="0" dirty="0"/>
              <a:t>検索結果文書をネットワーク図として</a:t>
            </a:r>
            <a:r>
              <a:rPr kumimoji="1" lang="ja-JP" altLang="en-US" b="0" dirty="0">
                <a:solidFill>
                  <a:srgbClr val="C00000"/>
                </a:solidFill>
              </a:rPr>
              <a:t>可視化</a:t>
            </a:r>
            <a:r>
              <a:rPr kumimoji="1" lang="ja-JP" altLang="en-US" b="0" dirty="0"/>
              <a:t>する研究に取り組んでいます</a:t>
            </a:r>
            <a:r>
              <a:rPr kumimoji="1" lang="en-US" altLang="ja-JP" b="0" dirty="0"/>
              <a:t>.</a:t>
            </a:r>
          </a:p>
          <a:p>
            <a:pPr marL="0" indent="0">
              <a:buNone/>
            </a:pPr>
            <a:endParaRPr kumimoji="1" lang="en-US" altLang="ja-JP" b="0" dirty="0"/>
          </a:p>
        </p:txBody>
      </p:sp>
      <p:sp>
        <p:nvSpPr>
          <p:cNvPr id="4" name="スライド番号プレースホルダー 3">
            <a:extLst>
              <a:ext uri="{FF2B5EF4-FFF2-40B4-BE49-F238E27FC236}">
                <a16:creationId xmlns:a16="http://schemas.microsoft.com/office/drawing/2014/main" id="{63A40F26-B828-8D02-EF5D-C3BD14080163}"/>
              </a:ext>
            </a:extLst>
          </p:cNvPr>
          <p:cNvSpPr>
            <a:spLocks noGrp="1"/>
          </p:cNvSpPr>
          <p:nvPr>
            <p:ph type="sldNum" sz="quarter" idx="5"/>
          </p:nvPr>
        </p:nvSpPr>
        <p:spPr/>
        <p:txBody>
          <a:bodyPr/>
          <a:lstStyle/>
          <a:p>
            <a:fld id="{0783AB39-2151-4E9B-986E-1F25CF106DBB}" type="slidenum">
              <a:rPr kumimoji="1" lang="ja-JP" altLang="en-US" smtClean="0"/>
              <a:t>2</a:t>
            </a:fld>
            <a:endParaRPr kumimoji="1" lang="ja-JP" altLang="en-US"/>
          </a:p>
        </p:txBody>
      </p:sp>
    </p:spTree>
    <p:extLst>
      <p:ext uri="{BB962C8B-B14F-4D97-AF65-F5344CB8AC3E}">
        <p14:creationId xmlns:p14="http://schemas.microsoft.com/office/powerpoint/2010/main" val="4271191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また、本研究は類似文書検索を応用した研究テーマなので、類似文書検索について先に説明します。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類似文書検索とは、アップロードした文書と似ている文書を検索することです。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本研究の場合は、</a:t>
            </a:r>
            <a:r>
              <a:rPr kumimoji="1" lang="ja-JP" altLang="en-US" b="1" dirty="0"/>
              <a:t>ゆるキャラ「カクカクシカジカ」を用いたダイハツ自動車の</a:t>
            </a:r>
            <a:r>
              <a:rPr kumimoji="1" lang="en-US" altLang="ja-JP" b="1" dirty="0"/>
              <a:t>CM</a:t>
            </a:r>
            <a:r>
              <a:rPr kumimoji="1" lang="ja-JP" altLang="en-US" b="1" dirty="0"/>
              <a:t>に関する文書</a:t>
            </a:r>
            <a:r>
              <a:rPr kumimoji="1" lang="ja-JP" altLang="en-US" b="0" dirty="0"/>
              <a:t>を</a:t>
            </a:r>
            <a:r>
              <a:rPr kumimoji="1" lang="ja-JP" altLang="en-US" dirty="0"/>
              <a:t>クエリ文書として渡し、</a:t>
            </a:r>
            <a:endParaRPr kumimoji="1" lang="ja-JP" alt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7367</a:t>
            </a:r>
            <a:r>
              <a:rPr kumimoji="1" lang="ja-JP" altLang="en-US" dirty="0"/>
              <a:t>件の</a:t>
            </a:r>
            <a:r>
              <a:rPr lang="ja-JP" altLang="en-US" b="0" dirty="0"/>
              <a:t>文書からクエリ文書と類似する文書を</a:t>
            </a:r>
            <a:r>
              <a:rPr lang="en-US" altLang="ja-JP" b="0" dirty="0"/>
              <a:t>100</a:t>
            </a:r>
            <a:r>
              <a:rPr lang="ja-JP" altLang="en-US" b="0" dirty="0"/>
              <a:t>件出力します。</a:t>
            </a:r>
            <a:endParaRPr kumimoji="1" lang="en-US" altLang="ja-JP" b="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3</a:t>
            </a:fld>
            <a:endParaRPr kumimoji="1" lang="ja-JP" altLang="en-US"/>
          </a:p>
        </p:txBody>
      </p:sp>
    </p:spTree>
    <p:extLst>
      <p:ext uri="{BB962C8B-B14F-4D97-AF65-F5344CB8AC3E}">
        <p14:creationId xmlns:p14="http://schemas.microsoft.com/office/powerpoint/2010/main" val="2379664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そして先ほどのクエリ文書で文書検索すると、このように似ている文書が羅列されるのですが、</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この状態だと、どんな文書が多いのか、似ている文書はどれなのか等、全体像の把握が非常に困難です。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kern="1200" dirty="0">
              <a:solidFill>
                <a:schemeClr val="tx1"/>
              </a:solidFill>
              <a:latin typeface="+mj-lt"/>
              <a:ea typeface="+mj-ea"/>
              <a:cs typeface="+mj-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kern="1200" dirty="0">
                <a:solidFill>
                  <a:schemeClr val="tx1"/>
                </a:solidFill>
                <a:latin typeface="+mj-lt"/>
                <a:ea typeface="+mj-ea"/>
                <a:cs typeface="+mj-cs"/>
              </a:rPr>
              <a:t>そのため、どんな内容の文書が検索されたのかを視覚的に把握可能にする必要があります。</a:t>
            </a:r>
            <a:endParaRPr lang="en-US" altLang="ja-JP" sz="1200" kern="1200" dirty="0">
              <a:solidFill>
                <a:schemeClr val="tx1"/>
              </a:solidFill>
              <a:latin typeface="+mj-lt"/>
              <a:ea typeface="+mj-ea"/>
              <a:cs typeface="+mj-cs"/>
            </a:endParaRPr>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4</a:t>
            </a:fld>
            <a:endParaRPr kumimoji="1" lang="ja-JP" altLang="en-US"/>
          </a:p>
        </p:txBody>
      </p:sp>
    </p:spTree>
    <p:extLst>
      <p:ext uri="{BB962C8B-B14F-4D97-AF65-F5344CB8AC3E}">
        <p14:creationId xmlns:p14="http://schemas.microsoft.com/office/powerpoint/2010/main" val="2058414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この問題を低減するために、本研究では可視化ブラウジングツールというアプリケーションを開発しました。</a:t>
            </a:r>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5</a:t>
            </a:fld>
            <a:endParaRPr kumimoji="1" lang="ja-JP" altLang="en-US"/>
          </a:p>
        </p:txBody>
      </p:sp>
    </p:spTree>
    <p:extLst>
      <p:ext uri="{BB962C8B-B14F-4D97-AF65-F5344CB8AC3E}">
        <p14:creationId xmlns:p14="http://schemas.microsoft.com/office/powerpoint/2010/main" val="308407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このツールは、どういう観点で文章が似ているかを車や</a:t>
            </a:r>
            <a:r>
              <a:rPr kumimoji="1" lang="en-US" altLang="ja-JP" dirty="0"/>
              <a:t>CM</a:t>
            </a:r>
            <a:r>
              <a:rPr kumimoji="1" lang="ja-JP" altLang="en-US" dirty="0"/>
              <a:t>などの説明語を付与し、文書分類と配色を施して表示します。</a:t>
            </a:r>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6</a:t>
            </a:fld>
            <a:endParaRPr kumimoji="1" lang="ja-JP" altLang="en-US"/>
          </a:p>
        </p:txBody>
      </p:sp>
    </p:spTree>
    <p:extLst>
      <p:ext uri="{BB962C8B-B14F-4D97-AF65-F5344CB8AC3E}">
        <p14:creationId xmlns:p14="http://schemas.microsoft.com/office/powerpoint/2010/main" val="3256461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後ほど、実際の可視化ブラウジングツール上でデモンストレーションを行いますが、</a:t>
            </a:r>
            <a:endParaRPr kumimoji="1" lang="en-US" altLang="ja-JP" dirty="0"/>
          </a:p>
          <a:p>
            <a:endParaRPr kumimoji="1" lang="en-US" altLang="ja-JP" dirty="0"/>
          </a:p>
          <a:p>
            <a:r>
              <a:rPr kumimoji="1" lang="ja-JP" altLang="en-US" dirty="0"/>
              <a:t>最初に可視化ブラウジングツールの概要を説明します。</a:t>
            </a:r>
            <a:endParaRPr kumimoji="1" lang="en-US" altLang="ja-JP" dirty="0"/>
          </a:p>
          <a:p>
            <a:endParaRPr lang="en-US" altLang="ja-JP" dirty="0"/>
          </a:p>
          <a:p>
            <a:r>
              <a:rPr lang="ja-JP" altLang="en-US" dirty="0"/>
              <a:t>画面に点在する●が文書を示しており、</a:t>
            </a:r>
            <a:endParaRPr lang="en-US" altLang="ja-JP" dirty="0"/>
          </a:p>
          <a:p>
            <a:endParaRPr kumimoji="1" lang="en-US" altLang="ja-JP" dirty="0"/>
          </a:p>
          <a:p>
            <a:r>
              <a:rPr kumimoji="1" lang="ja-JP" altLang="en-US" dirty="0"/>
              <a:t>検索された全ての文書に色と説明語を付与することで、検索された文書はどんなジャンルが多いのか簡単に把握できます。</a:t>
            </a:r>
            <a:endParaRPr kumimoji="1" lang="en-US" altLang="ja-JP" dirty="0"/>
          </a:p>
          <a:p>
            <a:endParaRPr kumimoji="1" lang="en-US" altLang="ja-JP" dirty="0"/>
          </a:p>
          <a:p>
            <a:r>
              <a:rPr kumimoji="1" lang="ja-JP" altLang="en-US" dirty="0"/>
              <a:t>また、ノードの座標が近ければ類似しており、離れていればあまり類似していないことを示しています。</a:t>
            </a:r>
            <a:endParaRPr kumimoji="1" lang="en-US" altLang="ja-JP" dirty="0"/>
          </a:p>
          <a:p>
            <a:endParaRPr kumimoji="1" lang="en-US" altLang="ja-JP" dirty="0"/>
          </a:p>
          <a:p>
            <a:r>
              <a:rPr kumimoji="1" lang="ja-JP" altLang="en-US" dirty="0"/>
              <a:t>例えば、赤い矢印の付近にあるノードはアップロードしたクエリ文書と非常に似ていることを示していますが、</a:t>
            </a:r>
            <a:endParaRPr kumimoji="1" lang="en-US" altLang="ja-JP" dirty="0"/>
          </a:p>
          <a:p>
            <a:endParaRPr kumimoji="1" lang="en-US" altLang="ja-JP" dirty="0"/>
          </a:p>
          <a:p>
            <a:r>
              <a:rPr kumimoji="1" lang="ja-JP" altLang="en-US" dirty="0"/>
              <a:t>左側の青い矢印とはあまり似ていないことが把握できます。</a:t>
            </a:r>
            <a:endParaRPr kumimoji="1" lang="en-US" altLang="ja-JP" dirty="0"/>
          </a:p>
          <a:p>
            <a:endParaRPr kumimoji="1" lang="en-US" altLang="ja-JP" dirty="0"/>
          </a:p>
          <a:p>
            <a:r>
              <a:rPr kumimoji="1" lang="ja-JP" altLang="en-US" dirty="0"/>
              <a:t>右上に記載した、</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●に</a:t>
            </a:r>
            <a:r>
              <a:rPr lang="ja-JP" altLang="en-US" dirty="0">
                <a:solidFill>
                  <a:srgbClr val="C00000"/>
                </a:solidFill>
              </a:rPr>
              <a:t>カーソルを重ねると文書概要</a:t>
            </a:r>
            <a:r>
              <a:rPr lang="ja-JP" altLang="en-US" dirty="0"/>
              <a:t>を表示</a:t>
            </a:r>
            <a:endParaRPr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a:t>
            </a:r>
            <a:r>
              <a:rPr kumimoji="1" lang="ja-JP" altLang="en-US" dirty="0"/>
              <a:t>を</a:t>
            </a:r>
            <a:r>
              <a:rPr kumimoji="1" lang="ja-JP" altLang="en-US" dirty="0">
                <a:solidFill>
                  <a:srgbClr val="C00000"/>
                </a:solidFill>
              </a:rPr>
              <a:t>クリックすると文書詳細</a:t>
            </a:r>
            <a:r>
              <a:rPr kumimoji="1" lang="ja-JP" altLang="en-US" dirty="0"/>
              <a:t>を表示</a:t>
            </a:r>
            <a:endParaRPr kumimoji="1" lang="en-US" altLang="ja-JP" dirty="0"/>
          </a:p>
          <a:p>
            <a:endParaRPr kumimoji="1" lang="en-US" altLang="ja-JP" dirty="0"/>
          </a:p>
          <a:p>
            <a:r>
              <a:rPr kumimoji="1" lang="ja-JP" altLang="en-US" dirty="0"/>
              <a:t>する機能はスライドだと紹介できないため、実際のデモアプリ上で説明します。</a:t>
            </a:r>
            <a:endParaRPr kumimoji="1" lang="en-US" altLang="ja-JP" dirty="0"/>
          </a:p>
          <a:p>
            <a:endParaRPr kumimoji="1" lang="en-US" altLang="ja-JP" b="1" dirty="0"/>
          </a:p>
          <a:p>
            <a:r>
              <a:rPr kumimoji="1" lang="en-US" altLang="ja-JP" b="1" dirty="0"/>
              <a:t>(</a:t>
            </a:r>
            <a:r>
              <a:rPr kumimoji="1" lang="ja-JP" altLang="en-US" b="1" dirty="0"/>
              <a:t>ここからデモンストレーションを開始する</a:t>
            </a:r>
            <a:r>
              <a:rPr kumimoji="1" lang="en-US" altLang="ja-JP" b="1" dirty="0"/>
              <a:t>)</a:t>
            </a:r>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7</a:t>
            </a:fld>
            <a:endParaRPr kumimoji="1" lang="ja-JP" altLang="en-US"/>
          </a:p>
        </p:txBody>
      </p:sp>
    </p:spTree>
    <p:extLst>
      <p:ext uri="{BB962C8B-B14F-4D97-AF65-F5344CB8AC3E}">
        <p14:creationId xmlns:p14="http://schemas.microsoft.com/office/powerpoint/2010/main" val="1134966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次に先ほどの可視化ブラウジングツールの主な機能を説明します。</a:t>
            </a:r>
            <a:endParaRPr lang="en-US" altLang="ja-JP" dirty="0"/>
          </a:p>
          <a:p>
            <a:endParaRPr lang="en-US" altLang="ja-JP" dirty="0"/>
          </a:p>
          <a:p>
            <a:r>
              <a:rPr lang="ja-JP" altLang="en-US" dirty="0"/>
              <a:t>デモアプリのような可視化グラフで検索結果文書を示すために、</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全体的にどんなカテゴリーの文書が検索されたのか把握する従来の文書検索アルゴリズムに加えて、</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斉藤研で全く別の研究で用いられていたグラフ構築手法を組み合わせました。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そのため、文書検索とグラフ構築に分けて説明します。</a:t>
            </a:r>
            <a:endParaRPr lang="en-US" altLang="ja-JP"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8</a:t>
            </a:fld>
            <a:endParaRPr kumimoji="1" lang="ja-JP" altLang="en-US"/>
          </a:p>
        </p:txBody>
      </p:sp>
    </p:spTree>
    <p:extLst>
      <p:ext uri="{BB962C8B-B14F-4D97-AF65-F5344CB8AC3E}">
        <p14:creationId xmlns:p14="http://schemas.microsoft.com/office/powerpoint/2010/main" val="3255913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C3BF6-042A-A9EA-A58B-4DD711B3216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7DFFAE-EE5E-42E6-4B3B-FE5353B870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4219172-7C25-0C92-D737-6707FBF920C3}"/>
              </a:ext>
            </a:extLst>
          </p:cNvPr>
          <p:cNvSpPr>
            <a:spLocks noGrp="1"/>
          </p:cNvSpPr>
          <p:nvPr>
            <p:ph type="body" idx="1"/>
          </p:nvPr>
        </p:nvSpPr>
        <p:spPr/>
        <p:txBody>
          <a:bodyPr/>
          <a:lstStyle/>
          <a:p>
            <a:r>
              <a:rPr kumimoji="1" lang="ja-JP" altLang="en-US" dirty="0"/>
              <a:t>一つ目の文書検索についてです。</a:t>
            </a:r>
            <a:endParaRPr kumimoji="1" lang="en-US" altLang="ja-JP" dirty="0"/>
          </a:p>
          <a:p>
            <a:endParaRPr kumimoji="1" lang="en-US" altLang="ja-JP" dirty="0"/>
          </a:p>
          <a:p>
            <a:r>
              <a:rPr kumimoji="1" lang="ja-JP" altLang="en-US" dirty="0"/>
              <a:t>この処理を用いることで、検索された類似文書がそれぞれどんな内容なのか大雑把に把握できるので、</a:t>
            </a:r>
            <a:endParaRPr kumimoji="1" lang="en-US" altLang="ja-JP" dirty="0"/>
          </a:p>
          <a:p>
            <a:endParaRPr kumimoji="1" lang="en-US" altLang="ja-JP" dirty="0"/>
          </a:p>
          <a:p>
            <a:r>
              <a:rPr kumimoji="1" lang="ja-JP" altLang="en-US" dirty="0"/>
              <a:t>検索結果文書の全体像を把握する際の指標とすることができます。</a:t>
            </a:r>
          </a:p>
        </p:txBody>
      </p:sp>
      <p:sp>
        <p:nvSpPr>
          <p:cNvPr id="4" name="スライド番号プレースホルダー 3">
            <a:extLst>
              <a:ext uri="{FF2B5EF4-FFF2-40B4-BE49-F238E27FC236}">
                <a16:creationId xmlns:a16="http://schemas.microsoft.com/office/drawing/2014/main" id="{305B137C-4BD0-2956-4C5E-B8B2F698B067}"/>
              </a:ext>
            </a:extLst>
          </p:cNvPr>
          <p:cNvSpPr>
            <a:spLocks noGrp="1"/>
          </p:cNvSpPr>
          <p:nvPr>
            <p:ph type="sldNum" sz="quarter" idx="5"/>
          </p:nvPr>
        </p:nvSpPr>
        <p:spPr/>
        <p:txBody>
          <a:bodyPr/>
          <a:lstStyle/>
          <a:p>
            <a:fld id="{0783AB39-2151-4E9B-986E-1F25CF106DBB}" type="slidenum">
              <a:rPr kumimoji="1" lang="ja-JP" altLang="en-US" smtClean="0"/>
              <a:t>9</a:t>
            </a:fld>
            <a:endParaRPr kumimoji="1" lang="ja-JP" altLang="en-US"/>
          </a:p>
        </p:txBody>
      </p:sp>
    </p:spTree>
    <p:extLst>
      <p:ext uri="{BB962C8B-B14F-4D97-AF65-F5344CB8AC3E}">
        <p14:creationId xmlns:p14="http://schemas.microsoft.com/office/powerpoint/2010/main" val="3053401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dirty="0"/>
                  <a:t>なお、各カテゴリーに説明語を付与する機能は、類似貢献度ベクトルを算出することで実現しています。</a:t>
                </a:r>
                <a:endParaRPr kumimoji="1" lang="en-US" altLang="ja-JP" dirty="0"/>
              </a:p>
              <a:p>
                <a:endParaRPr kumimoji="1" lang="en-US" altLang="ja-JP" dirty="0"/>
              </a:p>
              <a:p>
                <a:r>
                  <a:rPr kumimoji="1" lang="ja-JP" altLang="en-US" dirty="0"/>
                  <a:t>計算方法の詳細は省略させていただきますが、コサイン類似度を改良して提案した方法なので、</a:t>
                </a:r>
                <a:endParaRPr kumimoji="1" lang="en-US" altLang="ja-JP" dirty="0"/>
              </a:p>
              <a:p>
                <a:endParaRPr kumimoji="1" lang="en-US" altLang="ja-JP" dirty="0"/>
              </a:p>
              <a:p>
                <a:r>
                  <a:rPr kumimoji="1" lang="ja-JP" altLang="en-US" dirty="0"/>
                  <a:t>やっていること自体はコサイン類似度と似ています。</a:t>
                </a:r>
                <a:endParaRPr kumimoji="1" lang="en-US" altLang="ja-JP" dirty="0"/>
              </a:p>
              <a:p>
                <a:endParaRPr kumimoji="1" lang="en-US" altLang="ja-JP" dirty="0"/>
              </a:p>
              <a:p>
                <a:r>
                  <a:rPr kumimoji="1" lang="ja-JP" altLang="en-US" dirty="0"/>
                  <a:t>コサイン類似度は、文書に出現する各単語を用いて、文書の類似度を値として示すものですが、</a:t>
                </a:r>
                <a:endParaRPr kumimoji="1" lang="en-US" altLang="ja-JP" dirty="0"/>
              </a:p>
              <a:p>
                <a:endParaRPr kumimoji="1" lang="en-US" altLang="ja-JP" dirty="0"/>
              </a:p>
              <a:p>
                <a:r>
                  <a:rPr kumimoji="1" lang="ja-JP" altLang="en-US" dirty="0"/>
                  <a:t>この類似貢献度は、コサイン類似度の値を上げるのに最も貢献した単語を検索します。</a:t>
                </a:r>
                <a:endParaRPr kumimoji="1" lang="en-US" altLang="ja-JP" dirty="0"/>
              </a:p>
              <a:p>
                <a:endParaRPr kumimoji="1" lang="en-US" altLang="ja-JP" dirty="0"/>
              </a:p>
              <a:p>
                <a:pPr marL="0" indent="0">
                  <a:buNone/>
                </a:pPr>
                <a:r>
                  <a:rPr kumimoji="1" lang="ja-JP" altLang="en-US" b="0" dirty="0"/>
                  <a:t>従って、全ての検索結果文書に対し、類似貢献度を計算して</a:t>
                </a:r>
                <a:r>
                  <a:rPr kumimoji="1" lang="en-US" altLang="ja-JP" b="0" dirty="0"/>
                  <a:t>1</a:t>
                </a:r>
                <a:r>
                  <a:rPr kumimoji="1" lang="ja-JP" altLang="en-US" b="0" dirty="0"/>
                  <a:t>つの単語を抽出することで、</a:t>
                </a:r>
                <a:endParaRPr kumimoji="1" lang="en-US" altLang="ja-JP" b="0" dirty="0"/>
              </a:p>
              <a:p>
                <a:pPr marL="0" indent="0">
                  <a:buNone/>
                </a:pPr>
                <a:endParaRPr kumimoji="1" lang="en-US" altLang="ja-JP" b="0" dirty="0"/>
              </a:p>
              <a:p>
                <a:pPr marL="0" indent="0">
                  <a:buNone/>
                </a:pPr>
                <a:r>
                  <a:rPr kumimoji="1" lang="ja-JP" altLang="en-US" b="0" dirty="0"/>
                  <a:t>各文書にタグとなる説明語を自動的に付与することができます。</a:t>
                </a:r>
                <a:endParaRPr kumimoji="1" lang="en-US" altLang="ja-JP" dirty="0"/>
              </a:p>
            </p:txBody>
          </p:sp>
        </mc:Choice>
        <mc:Fallback xmlns="">
          <p:sp>
            <p:nvSpPr>
              <p:cNvPr id="3" name="ノート プレースホルダー 2"/>
              <p:cNvSpPr>
                <a:spLocks noGrp="1"/>
              </p:cNvSpPr>
              <p:nvPr>
                <p:ph type="body" idx="1"/>
              </p:nvPr>
            </p:nvSpPr>
            <p:spPr/>
            <p:txBody>
              <a:bodyPr/>
              <a:lstStyle/>
              <a:p>
                <a:r>
                  <a:rPr kumimoji="1" lang="ja-JP" altLang="en-US" dirty="0"/>
                  <a:t>それでは手順</a:t>
                </a:r>
                <a:r>
                  <a:rPr kumimoji="1" lang="en-US" altLang="ja-JP" dirty="0"/>
                  <a:t>1</a:t>
                </a:r>
                <a:r>
                  <a:rPr kumimoji="1" lang="ja-JP" altLang="en-US" dirty="0"/>
                  <a:t>の</a:t>
                </a:r>
                <a:r>
                  <a:rPr kumimoji="1" lang="ja-JP" altLang="en-US" b="0" dirty="0"/>
                  <a:t>類似貢献度ベクトルの算出について説明します。</a:t>
                </a:r>
                <a:endParaRPr kumimoji="1" lang="en-US" altLang="ja-JP" b="0" dirty="0"/>
              </a:p>
              <a:p>
                <a:endParaRPr kumimoji="1" lang="en-US" altLang="ja-JP" b="0" dirty="0"/>
              </a:p>
              <a:p>
                <a:pPr marL="0" indent="0">
                  <a:buNone/>
                </a:pPr>
                <a:r>
                  <a:rPr kumimoji="1" lang="ja-JP" altLang="en-US" dirty="0"/>
                  <a:t>クエリ </a:t>
                </a:r>
                <a:r>
                  <a:rPr kumimoji="1" lang="en-US" altLang="ja-JP" b="1" dirty="0"/>
                  <a:t>q</a:t>
                </a:r>
                <a:r>
                  <a:rPr kumimoji="1" lang="en-US" altLang="ja-JP" dirty="0"/>
                  <a:t> </a:t>
                </a:r>
                <a:r>
                  <a:rPr kumimoji="1" lang="ja-JP" altLang="en-US" dirty="0"/>
                  <a:t>に対し</a:t>
                </a:r>
                <a:r>
                  <a:rPr kumimoji="1" lang="en-US" altLang="ja-JP" dirty="0"/>
                  <a:t>, </a:t>
                </a:r>
                <a:r>
                  <a:rPr kumimoji="1" lang="ja-JP" altLang="en-US" dirty="0"/>
                  <a:t>文書集合</a:t>
                </a:r>
                <a:r>
                  <a:rPr kumimoji="1" lang="en-US" altLang="ja-JP" b="1" i="1" dirty="0"/>
                  <a:t>N</a:t>
                </a:r>
                <a:r>
                  <a:rPr kumimoji="1" lang="en-US" altLang="ja-JP" dirty="0"/>
                  <a:t> </a:t>
                </a:r>
                <a:r>
                  <a:rPr kumimoji="1" lang="ja-JP" altLang="en-US" dirty="0"/>
                  <a:t>から </a:t>
                </a:r>
                <a:r>
                  <a:rPr kumimoji="1" lang="en-US" altLang="ja-JP" dirty="0"/>
                  <a:t>h-</a:t>
                </a:r>
                <a:r>
                  <a:rPr kumimoji="1" lang="ja-JP" altLang="en-US" dirty="0"/>
                  <a:t>最類似文書集合 </a:t>
                </a:r>
                <a:r>
                  <a:rPr lang="en-US" altLang="ja-JP" b="1" i="1" dirty="0"/>
                  <a:t>R </a:t>
                </a:r>
                <a:r>
                  <a:rPr lang="en-US" altLang="ja-JP" dirty="0"/>
                  <a:t>(</a:t>
                </a:r>
                <a:r>
                  <a:rPr lang="en-US" altLang="ja-JP" i="1" dirty="0"/>
                  <a:t>h </a:t>
                </a:r>
                <a:r>
                  <a:rPr lang="en-US" altLang="ja-JP" dirty="0"/>
                  <a:t>)</a:t>
                </a:r>
                <a:r>
                  <a:rPr kumimoji="1" lang="en-US" altLang="ja-JP" dirty="0"/>
                  <a:t> ⊂ </a:t>
                </a:r>
                <a:r>
                  <a:rPr kumimoji="1" lang="en-US" altLang="ja-JP" b="1" i="1" dirty="0"/>
                  <a:t>N</a:t>
                </a:r>
                <a:r>
                  <a:rPr kumimoji="1" lang="ja-JP" altLang="en-US" b="1" i="1" dirty="0"/>
                  <a:t>　</a:t>
                </a:r>
                <a:r>
                  <a:rPr kumimoji="1" lang="ja-JP" altLang="en-US" dirty="0"/>
                  <a:t>を導出します。</a:t>
                </a:r>
                <a:endParaRPr kumimoji="1" lang="en-US" altLang="ja-JP" dirty="0"/>
              </a:p>
              <a:p>
                <a:pPr marL="0" indent="0">
                  <a:buNone/>
                </a:pPr>
                <a:endParaRPr kumimoji="1" lang="en-US" altLang="ja-JP" dirty="0"/>
              </a:p>
              <a:p>
                <a:pPr marL="0" indent="0">
                  <a:buNone/>
                </a:pPr>
                <a:r>
                  <a:rPr kumimoji="1" lang="ja-JP" altLang="en-US" dirty="0"/>
                  <a:t>次に</a:t>
                </a:r>
                <a:r>
                  <a:rPr kumimoji="1" lang="en-US" altLang="ja-JP" dirty="0"/>
                  <a:t>, </a:t>
                </a:r>
                <a:r>
                  <a:rPr kumimoji="1" lang="ja-JP" altLang="en-US" dirty="0"/>
                  <a:t>類似文書 </a:t>
                </a:r>
                <a:r>
                  <a:rPr kumimoji="1" lang="en-US" altLang="ja-JP" i="1" dirty="0"/>
                  <a:t>n</a:t>
                </a:r>
                <a:r>
                  <a:rPr kumimoji="1" lang="en-US" altLang="ja-JP" dirty="0"/>
                  <a:t> ∈ </a:t>
                </a:r>
                <a:r>
                  <a:rPr kumimoji="1" lang="en-US" altLang="ja-JP" b="1" i="1" dirty="0"/>
                  <a:t>R </a:t>
                </a:r>
                <a:r>
                  <a:rPr kumimoji="1" lang="en-US" altLang="ja-JP" dirty="0"/>
                  <a:t>(</a:t>
                </a:r>
                <a:r>
                  <a:rPr kumimoji="1" lang="en-US" altLang="ja-JP" i="1" dirty="0"/>
                  <a:t>h </a:t>
                </a:r>
                <a:r>
                  <a:rPr kumimoji="1" lang="en-US" altLang="ja-JP" dirty="0"/>
                  <a:t>) </a:t>
                </a:r>
                <a:r>
                  <a:rPr kumimoji="1" lang="ja-JP" altLang="en-US" dirty="0"/>
                  <a:t>に対し</a:t>
                </a:r>
                <a:r>
                  <a:rPr kumimoji="1" lang="en-US" altLang="ja-JP" dirty="0"/>
                  <a:t>, </a:t>
                </a:r>
                <a:r>
                  <a:rPr kumimoji="1" lang="ja-JP" altLang="en-US" dirty="0"/>
                  <a:t>特徴ベクトル </a:t>
                </a:r>
                <a:r>
                  <a:rPr lang="en-US" altLang="ja-JP" sz="1200" b="1" i="0" dirty="0">
                    <a:latin typeface="Cambria Math" panose="02040503050406030204" pitchFamily="18" charset="0"/>
                  </a:rPr>
                  <a:t>𝒙_</a:t>
                </a:r>
                <a:r>
                  <a:rPr lang="en-US" altLang="ja-JP" sz="1200" i="0" dirty="0">
                    <a:latin typeface="Cambria Math" panose="02040503050406030204" pitchFamily="18" charset="0"/>
                  </a:rPr>
                  <a:t>𝑛</a:t>
                </a:r>
                <a:r>
                  <a:rPr kumimoji="1" lang="en-US" altLang="ja-JP" dirty="0"/>
                  <a:t> </a:t>
                </a:r>
                <a:r>
                  <a:rPr kumimoji="1" lang="ja-JP" altLang="en-US" dirty="0"/>
                  <a:t>から単語 </a:t>
                </a:r>
                <a:r>
                  <a:rPr kumimoji="1" lang="en-US" altLang="ja-JP" i="1" dirty="0"/>
                  <a:t>d</a:t>
                </a:r>
                <a:r>
                  <a:rPr kumimoji="1" lang="en-US" altLang="ja-JP" dirty="0"/>
                  <a:t> </a:t>
                </a:r>
                <a:r>
                  <a:rPr kumimoji="1" lang="ja-JP" altLang="en-US" dirty="0"/>
                  <a:t>の</a:t>
                </a:r>
                <a:r>
                  <a:rPr lang="en-US" altLang="ja-JP" b="1" i="1" dirty="0"/>
                  <a:t>D </a:t>
                </a:r>
                <a:r>
                  <a:rPr lang="en-US" altLang="ja-JP" dirty="0"/>
                  <a:t>-</a:t>
                </a:r>
                <a:r>
                  <a:rPr lang="ja-JP" altLang="en-US" dirty="0"/>
                  <a:t>次元類似貢献度ベクトル </a:t>
                </a:r>
                <a:r>
                  <a:rPr lang="en-US" altLang="ja-JP" b="1" i="0" dirty="0">
                    <a:latin typeface="Cambria Math" panose="02040503050406030204" pitchFamily="18" charset="0"/>
                  </a:rPr>
                  <a:t>𝒚_</a:t>
                </a:r>
                <a:r>
                  <a:rPr lang="en-US" altLang="ja-JP" i="0" dirty="0">
                    <a:latin typeface="Cambria Math" panose="02040503050406030204" pitchFamily="18" charset="0"/>
                  </a:rPr>
                  <a:t>𝑛</a:t>
                </a:r>
                <a:r>
                  <a:rPr lang="ja-JP" altLang="en-US" dirty="0"/>
                  <a:t>を算出します。</a:t>
                </a:r>
                <a:endParaRPr lang="en-US" altLang="ja-JP" dirty="0"/>
              </a:p>
              <a:p>
                <a:pPr marL="0" indent="0">
                  <a:buNone/>
                </a:pPr>
                <a:endParaRPr lang="en-US" altLang="ja-JP" dirty="0"/>
              </a:p>
              <a:p>
                <a:pPr marL="0" indent="0">
                  <a:buNone/>
                </a:pPr>
                <a:r>
                  <a:rPr lang="ja-JP" altLang="en-US" dirty="0"/>
                  <a:t>具体的には、類似貢献度ベクトルの各要素は</a:t>
                </a:r>
                <a:r>
                  <a:rPr lang="en-US" altLang="ja-JP" dirty="0"/>
                  <a:t>(1)</a:t>
                </a:r>
                <a:r>
                  <a:rPr lang="ja-JP" altLang="en-US" dirty="0"/>
                  <a:t>の式で計算します。</a:t>
                </a:r>
                <a:r>
                  <a:rPr lang="en-US" altLang="ja-JP" dirty="0"/>
                  <a:t> </a:t>
                </a:r>
              </a:p>
              <a:p>
                <a:pPr marL="0" indent="0">
                  <a:buNone/>
                </a:pPr>
                <a:endParaRPr lang="en-US" altLang="ja-JP" dirty="0"/>
              </a:p>
              <a:p>
                <a:pPr marL="0" indent="0">
                  <a:buNone/>
                </a:pPr>
                <a:r>
                  <a:rPr lang="ja-JP" altLang="en-US" dirty="0"/>
                  <a:t>すなわち、式</a:t>
                </a:r>
                <a:r>
                  <a:rPr lang="en-US" altLang="ja-JP" dirty="0"/>
                  <a:t>1</a:t>
                </a:r>
                <a:r>
                  <a:rPr lang="ja-JP" altLang="en-US" dirty="0"/>
                  <a:t>の値は、単語</a:t>
                </a:r>
                <a:r>
                  <a:rPr lang="en-US" altLang="ja-JP" dirty="0"/>
                  <a:t> d </a:t>
                </a:r>
                <a:r>
                  <a:rPr lang="ja-JP" altLang="en-US" dirty="0"/>
                  <a:t>の類似貢献度です。</a:t>
                </a:r>
                <a:endParaRPr lang="en-US" altLang="ja-JP" dirty="0"/>
              </a:p>
              <a:p>
                <a:pPr marL="0" indent="0">
                  <a:buNone/>
                </a:pPr>
                <a:endParaRPr kumimoji="1" lang="en-US" altLang="ja-JP" dirty="0"/>
              </a:p>
              <a:p>
                <a:r>
                  <a:rPr kumimoji="1" lang="ja-JP" altLang="en-US" b="0" dirty="0"/>
                  <a:t>ここで、各要素の総和は</a:t>
                </a:r>
                <a:r>
                  <a:rPr kumimoji="1" lang="en-US" altLang="ja-JP" b="0" dirty="0"/>
                  <a:t>1</a:t>
                </a:r>
                <a:r>
                  <a:rPr kumimoji="1" lang="ja-JP" altLang="en-US" b="0" dirty="0"/>
                  <a:t>となります。</a:t>
                </a:r>
              </a:p>
            </p:txBody>
          </p:sp>
        </mc:Fallback>
      </mc:AlternateContent>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10</a:t>
            </a:fld>
            <a:endParaRPr kumimoji="1" lang="ja-JP" altLang="en-US"/>
          </a:p>
        </p:txBody>
      </p:sp>
    </p:spTree>
    <p:extLst>
      <p:ext uri="{BB962C8B-B14F-4D97-AF65-F5344CB8AC3E}">
        <p14:creationId xmlns:p14="http://schemas.microsoft.com/office/powerpoint/2010/main" val="1114031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しかし、文書検索の処理を組み込むだけでは不十分で、</a:t>
            </a:r>
            <a:endParaRPr kumimoji="1" lang="en-US" altLang="ja-JP" dirty="0"/>
          </a:p>
          <a:p>
            <a:endParaRPr kumimoji="1" lang="en-US" altLang="ja-JP" dirty="0"/>
          </a:p>
          <a:p>
            <a:r>
              <a:rPr kumimoji="1" lang="ja-JP" altLang="en-US" dirty="0"/>
              <a:t>このまますぐにプロットしてしまうと同色のノードがバラバラに描画されたり</a:t>
            </a:r>
            <a:endParaRPr kumimoji="1" lang="en-US" altLang="ja-JP" dirty="0"/>
          </a:p>
          <a:p>
            <a:endParaRPr kumimoji="1" lang="en-US" altLang="ja-JP" dirty="0"/>
          </a:p>
          <a:p>
            <a:r>
              <a:rPr kumimoji="1" lang="ja-JP" altLang="en-US" dirty="0"/>
              <a:t>あるいはスクリーンの外側に描画されたりして全く上手く描画できませんでした。</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11</a:t>
            </a:fld>
            <a:endParaRPr kumimoji="1" lang="ja-JP" altLang="en-US"/>
          </a:p>
        </p:txBody>
      </p:sp>
    </p:spTree>
    <p:extLst>
      <p:ext uri="{BB962C8B-B14F-4D97-AF65-F5344CB8AC3E}">
        <p14:creationId xmlns:p14="http://schemas.microsoft.com/office/powerpoint/2010/main" val="34266453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そこで、この問題を解決するために、</a:t>
            </a:r>
            <a:endParaRPr kumimoji="1" lang="en-US" altLang="ja-JP" dirty="0"/>
          </a:p>
          <a:p>
            <a:endParaRPr kumimoji="1" lang="en-US" altLang="ja-JP" dirty="0"/>
          </a:p>
          <a:p>
            <a:r>
              <a:rPr kumimoji="1" lang="ja-JP" altLang="en-US" dirty="0"/>
              <a:t>似ている文書同士</a:t>
            </a:r>
            <a:r>
              <a:rPr lang="ja-JP" altLang="en-US" dirty="0"/>
              <a:t>を</a:t>
            </a:r>
            <a:r>
              <a:rPr kumimoji="1" lang="ja-JP" altLang="en-US" b="0" dirty="0">
                <a:solidFill>
                  <a:srgbClr val="C00000"/>
                </a:solidFill>
              </a:rPr>
              <a:t>近くに配置</a:t>
            </a:r>
            <a:r>
              <a:rPr lang="ja-JP" altLang="en-US" dirty="0"/>
              <a:t>し</a:t>
            </a:r>
            <a:r>
              <a:rPr kumimoji="1" lang="ja-JP" altLang="en-US" dirty="0"/>
              <a:t>て線を繋ぐグラフ構築の処理を追加しました。</a:t>
            </a:r>
            <a:endParaRPr kumimoji="1" lang="en-US" altLang="ja-JP" dirty="0"/>
          </a:p>
          <a:p>
            <a:endParaRPr kumimoji="1" lang="en-US" altLang="ja-JP" dirty="0"/>
          </a:p>
          <a:p>
            <a:r>
              <a:rPr kumimoji="1" lang="ja-JP" altLang="en-US" dirty="0"/>
              <a:t>この手法は、元々は斉藤研の全く別の研究で用いられていたものです。</a:t>
            </a:r>
            <a:endParaRPr kumimoji="1" lang="en-US" altLang="ja-JP" dirty="0"/>
          </a:p>
          <a:p>
            <a:endParaRPr kumimoji="1" lang="en-US" altLang="ja-JP" dirty="0"/>
          </a:p>
          <a:p>
            <a:r>
              <a:rPr kumimoji="1" lang="ja-JP" altLang="en-US" dirty="0"/>
              <a:t>この処理を加えることで、クエリ文書と類似度が高い文書群や、</a:t>
            </a:r>
            <a:endParaRPr kumimoji="1" lang="en-US" altLang="ja-JP" dirty="0"/>
          </a:p>
          <a:p>
            <a:endParaRPr kumimoji="1" lang="en-US" altLang="ja-JP" dirty="0"/>
          </a:p>
          <a:p>
            <a:r>
              <a:rPr kumimoji="1" lang="ja-JP" altLang="en-US" dirty="0"/>
              <a:t>それぞれのカテゴリーに属する文書群がどの程度存在するのかなど、視覚的に非常に分かりやすくなります。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12</a:t>
            </a:fld>
            <a:endParaRPr kumimoji="1" lang="ja-JP" altLang="en-US"/>
          </a:p>
        </p:txBody>
      </p:sp>
    </p:spTree>
    <p:extLst>
      <p:ext uri="{BB962C8B-B14F-4D97-AF65-F5344CB8AC3E}">
        <p14:creationId xmlns:p14="http://schemas.microsoft.com/office/powerpoint/2010/main" val="127757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そして最後に、先ほどの文書検索とグラフ構築の処理を</a:t>
            </a:r>
            <a:r>
              <a:rPr kumimoji="1" lang="en-US" altLang="ja-JP" dirty="0"/>
              <a:t>Apache</a:t>
            </a:r>
            <a:r>
              <a:rPr kumimoji="1" lang="ja-JP" altLang="en-US" dirty="0"/>
              <a:t>上に構築し、</a:t>
            </a:r>
            <a:endParaRPr kumimoji="1" lang="en-US" altLang="ja-JP" dirty="0"/>
          </a:p>
          <a:p>
            <a:endParaRPr kumimoji="1" lang="en-US" altLang="ja-JP" dirty="0"/>
          </a:p>
          <a:p>
            <a:r>
              <a:rPr kumimoji="1" lang="ja-JP" altLang="en-US" dirty="0"/>
              <a:t>サーバーサイド側の</a:t>
            </a:r>
            <a:r>
              <a:rPr kumimoji="1" lang="en-US" altLang="ja-JP" dirty="0"/>
              <a:t>C</a:t>
            </a:r>
            <a:r>
              <a:rPr kumimoji="1" lang="ja-JP" altLang="en-US" dirty="0"/>
              <a:t>言語で、可視化グラフの生成に必要なデータをフロントエンド側にレスポンス可能とします。</a:t>
            </a:r>
            <a:endParaRPr kumimoji="1" lang="en-US" altLang="ja-JP" dirty="0"/>
          </a:p>
          <a:p>
            <a:endParaRPr kumimoji="1" lang="en-US" altLang="ja-JP" dirty="0"/>
          </a:p>
          <a:p>
            <a:r>
              <a:rPr kumimoji="1" lang="ja-JP" altLang="en-US" dirty="0"/>
              <a:t>さらに、フロントエンド側の</a:t>
            </a:r>
            <a:r>
              <a:rPr kumimoji="1" lang="en-US" altLang="ja-JP" dirty="0"/>
              <a:t>JavaScript</a:t>
            </a:r>
            <a:r>
              <a:rPr kumimoji="1" lang="ja-JP" altLang="en-US" dirty="0"/>
              <a:t>で可視化グラフを描画することで、</a:t>
            </a:r>
            <a:endParaRPr kumimoji="1" lang="en-US" altLang="ja-JP" dirty="0"/>
          </a:p>
          <a:p>
            <a:endParaRPr kumimoji="1" lang="en-US" altLang="ja-JP" dirty="0"/>
          </a:p>
          <a:p>
            <a:r>
              <a:rPr kumimoji="1" lang="ja-JP" altLang="en-US" dirty="0"/>
              <a:t>先ほどのデモンストレーションで示した可視化ブラウジングツールが完成します。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13</a:t>
            </a:fld>
            <a:endParaRPr kumimoji="1" lang="ja-JP" altLang="en-US"/>
          </a:p>
        </p:txBody>
      </p:sp>
    </p:spTree>
    <p:extLst>
      <p:ext uri="{BB962C8B-B14F-4D97-AF65-F5344CB8AC3E}">
        <p14:creationId xmlns:p14="http://schemas.microsoft.com/office/powerpoint/2010/main" val="53939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2AF2B-C099-31F8-EE99-1D5AA014B4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B033A54-D588-96EB-8690-23C6EC97DB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249D578-0344-5CE9-E427-775817D2FE13}"/>
              </a:ext>
            </a:extLst>
          </p:cNvPr>
          <p:cNvSpPr>
            <a:spLocks noGrp="1"/>
          </p:cNvSpPr>
          <p:nvPr>
            <p:ph type="body" idx="1"/>
          </p:nvPr>
        </p:nvSpPr>
        <p:spPr/>
        <p:txBody>
          <a:bodyPr/>
          <a:lstStyle/>
          <a:p>
            <a:pPr marL="0" indent="0">
              <a:buNone/>
            </a:pPr>
            <a:r>
              <a:rPr kumimoji="1" lang="ja-JP" altLang="en-US" dirty="0"/>
              <a:t>この結果、クエリ文書をアップロードすることで、</a:t>
            </a:r>
            <a:endParaRPr kumimoji="1" lang="en-US" altLang="ja-JP" dirty="0"/>
          </a:p>
          <a:p>
            <a:pPr marL="0" indent="0">
              <a:buNone/>
            </a:pPr>
            <a:endParaRPr kumimoji="1" lang="en-US" altLang="ja-JP" dirty="0"/>
          </a:p>
          <a:p>
            <a:pPr marL="0" indent="0">
              <a:buNone/>
            </a:pPr>
            <a:r>
              <a:rPr kumimoji="1" lang="ja-JP" altLang="en-US" dirty="0"/>
              <a:t>クエリ文書と類似度が高い文書を可視化ネットワーク図として描画することが可能となります。</a:t>
            </a:r>
          </a:p>
        </p:txBody>
      </p:sp>
      <p:sp>
        <p:nvSpPr>
          <p:cNvPr id="4" name="スライド番号プレースホルダー 3">
            <a:extLst>
              <a:ext uri="{FF2B5EF4-FFF2-40B4-BE49-F238E27FC236}">
                <a16:creationId xmlns:a16="http://schemas.microsoft.com/office/drawing/2014/main" id="{63A40F26-B828-8D02-EF5D-C3BD14080163}"/>
              </a:ext>
            </a:extLst>
          </p:cNvPr>
          <p:cNvSpPr>
            <a:spLocks noGrp="1"/>
          </p:cNvSpPr>
          <p:nvPr>
            <p:ph type="sldNum" sz="quarter" idx="5"/>
          </p:nvPr>
        </p:nvSpPr>
        <p:spPr/>
        <p:txBody>
          <a:bodyPr/>
          <a:lstStyle/>
          <a:p>
            <a:fld id="{0783AB39-2151-4E9B-986E-1F25CF106DBB}" type="slidenum">
              <a:rPr kumimoji="1" lang="ja-JP" altLang="en-US" smtClean="0"/>
              <a:t>14</a:t>
            </a:fld>
            <a:endParaRPr kumimoji="1" lang="ja-JP" altLang="en-US"/>
          </a:p>
        </p:txBody>
      </p:sp>
    </p:spTree>
    <p:extLst>
      <p:ext uri="{BB962C8B-B14F-4D97-AF65-F5344CB8AC3E}">
        <p14:creationId xmlns:p14="http://schemas.microsoft.com/office/powerpoint/2010/main" val="2483804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次に、中間発表での質問に対して改めて補足説明させていただきます。</a:t>
            </a:r>
            <a:endParaRPr kumimoji="1" lang="en-US" altLang="ja-JP" dirty="0"/>
          </a:p>
          <a:p>
            <a:endParaRPr kumimoji="1" lang="en-US" altLang="ja-JP" dirty="0"/>
          </a:p>
          <a:p>
            <a:r>
              <a:rPr kumimoji="1" lang="ja-JP" altLang="en-US" dirty="0"/>
              <a:t>質問１と２だけ先に回答し、３に関しては可視化評価法の説明時に回答させていただきます。</a:t>
            </a:r>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15</a:t>
            </a:fld>
            <a:endParaRPr kumimoji="1" lang="ja-JP" altLang="en-US"/>
          </a:p>
        </p:txBody>
      </p:sp>
    </p:spTree>
    <p:extLst>
      <p:ext uri="{BB962C8B-B14F-4D97-AF65-F5344CB8AC3E}">
        <p14:creationId xmlns:p14="http://schemas.microsoft.com/office/powerpoint/2010/main" val="1186691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b="1" dirty="0"/>
              <a:t>１つ目は、類似度とエッジ長は関係しているのか？という質問です。</a:t>
            </a:r>
            <a:endParaRPr kumimoji="1" lang="en-US" altLang="ja-JP" b="1"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b="1"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b="1" dirty="0"/>
              <a:t>コレに関しては、関係がありません。</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indent="0">
              <a:buNone/>
            </a:pPr>
            <a:r>
              <a:rPr kumimoji="1" lang="ja-JP" altLang="en-US" sz="1200" dirty="0"/>
              <a:t>可視化グラフでは、</a:t>
            </a:r>
            <a:r>
              <a:rPr lang="ja-JP" altLang="en-US" sz="1200" dirty="0">
                <a:latin typeface="Courier New" panose="02070309020205020404" pitchFamily="49" charset="0"/>
              </a:rPr>
              <a:t>類似度の高い文書同士の</a:t>
            </a:r>
            <a:r>
              <a:rPr lang="ja-JP" altLang="en-US" sz="1200" b="1" dirty="0">
                <a:latin typeface="Courier New" panose="02070309020205020404" pitchFamily="49" charset="0"/>
              </a:rPr>
              <a:t>関係のみ</a:t>
            </a:r>
            <a:r>
              <a:rPr lang="ja-JP" altLang="en-US" sz="1200" dirty="0">
                <a:latin typeface="Courier New" panose="02070309020205020404" pitchFamily="49" charset="0"/>
              </a:rPr>
              <a:t>を可視化しているためです。</a:t>
            </a:r>
            <a:endParaRPr lang="en-US" altLang="ja-JP" sz="1200" dirty="0">
              <a:latin typeface="Courier New" panose="02070309020205020404" pitchFamily="49" charset="0"/>
            </a:endParaRPr>
          </a:p>
          <a:p>
            <a:pPr marL="0" indent="0">
              <a:buNone/>
            </a:pPr>
            <a:endParaRPr kumimoji="1" lang="en-US" altLang="ja-JP" sz="1200" dirty="0">
              <a:latin typeface="Courier New" panose="02070309020205020404" pitchFamily="49" charset="0"/>
            </a:endParaRPr>
          </a:p>
          <a:p>
            <a:pPr marL="0" indent="0">
              <a:buNone/>
            </a:pPr>
            <a:r>
              <a:rPr kumimoji="1" lang="ja-JP" altLang="en-US" sz="1200" dirty="0"/>
              <a:t>また、可視化グラフの評価法で詳細を説明しますが、</a:t>
            </a:r>
            <a:endParaRPr kumimoji="1" lang="en-US" altLang="ja-JP" sz="1200" dirty="0"/>
          </a:p>
          <a:p>
            <a:pPr marL="0" indent="0">
              <a:buNone/>
            </a:pPr>
            <a:endParaRPr kumimoji="1" lang="en-US" altLang="ja-JP" sz="1200" dirty="0"/>
          </a:p>
          <a:p>
            <a:pPr marL="0" indent="0">
              <a:buNone/>
            </a:pPr>
            <a:r>
              <a:rPr kumimoji="1" lang="ja-JP" altLang="en-US" sz="1200" dirty="0"/>
              <a:t>エッジ長を類似度に比例させると、ノードが重ならないように配置するのが困難となることも、</a:t>
            </a:r>
            <a:endParaRPr kumimoji="1" lang="en-US" altLang="ja-JP" sz="1200" dirty="0"/>
          </a:p>
          <a:p>
            <a:pPr marL="0" indent="0">
              <a:buNone/>
            </a:pPr>
            <a:endParaRPr kumimoji="1" lang="en-US" altLang="ja-JP" sz="1200" dirty="0"/>
          </a:p>
          <a:p>
            <a:pPr marL="0" indent="0">
              <a:buNone/>
            </a:pPr>
            <a:r>
              <a:rPr kumimoji="1" lang="ja-JP" altLang="en-US" sz="1200" dirty="0"/>
              <a:t>実装できなかった要因となっています。</a:t>
            </a:r>
            <a:endParaRPr kumimoji="1" lang="en-US" altLang="ja-JP" sz="1200"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16</a:t>
            </a:fld>
            <a:endParaRPr kumimoji="1" lang="ja-JP" altLang="en-US"/>
          </a:p>
        </p:txBody>
      </p:sp>
    </p:spTree>
    <p:extLst>
      <p:ext uri="{BB962C8B-B14F-4D97-AF65-F5344CB8AC3E}">
        <p14:creationId xmlns:p14="http://schemas.microsoft.com/office/powerpoint/2010/main" val="197410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473C7-C928-0276-1280-A3CD3349CC6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3AB7ACC-E0B7-6988-11BB-1661178344C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AE33F0-3A78-9010-4E1D-EA21CF98D24A}"/>
              </a:ext>
            </a:extLst>
          </p:cNvPr>
          <p:cNvSpPr>
            <a:spLocks noGrp="1"/>
          </p:cNvSpPr>
          <p:nvPr>
            <p:ph type="body" idx="1"/>
          </p:nvPr>
        </p:nvSpPr>
        <p:spPr/>
        <p:txBody>
          <a:bodyPr/>
          <a:lstStyle/>
          <a:p>
            <a:r>
              <a:rPr kumimoji="1" lang="ja-JP" altLang="en-US" dirty="0"/>
              <a:t>なお、この質問でのエッジ長とは、単に線の長さのことであり、この線が短い場合と長い場合で類似度に関係があるのか？</a:t>
            </a:r>
            <a:endParaRPr kumimoji="1" lang="en-US" altLang="ja-JP" dirty="0"/>
          </a:p>
          <a:p>
            <a:endParaRPr kumimoji="1" lang="en-US" altLang="ja-JP" dirty="0"/>
          </a:p>
          <a:p>
            <a:r>
              <a:rPr kumimoji="1" lang="ja-JP" altLang="en-US" dirty="0"/>
              <a:t>という質問に対して、特に関係がないという回答をしました。</a:t>
            </a:r>
            <a:endParaRPr kumimoji="1" lang="en-US" altLang="ja-JP" dirty="0"/>
          </a:p>
          <a:p>
            <a:endParaRPr kumimoji="1" lang="en-US" altLang="ja-JP" dirty="0"/>
          </a:p>
          <a:p>
            <a:r>
              <a:rPr kumimoji="1" lang="ja-JP" altLang="en-US" dirty="0"/>
              <a:t>しかし、文章だけでは非常に分かりずらいというご指摘をいただいたため、具体的例を混ぜながら、詳細を説明します。</a:t>
            </a:r>
            <a:endParaRPr kumimoji="1" lang="en-US" altLang="ja-JP" dirty="0"/>
          </a:p>
          <a:p>
            <a:endParaRPr kumimoji="1" lang="en-US" altLang="ja-JP" dirty="0"/>
          </a:p>
          <a:p>
            <a:r>
              <a:rPr kumimoji="1" lang="ja-JP" altLang="en-US" dirty="0"/>
              <a:t>本研究での可視化グラフは、エッジ長ではなく、エッジを辿った本数で類似度を可視化しています。</a:t>
            </a:r>
            <a:endParaRPr kumimoji="1" lang="en-US" altLang="ja-JP" dirty="0"/>
          </a:p>
          <a:p>
            <a:endParaRPr kumimoji="1" lang="en-US" altLang="ja-JP" dirty="0"/>
          </a:p>
          <a:p>
            <a:r>
              <a:rPr kumimoji="1" lang="ja-JP" altLang="en-US" dirty="0"/>
              <a:t>例えば、クエリ文書からエッジを一つ辿るだけでたどり着くノードは、最も類似している最類似文書群であることを示しており、</a:t>
            </a:r>
            <a:endParaRPr kumimoji="1" lang="en-US" altLang="ja-JP" dirty="0"/>
          </a:p>
          <a:p>
            <a:endParaRPr kumimoji="1" lang="en-US" altLang="ja-JP" dirty="0"/>
          </a:p>
          <a:p>
            <a:r>
              <a:rPr kumimoji="1" lang="ja-JP" altLang="en-US" dirty="0"/>
              <a:t>赤い矢印で示した計３つが対象です。</a:t>
            </a:r>
            <a:endParaRPr kumimoji="1" lang="en-US" altLang="ja-JP" dirty="0"/>
          </a:p>
          <a:p>
            <a:endParaRPr kumimoji="1" lang="en-US" altLang="ja-JP" dirty="0"/>
          </a:p>
          <a:p>
            <a:r>
              <a:rPr kumimoji="1" lang="ja-JP" altLang="en-US" dirty="0"/>
              <a:t>しかし、これら３つはエッジ長が全て異なるため、類似度と関係があるのかという質問でした。</a:t>
            </a:r>
            <a:endParaRPr kumimoji="1" lang="en-US" altLang="ja-JP" dirty="0"/>
          </a:p>
          <a:p>
            <a:endParaRPr kumimoji="1" lang="en-US" altLang="ja-JP" dirty="0"/>
          </a:p>
          <a:p>
            <a:r>
              <a:rPr kumimoji="1" lang="ja-JP" altLang="en-US" dirty="0"/>
              <a:t>これに関しては、類似度の高い文書同士の関係だけを可視化しているので、これら類似度に比例してエッジ長が増減するわけではありません。</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12478BBE-4DA1-9E63-3087-E926C43F0D76}"/>
              </a:ext>
            </a:extLst>
          </p:cNvPr>
          <p:cNvSpPr>
            <a:spLocks noGrp="1"/>
          </p:cNvSpPr>
          <p:nvPr>
            <p:ph type="sldNum" sz="quarter" idx="5"/>
          </p:nvPr>
        </p:nvSpPr>
        <p:spPr/>
        <p:txBody>
          <a:bodyPr/>
          <a:lstStyle/>
          <a:p>
            <a:fld id="{0783AB39-2151-4E9B-986E-1F25CF106DBB}" type="slidenum">
              <a:rPr kumimoji="1" lang="ja-JP" altLang="en-US" smtClean="0"/>
              <a:t>17</a:t>
            </a:fld>
            <a:endParaRPr kumimoji="1" lang="ja-JP" altLang="en-US"/>
          </a:p>
        </p:txBody>
      </p:sp>
    </p:spTree>
    <p:extLst>
      <p:ext uri="{BB962C8B-B14F-4D97-AF65-F5344CB8AC3E}">
        <p14:creationId xmlns:p14="http://schemas.microsoft.com/office/powerpoint/2010/main" val="2378567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同じ可視化方法を採用している例として、電車の路線図があります。</a:t>
            </a:r>
            <a:endParaRPr kumimoji="1" lang="en-US" altLang="ja-JP" dirty="0"/>
          </a:p>
          <a:p>
            <a:endParaRPr kumimoji="1" lang="en-US" altLang="ja-JP" dirty="0"/>
          </a:p>
          <a:p>
            <a:r>
              <a:rPr kumimoji="1" lang="ja-JP" altLang="en-US" dirty="0"/>
              <a:t>左側から距離が近い駅順に並んでいますが、距離自体は示されていません。</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18</a:t>
            </a:fld>
            <a:endParaRPr kumimoji="1" lang="ja-JP" altLang="en-US"/>
          </a:p>
        </p:txBody>
      </p:sp>
    </p:spTree>
    <p:extLst>
      <p:ext uri="{BB962C8B-B14F-4D97-AF65-F5344CB8AC3E}">
        <p14:creationId xmlns:p14="http://schemas.microsoft.com/office/powerpoint/2010/main" val="16922576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F6C0C-A32F-3D4D-EDC3-D2B94907649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15821D-1FFF-C84C-49E9-2F0A1A68EC1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B3941B-E53F-EFF0-EC17-3FC0566F9E27}"/>
              </a:ext>
            </a:extLst>
          </p:cNvPr>
          <p:cNvSpPr>
            <a:spLocks noGrp="1"/>
          </p:cNvSpPr>
          <p:nvPr>
            <p:ph type="body" idx="1"/>
          </p:nvPr>
        </p:nvSpPr>
        <p:spPr/>
        <p:txBody>
          <a:bodyPr/>
          <a:lstStyle/>
          <a:p>
            <a:r>
              <a:rPr kumimoji="1" lang="ja-JP" altLang="en-US" dirty="0"/>
              <a:t>故に、今回の可視化グラフも同様の手法を採用しています。</a:t>
            </a:r>
            <a:endParaRPr kumimoji="1" lang="en-US" altLang="ja-JP" dirty="0"/>
          </a:p>
        </p:txBody>
      </p:sp>
      <p:sp>
        <p:nvSpPr>
          <p:cNvPr id="4" name="スライド番号プレースホルダー 3">
            <a:extLst>
              <a:ext uri="{FF2B5EF4-FFF2-40B4-BE49-F238E27FC236}">
                <a16:creationId xmlns:a16="http://schemas.microsoft.com/office/drawing/2014/main" id="{8E629629-D0DB-5B6B-6490-972A818F7361}"/>
              </a:ext>
            </a:extLst>
          </p:cNvPr>
          <p:cNvSpPr>
            <a:spLocks noGrp="1"/>
          </p:cNvSpPr>
          <p:nvPr>
            <p:ph type="sldNum" sz="quarter" idx="5"/>
          </p:nvPr>
        </p:nvSpPr>
        <p:spPr/>
        <p:txBody>
          <a:bodyPr/>
          <a:lstStyle/>
          <a:p>
            <a:fld id="{0783AB39-2151-4E9B-986E-1F25CF106DBB}" type="slidenum">
              <a:rPr kumimoji="1" lang="ja-JP" altLang="en-US" smtClean="0"/>
              <a:t>19</a:t>
            </a:fld>
            <a:endParaRPr kumimoji="1" lang="ja-JP" altLang="en-US"/>
          </a:p>
        </p:txBody>
      </p:sp>
    </p:spTree>
    <p:extLst>
      <p:ext uri="{BB962C8B-B14F-4D97-AF65-F5344CB8AC3E}">
        <p14:creationId xmlns:p14="http://schemas.microsoft.com/office/powerpoint/2010/main" val="26848883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a:t>
            </a:r>
            <a:r>
              <a:rPr kumimoji="1" lang="ja-JP" altLang="en-US" sz="1200" b="0" dirty="0"/>
              <a:t>同じ意味</a:t>
            </a:r>
            <a:r>
              <a:rPr lang="ja-JP" altLang="en-US" sz="1200" b="0" dirty="0"/>
              <a:t>の</a:t>
            </a:r>
            <a:r>
              <a:rPr kumimoji="1" lang="ja-JP" altLang="en-US" sz="1200" b="0" dirty="0"/>
              <a:t>単語</a:t>
            </a:r>
            <a:r>
              <a:rPr lang="ja-JP" altLang="en-US" b="0" dirty="0"/>
              <a:t>の</a:t>
            </a:r>
            <a:r>
              <a:rPr lang="ja-JP" altLang="en-US" sz="1200" b="0" dirty="0"/>
              <a:t>表記が異なって</a:t>
            </a:r>
            <a:r>
              <a:rPr kumimoji="1" lang="ja-JP" altLang="en-US" sz="1200" b="0" dirty="0"/>
              <a:t>もよいか？という質問に関してですが、</a:t>
            </a:r>
            <a:endParaRPr kumimoji="1" lang="en-US" altLang="ja-JP" sz="1200" b="0" dirty="0"/>
          </a:p>
          <a:p>
            <a:endParaRPr kumimoji="1" lang="en-US" altLang="ja-JP" sz="1200" b="0" dirty="0"/>
          </a:p>
          <a:p>
            <a:r>
              <a:rPr kumimoji="1" lang="ja-JP" altLang="en-US" sz="1200" b="0" dirty="0"/>
              <a:t>これは、多くのケースで決定的な問題になり得ないと考えています。</a:t>
            </a:r>
            <a:endParaRPr kumimoji="1" lang="en-US" altLang="ja-JP" sz="1200" b="0" dirty="0"/>
          </a:p>
          <a:p>
            <a:endParaRPr kumimoji="1" lang="en-US" altLang="ja-JP" sz="1200" b="0" dirty="0"/>
          </a:p>
          <a:p>
            <a:r>
              <a:rPr kumimoji="1" lang="ja-JP" altLang="en-US" sz="1200" b="0" dirty="0"/>
              <a:t>実際に、漢字と平仮名で表記は異なるが同じ意味を持つ「栗」に関するクエリ文書で検索結果文書を確認しました。</a:t>
            </a:r>
            <a:endParaRPr kumimoji="1" lang="en-US" altLang="ja-JP" sz="1200" b="0"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20</a:t>
            </a:fld>
            <a:endParaRPr kumimoji="1" lang="ja-JP" altLang="en-US"/>
          </a:p>
        </p:txBody>
      </p:sp>
    </p:spTree>
    <p:extLst>
      <p:ext uri="{BB962C8B-B14F-4D97-AF65-F5344CB8AC3E}">
        <p14:creationId xmlns:p14="http://schemas.microsoft.com/office/powerpoint/2010/main" val="376089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クエリ文書の内容は、漢字の「栗」と</a:t>
            </a:r>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21</a:t>
            </a:fld>
            <a:endParaRPr kumimoji="1" lang="ja-JP" altLang="en-US"/>
          </a:p>
        </p:txBody>
      </p:sp>
    </p:spTree>
    <p:extLst>
      <p:ext uri="{BB962C8B-B14F-4D97-AF65-F5344CB8AC3E}">
        <p14:creationId xmlns:p14="http://schemas.microsoft.com/office/powerpoint/2010/main" val="12668294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平仮名の「くり」を変換しただけの、全く同じ内容の文書です。</a:t>
            </a:r>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22</a:t>
            </a:fld>
            <a:endParaRPr kumimoji="1" lang="ja-JP" altLang="en-US"/>
          </a:p>
        </p:txBody>
      </p:sp>
    </p:spTree>
    <p:extLst>
      <p:ext uri="{BB962C8B-B14F-4D97-AF65-F5344CB8AC3E}">
        <p14:creationId xmlns:p14="http://schemas.microsoft.com/office/powerpoint/2010/main" val="3983710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C7936-2CF8-A24C-62E7-E34A7291D4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76AACDF-F129-FEC3-43B1-6B4A513F06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B63334F-D0D6-2627-753A-FBA00D5843FD}"/>
              </a:ext>
            </a:extLst>
          </p:cNvPr>
          <p:cNvSpPr>
            <a:spLocks noGrp="1"/>
          </p:cNvSpPr>
          <p:nvPr>
            <p:ph type="body" idx="1"/>
          </p:nvPr>
        </p:nvSpPr>
        <p:spPr/>
        <p:txBody>
          <a:bodyPr/>
          <a:lstStyle/>
          <a:p>
            <a:r>
              <a:rPr kumimoji="1" lang="ja-JP" altLang="en-US" sz="1200" b="0" dirty="0"/>
              <a:t>これら２つのクエリ文書で、それぞれ類似文書を検索した結果、</a:t>
            </a:r>
            <a:endParaRPr kumimoji="1" lang="en-US" altLang="ja-JP" sz="1200" b="0" dirty="0"/>
          </a:p>
          <a:p>
            <a:endParaRPr kumimoji="1" lang="en-US" altLang="ja-JP" sz="1200" b="0" dirty="0"/>
          </a:p>
          <a:p>
            <a:r>
              <a:rPr kumimoji="1" lang="ja-JP" altLang="en-US" sz="1200" b="0" dirty="0"/>
              <a:t>１００件中５８件は全く同じ文書が検索されており、上位説明語も類似単語となったため、</a:t>
            </a:r>
            <a:endParaRPr kumimoji="1" lang="en-US" altLang="ja-JP" sz="1200" b="0" dirty="0"/>
          </a:p>
          <a:p>
            <a:endParaRPr kumimoji="1" lang="en-US" altLang="ja-JP" sz="1200" b="0" dirty="0"/>
          </a:p>
          <a:p>
            <a:r>
              <a:rPr kumimoji="1" lang="ja-JP" altLang="en-US" sz="1200" b="0" dirty="0"/>
              <a:t>表記が異なっていても共起単語の共通性は高いことから、表記ゆれは問題ではないと考えています。</a:t>
            </a:r>
            <a:endParaRPr kumimoji="1" lang="ja-JP" altLang="en-US" b="0" dirty="0"/>
          </a:p>
        </p:txBody>
      </p:sp>
      <p:sp>
        <p:nvSpPr>
          <p:cNvPr id="4" name="スライド番号プレースホルダー 3">
            <a:extLst>
              <a:ext uri="{FF2B5EF4-FFF2-40B4-BE49-F238E27FC236}">
                <a16:creationId xmlns:a16="http://schemas.microsoft.com/office/drawing/2014/main" id="{ABD1D09B-A8C3-3A9F-BEEA-0326AD9D277F}"/>
              </a:ext>
            </a:extLst>
          </p:cNvPr>
          <p:cNvSpPr>
            <a:spLocks noGrp="1"/>
          </p:cNvSpPr>
          <p:nvPr>
            <p:ph type="sldNum" sz="quarter" idx="5"/>
          </p:nvPr>
        </p:nvSpPr>
        <p:spPr/>
        <p:txBody>
          <a:bodyPr/>
          <a:lstStyle/>
          <a:p>
            <a:fld id="{0783AB39-2151-4E9B-986E-1F25CF106DBB}" type="slidenum">
              <a:rPr kumimoji="1" lang="ja-JP" altLang="en-US" smtClean="0"/>
              <a:t>23</a:t>
            </a:fld>
            <a:endParaRPr kumimoji="1" lang="ja-JP" altLang="en-US"/>
          </a:p>
        </p:txBody>
      </p:sp>
    </p:spTree>
    <p:extLst>
      <p:ext uri="{BB962C8B-B14F-4D97-AF65-F5344CB8AC3E}">
        <p14:creationId xmlns:p14="http://schemas.microsoft.com/office/powerpoint/2010/main" val="26138766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dirty="0"/>
              <a:t>次に、可視化グラフの評価</a:t>
            </a:r>
            <a:r>
              <a:rPr kumimoji="1" lang="ja-JP" altLang="en-US" b="0" dirty="0"/>
              <a:t>について説明します</a:t>
            </a:r>
            <a:r>
              <a:rPr kumimoji="1" lang="ja-JP" altLang="en-US" dirty="0"/>
              <a:t>。</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24</a:t>
            </a:fld>
            <a:endParaRPr kumimoji="1" lang="ja-JP" altLang="en-US"/>
          </a:p>
        </p:txBody>
      </p:sp>
    </p:spTree>
    <p:extLst>
      <p:ext uri="{BB962C8B-B14F-4D97-AF65-F5344CB8AC3E}">
        <p14:creationId xmlns:p14="http://schemas.microsoft.com/office/powerpoint/2010/main" val="181025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可視化グラフを生成する手法は複数存在するため、入力データと目的関数に違いがある</a:t>
            </a:r>
            <a:endParaRPr kumimoji="1" lang="en-US" altLang="ja-JP" dirty="0"/>
          </a:p>
          <a:p>
            <a:endParaRPr kumimoji="1" lang="en-US" altLang="ja-JP" dirty="0"/>
          </a:p>
          <a:p>
            <a:r>
              <a:rPr kumimoji="1" lang="ja-JP" altLang="en-US" dirty="0"/>
              <a:t>スペクトラル法、クロスエントロピー法、多次元尺度法</a:t>
            </a:r>
            <a:r>
              <a:rPr kumimoji="1" lang="en-US" altLang="ja-JP" dirty="0"/>
              <a:t>, </a:t>
            </a:r>
            <a:r>
              <a:rPr kumimoji="1" lang="ja-JP" altLang="en-US" dirty="0"/>
              <a:t>バネモデル法の</a:t>
            </a:r>
            <a:endParaRPr kumimoji="1" lang="en-US" altLang="ja-JP" dirty="0"/>
          </a:p>
          <a:p>
            <a:endParaRPr kumimoji="1" lang="en-US" altLang="ja-JP" dirty="0"/>
          </a:p>
          <a:p>
            <a:r>
              <a:rPr kumimoji="1" lang="ja-JP" altLang="en-US" dirty="0"/>
              <a:t>４つの手法でそれぞれ可視化グラフを生成し、良い可視化グラフを評価します。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25</a:t>
            </a:fld>
            <a:endParaRPr kumimoji="1" lang="ja-JP" altLang="en-US"/>
          </a:p>
        </p:txBody>
      </p:sp>
    </p:spTree>
    <p:extLst>
      <p:ext uri="{BB962C8B-B14F-4D97-AF65-F5344CB8AC3E}">
        <p14:creationId xmlns:p14="http://schemas.microsoft.com/office/powerpoint/2010/main" val="2218067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A5E3C-863B-3DB0-B80F-58712D92169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8515E63-6384-0128-607D-BB5284B2FC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4439B65-6B61-5389-073C-BC983F8F18CC}"/>
              </a:ext>
            </a:extLst>
          </p:cNvPr>
          <p:cNvSpPr>
            <a:spLocks noGrp="1"/>
          </p:cNvSpPr>
          <p:nvPr>
            <p:ph type="body" idx="1"/>
          </p:nvPr>
        </p:nvSpPr>
        <p:spPr/>
        <p:txBody>
          <a:bodyPr/>
          <a:lstStyle/>
          <a:p>
            <a:r>
              <a:rPr kumimoji="1" lang="ja-JP" altLang="en-US" dirty="0"/>
              <a:t>実際に、可視化手法を変更すると、このように描画形式が大きく変化します。</a:t>
            </a:r>
            <a:endParaRPr kumimoji="1" lang="en-US" altLang="ja-JP" dirty="0"/>
          </a:p>
          <a:p>
            <a:endParaRPr kumimoji="1" lang="en-US" altLang="ja-JP" dirty="0"/>
          </a:p>
          <a:p>
            <a:r>
              <a:rPr kumimoji="1" lang="ja-JP" altLang="en-US" dirty="0"/>
              <a:t>まず、各手法で生成した可視化グラフを確認しながら、定性評価を行います。</a:t>
            </a:r>
            <a:endParaRPr kumimoji="1" lang="en-US" altLang="ja-JP" dirty="0"/>
          </a:p>
          <a:p>
            <a:endParaRPr kumimoji="1" lang="en-US" altLang="ja-JP" dirty="0"/>
          </a:p>
          <a:p>
            <a:r>
              <a:rPr kumimoji="1" lang="ja-JP" altLang="en-US" dirty="0"/>
              <a:t>スペクトラル法では、２つ以上のノードが重なってしまったり、ノード間の距離が不自然な箇所が存在したりするなど、</a:t>
            </a:r>
            <a:endParaRPr kumimoji="1" lang="en-US" altLang="ja-JP" dirty="0"/>
          </a:p>
          <a:p>
            <a:endParaRPr kumimoji="1" lang="en-US" altLang="ja-JP" dirty="0"/>
          </a:p>
          <a:p>
            <a:r>
              <a:rPr kumimoji="1" lang="ja-JP" altLang="en-US" dirty="0"/>
              <a:t>全体構造が把握しずらい印象を受けました。</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多次元尺度法とクロスエントロピー法では、ノード間の距離に違和感がありませんが、</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依然として２つ以上のノードが重なってしまう箇所が存在し、ホバーの際に問題が生じます。</a:t>
            </a:r>
            <a:endParaRPr kumimoji="1" lang="en-US" altLang="ja-JP" dirty="0"/>
          </a:p>
          <a:p>
            <a:endParaRPr kumimoji="1" lang="en-US" altLang="ja-JP" dirty="0"/>
          </a:p>
          <a:p>
            <a:r>
              <a:rPr kumimoji="1" lang="ja-JP" altLang="en-US" dirty="0"/>
              <a:t>一方、ばねモデル法では長すぎたり短すぎるエッジが少なく、ノードの重なりも存在しません。</a:t>
            </a:r>
            <a:endParaRPr kumimoji="1" lang="en-US" altLang="ja-JP" dirty="0"/>
          </a:p>
          <a:p>
            <a:endParaRPr kumimoji="1" lang="en-US" altLang="ja-JP" dirty="0"/>
          </a:p>
          <a:p>
            <a:r>
              <a:rPr kumimoji="1" lang="ja-JP" altLang="en-US" dirty="0"/>
              <a:t>これら結果より、バネモデル法で生成した可視化グラフが良いグラフであると考えます。</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A96B7A61-1AEE-8A77-D3D7-A8EE2E93B923}"/>
              </a:ext>
            </a:extLst>
          </p:cNvPr>
          <p:cNvSpPr>
            <a:spLocks noGrp="1"/>
          </p:cNvSpPr>
          <p:nvPr>
            <p:ph type="sldNum" sz="quarter" idx="5"/>
          </p:nvPr>
        </p:nvSpPr>
        <p:spPr/>
        <p:txBody>
          <a:bodyPr/>
          <a:lstStyle/>
          <a:p>
            <a:fld id="{0783AB39-2151-4E9B-986E-1F25CF106DBB}" type="slidenum">
              <a:rPr kumimoji="1" lang="ja-JP" altLang="en-US" smtClean="0"/>
              <a:t>26</a:t>
            </a:fld>
            <a:endParaRPr kumimoji="1" lang="ja-JP" altLang="en-US"/>
          </a:p>
        </p:txBody>
      </p:sp>
    </p:spTree>
    <p:extLst>
      <p:ext uri="{BB962C8B-B14F-4D97-AF65-F5344CB8AC3E}">
        <p14:creationId xmlns:p14="http://schemas.microsoft.com/office/powerpoint/2010/main" val="35715280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ただ、中間発表の質問では、バネモデル法を採用するまでの過程に問題があると、ご指摘をいただきました。</a:t>
            </a:r>
            <a:endParaRPr kumimoji="1" lang="en-US" altLang="ja-JP" dirty="0"/>
          </a:p>
          <a:p>
            <a:endParaRPr kumimoji="1" lang="en-US" altLang="ja-JP" dirty="0"/>
          </a:p>
          <a:p>
            <a:pPr marL="0" indent="0" algn="l">
              <a:buNone/>
            </a:pPr>
            <a:r>
              <a:rPr kumimoji="1" lang="ja-JP" altLang="en-US" dirty="0"/>
              <a:t>指摘内容は、</a:t>
            </a:r>
            <a:r>
              <a:rPr lang="ja-JP" altLang="en-US" b="1" i="0" dirty="0">
                <a:solidFill>
                  <a:srgbClr val="212121"/>
                </a:solidFill>
                <a:effectLst/>
                <a:latin typeface="Roboto" panose="02000000000000000000" pitchFamily="2" charset="0"/>
              </a:rPr>
              <a:t>主観的に見れば確かにバネモデル法が見やすいよう</a:t>
            </a:r>
            <a:r>
              <a:rPr lang="ja-JP" altLang="en-US" b="0" i="0" dirty="0">
                <a:solidFill>
                  <a:srgbClr val="212121"/>
                </a:solidFill>
                <a:effectLst/>
                <a:latin typeface="Roboto" panose="02000000000000000000" pitchFamily="2" charset="0"/>
              </a:rPr>
              <a:t>に思えるが、</a:t>
            </a:r>
            <a:endParaRPr lang="en-US" altLang="ja-JP" b="0" i="0" dirty="0">
              <a:solidFill>
                <a:srgbClr val="212121"/>
              </a:solidFill>
              <a:effectLst/>
              <a:latin typeface="Roboto" panose="02000000000000000000" pitchFamily="2" charset="0"/>
            </a:endParaRPr>
          </a:p>
          <a:p>
            <a:pPr marL="0" indent="0" algn="l">
              <a:buNone/>
            </a:pPr>
            <a:endParaRPr lang="en-US" altLang="ja-JP" b="0" i="0" dirty="0">
              <a:solidFill>
                <a:srgbClr val="212121"/>
              </a:solidFill>
              <a:effectLst/>
              <a:latin typeface="Roboto" panose="02000000000000000000" pitchFamily="2" charset="0"/>
            </a:endParaRPr>
          </a:p>
          <a:p>
            <a:pPr marL="0" indent="0" algn="l">
              <a:buNone/>
            </a:pPr>
            <a:r>
              <a:rPr lang="ja-JP" altLang="en-US" b="0" i="0" dirty="0">
                <a:solidFill>
                  <a:srgbClr val="212121"/>
                </a:solidFill>
                <a:effectLst/>
                <a:latin typeface="Roboto" panose="02000000000000000000" pitchFamily="2" charset="0"/>
              </a:rPr>
              <a:t>これら可視化グラフの良し悪しは</a:t>
            </a:r>
            <a:r>
              <a:rPr lang="ja-JP" altLang="en-US" b="1" i="0" dirty="0">
                <a:solidFill>
                  <a:srgbClr val="212121"/>
                </a:solidFill>
                <a:effectLst/>
                <a:latin typeface="Roboto" panose="02000000000000000000" pitchFamily="2" charset="0"/>
              </a:rPr>
              <a:t>客観的に評価できない</a:t>
            </a:r>
            <a:r>
              <a:rPr lang="ja-JP" altLang="en-US" b="0" i="0" dirty="0">
                <a:solidFill>
                  <a:srgbClr val="212121"/>
                </a:solidFill>
                <a:effectLst/>
                <a:latin typeface="Roboto" panose="02000000000000000000" pitchFamily="2" charset="0"/>
              </a:rPr>
              <a:t>のか？</a:t>
            </a:r>
            <a:endParaRPr lang="en-US" altLang="ja-JP" b="0" i="0" dirty="0">
              <a:solidFill>
                <a:srgbClr val="212121"/>
              </a:solidFill>
              <a:effectLst/>
              <a:latin typeface="Roboto" panose="02000000000000000000" pitchFamily="2" charset="0"/>
            </a:endParaRPr>
          </a:p>
          <a:p>
            <a:pPr marL="0" indent="0" algn="l">
              <a:buNone/>
            </a:pPr>
            <a:endParaRPr kumimoji="1" lang="en-US" altLang="ja-JP" b="0" i="0" dirty="0">
              <a:solidFill>
                <a:srgbClr val="212121"/>
              </a:solidFill>
              <a:effectLst/>
              <a:latin typeface="Roboto" panose="02000000000000000000" pitchFamily="2" charset="0"/>
            </a:endParaRPr>
          </a:p>
          <a:p>
            <a:pPr marL="0" indent="0" algn="l">
              <a:buNone/>
            </a:pPr>
            <a:r>
              <a:rPr kumimoji="1" lang="ja-JP" altLang="en-US" b="0" i="0" dirty="0">
                <a:solidFill>
                  <a:srgbClr val="212121"/>
                </a:solidFill>
                <a:effectLst/>
                <a:latin typeface="Roboto" panose="02000000000000000000" pitchFamily="2" charset="0"/>
              </a:rPr>
              <a:t>というものであり、</a:t>
            </a:r>
            <a:r>
              <a:rPr kumimoji="1" lang="ja-JP" altLang="en-US" dirty="0"/>
              <a:t>客観視できないことには確かに問題があると思ったため、定量評価可能な方法を模索しました。</a:t>
            </a:r>
            <a:endParaRPr kumimoji="1" lang="en-US" altLang="ja-JP" dirty="0"/>
          </a:p>
          <a:p>
            <a:endParaRPr kumimoji="1" lang="en-US" altLang="ja-JP" dirty="0"/>
          </a:p>
          <a:p>
            <a:r>
              <a:rPr kumimoji="1" lang="ja-JP" altLang="en-US" dirty="0"/>
              <a:t>その結果、変動係数を用いることで定量評価できたため、ここで説明させていただきます。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27</a:t>
            </a:fld>
            <a:endParaRPr kumimoji="1" lang="ja-JP" altLang="en-US"/>
          </a:p>
        </p:txBody>
      </p:sp>
    </p:spTree>
    <p:extLst>
      <p:ext uri="{BB962C8B-B14F-4D97-AF65-F5344CB8AC3E}">
        <p14:creationId xmlns:p14="http://schemas.microsoft.com/office/powerpoint/2010/main" val="30056737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まず、定量評価法を述べる前に</a:t>
            </a:r>
            <a:r>
              <a:rPr lang="en-US" altLang="ja-JP" dirty="0"/>
              <a:t>, </a:t>
            </a:r>
            <a:r>
              <a:rPr lang="ja-JP" altLang="en-US" dirty="0"/>
              <a:t>良い可視化グラフといえる基準を定義します</a:t>
            </a:r>
            <a:r>
              <a:rPr lang="en-US" altLang="ja-JP" dirty="0"/>
              <a:t>. </a:t>
            </a:r>
          </a:p>
          <a:p>
            <a:endParaRPr lang="en-US" altLang="ja-JP" dirty="0"/>
          </a:p>
          <a:p>
            <a:r>
              <a:rPr lang="ja-JP" altLang="en-US" dirty="0"/>
              <a:t>本研究では２つの評価尺度を設定しました</a:t>
            </a:r>
            <a:r>
              <a:rPr lang="en-US" altLang="ja-JP" dirty="0"/>
              <a:t>.</a:t>
            </a:r>
          </a:p>
          <a:p>
            <a:endParaRPr lang="en-US" altLang="ja-JP" dirty="0"/>
          </a:p>
          <a:p>
            <a:pPr marL="0" indent="0">
              <a:buNone/>
            </a:pPr>
            <a:r>
              <a:rPr lang="ja-JP" altLang="en-US" dirty="0"/>
              <a:t>なお、任意のノードをホバーすることで</a:t>
            </a:r>
            <a:r>
              <a:rPr lang="en-US" altLang="ja-JP" dirty="0"/>
              <a:t>, </a:t>
            </a:r>
          </a:p>
          <a:p>
            <a:pPr marL="0" indent="0">
              <a:buNone/>
            </a:pPr>
            <a:endParaRPr lang="en-US" altLang="ja-JP" dirty="0"/>
          </a:p>
          <a:p>
            <a:pPr marL="0" indent="0">
              <a:buNone/>
            </a:pPr>
            <a:r>
              <a:rPr lang="ja-JP" altLang="en-US" dirty="0"/>
              <a:t>文書詳細を閲覧できる機能をもつ可視化グラフを想定します。</a:t>
            </a:r>
            <a:endParaRPr lang="en-US" altLang="ja-JP" dirty="0"/>
          </a:p>
          <a:p>
            <a:endParaRPr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28</a:t>
            </a:fld>
            <a:endParaRPr kumimoji="1" lang="ja-JP" altLang="en-US"/>
          </a:p>
        </p:txBody>
      </p:sp>
    </p:spTree>
    <p:extLst>
      <p:ext uri="{BB962C8B-B14F-4D97-AF65-F5344CB8AC3E}">
        <p14:creationId xmlns:p14="http://schemas.microsoft.com/office/powerpoint/2010/main" val="65130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0" dirty="0"/>
              <a:t>1</a:t>
            </a:r>
            <a:r>
              <a:rPr lang="ja-JP" altLang="en-US" b="0" dirty="0"/>
              <a:t>つ目は、隣接ノードが離れすぎずに描画される程よいという評価尺度です。</a:t>
            </a:r>
            <a:endParaRPr lang="en-US" altLang="ja-JP"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離れすぎてるとマウスを動かす距離が長くなり、ホバーしづらくなるため、</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一定距離にプロットするのが望ましいです。</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200" dirty="0"/>
          </a:p>
          <a:p>
            <a:endParaRPr kumimoji="1" lang="ja-JP" altLang="en-US"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29</a:t>
            </a:fld>
            <a:endParaRPr kumimoji="1" lang="ja-JP" altLang="en-US"/>
          </a:p>
        </p:txBody>
      </p:sp>
    </p:spTree>
    <p:extLst>
      <p:ext uri="{BB962C8B-B14F-4D97-AF65-F5344CB8AC3E}">
        <p14:creationId xmlns:p14="http://schemas.microsoft.com/office/powerpoint/2010/main" val="13614199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b="0" dirty="0"/>
              <a:t>2</a:t>
            </a:r>
            <a:r>
              <a:rPr kumimoji="1" lang="ja-JP" altLang="en-US" b="0" dirty="0"/>
              <a:t>つ目は、重なっているノードが存在しない程よいという評価尺度です。</a:t>
            </a:r>
            <a:endParaRPr kumimoji="1" lang="en-US" altLang="ja-JP" b="0" dirty="0"/>
          </a:p>
          <a:p>
            <a:endParaRPr lang="en-US" altLang="ja-JP" dirty="0"/>
          </a:p>
          <a:p>
            <a:r>
              <a:rPr lang="ja-JP" altLang="en-US" dirty="0"/>
              <a:t>複数のノードが重なると、ホバーやクリックが困難になり、文書詳細を閲覧できないノードが出現します。</a:t>
            </a:r>
            <a:endParaRPr lang="en-US" altLang="ja-JP" dirty="0"/>
          </a:p>
          <a:p>
            <a:endParaRPr kumimoji="1" lang="en-US" altLang="ja-JP" dirty="0"/>
          </a:p>
          <a:p>
            <a:r>
              <a:rPr kumimoji="1" lang="ja-JP" altLang="en-US" dirty="0"/>
              <a:t>そのため、ノードが重なることのない、</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dirty="0"/>
              <a:t>座標間の距離が </a:t>
            </a:r>
            <a:r>
              <a:rPr lang="en-US" altLang="ja-JP" b="0" dirty="0">
                <a:solidFill>
                  <a:srgbClr val="C00000"/>
                </a:solidFill>
              </a:rPr>
              <a:t>2r </a:t>
            </a:r>
            <a:r>
              <a:rPr lang="ja-JP" altLang="en-US" b="0" dirty="0">
                <a:solidFill>
                  <a:srgbClr val="C00000"/>
                </a:solidFill>
              </a:rPr>
              <a:t>より大きい方</a:t>
            </a:r>
            <a:r>
              <a:rPr lang="ja-JP" altLang="en-US" b="0" dirty="0"/>
              <a:t>が望ましいです</a:t>
            </a:r>
            <a:r>
              <a:rPr lang="en-US" altLang="ja-JP" b="0" dirty="0"/>
              <a:t>.</a:t>
            </a:r>
            <a:endParaRPr kumimoji="1" lang="ja-JP" altLang="en-US" b="0" dirty="0"/>
          </a:p>
          <a:p>
            <a:endParaRPr kumimoji="1" lang="ja-JP" altLang="en-US"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30</a:t>
            </a:fld>
            <a:endParaRPr kumimoji="1" lang="ja-JP" altLang="en-US"/>
          </a:p>
        </p:txBody>
      </p:sp>
    </p:spTree>
    <p:extLst>
      <p:ext uri="{BB962C8B-B14F-4D97-AF65-F5344CB8AC3E}">
        <p14:creationId xmlns:p14="http://schemas.microsoft.com/office/powerpoint/2010/main" val="30498483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6F256-8679-905A-1DC3-290640A4628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C6C23DE-9054-8B31-9104-D3F0D1CE4BD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39EC6F8-A1A1-3484-94E6-8D598E9C8C1F}"/>
              </a:ext>
            </a:extLst>
          </p:cNvPr>
          <p:cNvSpPr>
            <a:spLocks noGrp="1"/>
          </p:cNvSpPr>
          <p:nvPr>
            <p:ph type="body" idx="1"/>
          </p:nvPr>
        </p:nvSpPr>
        <p:spPr/>
        <p:txBody>
          <a:bodyPr/>
          <a:lstStyle/>
          <a:p>
            <a:r>
              <a:rPr lang="ja-JP" altLang="en-US" b="0" dirty="0"/>
              <a:t>次に、これら２つの評価尺度を用いた定量評価法を示します。</a:t>
            </a:r>
            <a:endParaRPr lang="en-US" altLang="ja-JP" b="0" dirty="0"/>
          </a:p>
          <a:p>
            <a:endParaRPr lang="en-US" altLang="ja-JP" dirty="0"/>
          </a:p>
          <a:p>
            <a:r>
              <a:rPr lang="ja-JP" altLang="en-US" dirty="0"/>
              <a:t>評価尺度１の定量評価には、変動係数を用います。</a:t>
            </a:r>
            <a:endParaRPr lang="en-US" altLang="ja-JP" dirty="0"/>
          </a:p>
          <a:p>
            <a:endParaRPr lang="en-US" altLang="ja-JP" dirty="0"/>
          </a:p>
          <a:p>
            <a:r>
              <a:rPr lang="ja-JP" altLang="en-US" dirty="0"/>
              <a:t>変動係数は、エッジ長のばらつき度合いを示す数値であり</a:t>
            </a:r>
            <a:r>
              <a:rPr lang="en-US" altLang="ja-JP" dirty="0"/>
              <a:t>, </a:t>
            </a:r>
            <a:r>
              <a:rPr lang="ja-JP" altLang="en-US" dirty="0"/>
              <a:t>この値が小さい程</a:t>
            </a:r>
            <a:r>
              <a:rPr lang="en-US" altLang="ja-JP" dirty="0"/>
              <a:t>, </a:t>
            </a:r>
            <a:r>
              <a:rPr lang="ja-JP" altLang="en-US" dirty="0"/>
              <a:t>各エッジの長さは全体的に同程度となります</a:t>
            </a:r>
            <a:r>
              <a:rPr lang="en-US" altLang="ja-JP" dirty="0"/>
              <a:t>.</a:t>
            </a:r>
          </a:p>
          <a:p>
            <a:endParaRPr lang="en-US" altLang="ja-JP" dirty="0"/>
          </a:p>
          <a:p>
            <a:r>
              <a:rPr lang="ja-JP" altLang="en-US" dirty="0"/>
              <a:t>逆に</a:t>
            </a:r>
            <a:r>
              <a:rPr lang="en-US" altLang="ja-JP" dirty="0"/>
              <a:t>, </a:t>
            </a:r>
            <a:r>
              <a:rPr lang="ja-JP" altLang="en-US" dirty="0"/>
              <a:t>値が大きい程</a:t>
            </a:r>
            <a:r>
              <a:rPr lang="en-US" altLang="ja-JP" dirty="0"/>
              <a:t>, </a:t>
            </a:r>
            <a:r>
              <a:rPr lang="ja-JP" altLang="en-US" dirty="0"/>
              <a:t>各エッジの長さに「ばらつき」が生じます</a:t>
            </a:r>
            <a:r>
              <a:rPr lang="en-US" altLang="ja-JP" dirty="0"/>
              <a:t>.</a:t>
            </a:r>
          </a:p>
          <a:p>
            <a:endParaRPr lang="en-US" altLang="ja-JP" dirty="0"/>
          </a:p>
          <a:p>
            <a:r>
              <a:rPr lang="ja-JP" altLang="en-US" dirty="0"/>
              <a:t>故に</a:t>
            </a:r>
            <a:r>
              <a:rPr lang="en-US" altLang="ja-JP" dirty="0"/>
              <a:t>, </a:t>
            </a:r>
            <a:r>
              <a:rPr lang="ja-JP" altLang="en-US" dirty="0"/>
              <a:t>短すぎる</a:t>
            </a:r>
            <a:r>
              <a:rPr lang="en-US" altLang="ja-JP" dirty="0"/>
              <a:t>, </a:t>
            </a:r>
            <a:r>
              <a:rPr lang="ja-JP" altLang="en-US" dirty="0"/>
              <a:t>長すぎる等の不自然なエッジ長をもつ割合が大きくな り</a:t>
            </a:r>
            <a:r>
              <a:rPr lang="en-US" altLang="ja-JP" dirty="0"/>
              <a:t>, </a:t>
            </a:r>
            <a:r>
              <a:rPr lang="ja-JP" altLang="en-US" dirty="0"/>
              <a:t>結果的に隣接ノード同士の距離が不自然なペアが出現します</a:t>
            </a:r>
            <a:r>
              <a:rPr lang="en-US" altLang="ja-JP" dirty="0"/>
              <a:t>. </a:t>
            </a:r>
          </a:p>
          <a:p>
            <a:endParaRPr lang="en-US" altLang="ja-JP" dirty="0"/>
          </a:p>
          <a:p>
            <a:r>
              <a:rPr lang="ja-JP" altLang="en-US" dirty="0"/>
              <a:t>従って</a:t>
            </a:r>
            <a:r>
              <a:rPr lang="en-US" altLang="ja-JP" dirty="0"/>
              <a:t>, </a:t>
            </a:r>
            <a:r>
              <a:rPr lang="ja-JP" altLang="en-US" dirty="0"/>
              <a:t>変動係数 </a:t>
            </a:r>
            <a:r>
              <a:rPr lang="en-US" altLang="ja-JP" dirty="0"/>
              <a:t>cv </a:t>
            </a:r>
            <a:r>
              <a:rPr lang="ja-JP" altLang="en-US" dirty="0"/>
              <a:t>が小さくなる程</a:t>
            </a:r>
            <a:r>
              <a:rPr lang="en-US" altLang="ja-JP" dirty="0"/>
              <a:t>, </a:t>
            </a:r>
            <a:r>
              <a:rPr lang="ja-JP" altLang="en-US" dirty="0"/>
              <a:t>評価尺度１を高水準で満たすグラフとなります</a:t>
            </a:r>
            <a:r>
              <a:rPr lang="en-US" altLang="ja-JP" dirty="0"/>
              <a:t>.</a:t>
            </a:r>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評価尺度２の定量評価では、座標間の距離が </a:t>
            </a:r>
            <a:r>
              <a:rPr lang="en-US" altLang="ja-JP" dirty="0"/>
              <a:t>2r </a:t>
            </a:r>
            <a:r>
              <a:rPr lang="ja-JP" altLang="en-US" dirty="0"/>
              <a:t>未満のノードペア集合の要素数を求めます</a:t>
            </a:r>
            <a:r>
              <a:rPr lang="en-US" altLang="ja-JP"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こちらも、値が小さい程、評価尺度２を高水準で満たすグラフとなります。</a:t>
            </a:r>
            <a:endParaRPr lang="en-US" altLang="ja-JP" dirty="0"/>
          </a:p>
          <a:p>
            <a:endParaRPr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B1FC75B1-B4F0-73E8-38A0-5245CA915D87}"/>
              </a:ext>
            </a:extLst>
          </p:cNvPr>
          <p:cNvSpPr>
            <a:spLocks noGrp="1"/>
          </p:cNvSpPr>
          <p:nvPr>
            <p:ph type="sldNum" sz="quarter" idx="5"/>
          </p:nvPr>
        </p:nvSpPr>
        <p:spPr/>
        <p:txBody>
          <a:bodyPr/>
          <a:lstStyle/>
          <a:p>
            <a:fld id="{0783AB39-2151-4E9B-986E-1F25CF106DBB}" type="slidenum">
              <a:rPr kumimoji="1" lang="ja-JP" altLang="en-US" smtClean="0"/>
              <a:t>31</a:t>
            </a:fld>
            <a:endParaRPr kumimoji="1" lang="ja-JP" altLang="en-US"/>
          </a:p>
        </p:txBody>
      </p:sp>
    </p:spTree>
    <p:extLst>
      <p:ext uri="{BB962C8B-B14F-4D97-AF65-F5344CB8AC3E}">
        <p14:creationId xmlns:p14="http://schemas.microsoft.com/office/powerpoint/2010/main" val="1111754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そして、さきほどの２つの評価尺度で定量評価した３２個の可視化グラフを抽出し、</a:t>
            </a:r>
            <a:endParaRPr kumimoji="1" lang="en-US" altLang="ja-JP" dirty="0"/>
          </a:p>
          <a:p>
            <a:endParaRPr kumimoji="1" lang="en-US" altLang="ja-JP" dirty="0"/>
          </a:p>
          <a:p>
            <a:r>
              <a:rPr kumimoji="1" lang="ja-JP" altLang="en-US" dirty="0"/>
              <a:t>評価尺度１の評価値を</a:t>
            </a:r>
            <a:r>
              <a:rPr kumimoji="1" lang="en-US" altLang="ja-JP" dirty="0"/>
              <a:t>X</a:t>
            </a:r>
            <a:r>
              <a:rPr kumimoji="1" lang="ja-JP" altLang="en-US" dirty="0"/>
              <a:t>軸</a:t>
            </a:r>
            <a:endParaRPr kumimoji="1" lang="en-US" altLang="ja-JP" dirty="0"/>
          </a:p>
          <a:p>
            <a:endParaRPr kumimoji="1" lang="en-US" altLang="ja-JP" dirty="0"/>
          </a:p>
          <a:p>
            <a:r>
              <a:rPr kumimoji="1" lang="ja-JP" altLang="en-US" dirty="0"/>
              <a:t>評価尺度２の評価値を</a:t>
            </a:r>
            <a:r>
              <a:rPr kumimoji="1" lang="en-US" altLang="ja-JP" dirty="0"/>
              <a:t>Y</a:t>
            </a:r>
            <a:r>
              <a:rPr kumimoji="1" lang="ja-JP" altLang="en-US" dirty="0"/>
              <a:t>軸</a:t>
            </a:r>
            <a:endParaRPr kumimoji="1" lang="en-US" altLang="ja-JP" dirty="0"/>
          </a:p>
          <a:p>
            <a:endParaRPr kumimoji="1" lang="en-US" altLang="ja-JP" dirty="0"/>
          </a:p>
          <a:p>
            <a:r>
              <a:rPr kumimoji="1" lang="ja-JP" altLang="en-US" dirty="0"/>
              <a:t>に設定した散布図を生成しました。</a:t>
            </a:r>
            <a:endParaRPr kumimoji="1" lang="en-US" altLang="ja-JP" dirty="0"/>
          </a:p>
          <a:p>
            <a:endParaRPr kumimoji="1" lang="en-US" altLang="ja-JP" dirty="0"/>
          </a:p>
          <a:p>
            <a:pPr marL="0" indent="0">
              <a:buNone/>
            </a:pPr>
            <a:r>
              <a:rPr lang="ja-JP" altLang="en-US" dirty="0"/>
              <a:t>各サークルの数値はクエリ文書の </a:t>
            </a:r>
            <a:r>
              <a:rPr lang="en-US" altLang="ja-JP" dirty="0"/>
              <a:t>id </a:t>
            </a:r>
            <a:r>
              <a:rPr lang="ja-JP" altLang="en-US" dirty="0"/>
              <a:t>を示しており、</a:t>
            </a:r>
            <a:endParaRPr lang="en-US" altLang="ja-JP" dirty="0"/>
          </a:p>
          <a:p>
            <a:pPr marL="0" indent="0">
              <a:buNone/>
            </a:pPr>
            <a:endParaRPr lang="en-US" altLang="ja-JP" dirty="0"/>
          </a:p>
          <a:p>
            <a:pPr marL="0" indent="0">
              <a:buNone/>
            </a:pPr>
            <a:r>
              <a:rPr lang="ja-JP" altLang="en-US" b="1" dirty="0"/>
              <a:t>同番</a:t>
            </a:r>
            <a:r>
              <a:rPr lang="ja-JP" altLang="en-US" dirty="0"/>
              <a:t>のサークルは</a:t>
            </a:r>
            <a:r>
              <a:rPr lang="ja-JP" altLang="en-US" b="1" dirty="0"/>
              <a:t>同じクエリ文書</a:t>
            </a:r>
            <a:r>
              <a:rPr lang="en-US" altLang="ja-JP" dirty="0"/>
              <a:t>,</a:t>
            </a:r>
          </a:p>
          <a:p>
            <a:pPr marL="0" indent="0">
              <a:buNone/>
            </a:pPr>
            <a:endParaRPr lang="en-US" altLang="ja-JP" dirty="0"/>
          </a:p>
          <a:p>
            <a:pPr marL="0" indent="0">
              <a:buNone/>
            </a:pPr>
            <a:r>
              <a:rPr lang="ja-JP" altLang="en-US" b="1" dirty="0"/>
              <a:t>同色</a:t>
            </a:r>
            <a:r>
              <a:rPr lang="ja-JP" altLang="en-US" dirty="0"/>
              <a:t>のサークルは</a:t>
            </a:r>
            <a:r>
              <a:rPr lang="ja-JP" altLang="en-US" b="1" dirty="0"/>
              <a:t>同じ可視化手法</a:t>
            </a:r>
            <a:endParaRPr lang="en-US" altLang="ja-JP" b="1" dirty="0"/>
          </a:p>
          <a:p>
            <a:pPr marL="0" indent="0">
              <a:buNone/>
            </a:pPr>
            <a:endParaRPr lang="en-US" altLang="ja-JP" dirty="0"/>
          </a:p>
          <a:p>
            <a:r>
              <a:rPr kumimoji="1" lang="ja-JP" altLang="en-US" dirty="0"/>
              <a:t>であることを示しています。</a:t>
            </a:r>
            <a:endParaRPr kumimoji="1" lang="en-US" altLang="ja-JP" dirty="0"/>
          </a:p>
          <a:p>
            <a:endParaRPr kumimoji="1" lang="en-US" altLang="ja-JP" dirty="0"/>
          </a:p>
          <a:p>
            <a:r>
              <a:rPr kumimoji="1" lang="ja-JP" altLang="en-US" dirty="0"/>
              <a:t>また、左下にプロットされるサークルである程、高水準であることを示しています。</a:t>
            </a:r>
            <a:endParaRPr kumimoji="1" lang="en-US" altLang="ja-JP" dirty="0"/>
          </a:p>
          <a:p>
            <a:endParaRPr kumimoji="1" lang="en-US" altLang="ja-JP" dirty="0"/>
          </a:p>
          <a:p>
            <a:r>
              <a:rPr kumimoji="1" lang="ja-JP" altLang="en-US" dirty="0"/>
              <a:t>これら結果より、バネモデル法で生成したグラフはどれも左下にプロットされており、</a:t>
            </a:r>
            <a:endParaRPr kumimoji="1" lang="en-US" altLang="ja-JP" dirty="0"/>
          </a:p>
          <a:p>
            <a:endParaRPr kumimoji="1" lang="en-US" altLang="ja-JP" dirty="0"/>
          </a:p>
          <a:p>
            <a:r>
              <a:rPr kumimoji="1" lang="ja-JP" altLang="en-US" dirty="0"/>
              <a:t>全てのグラフで良好の結果であることが見て取れます。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32</a:t>
            </a:fld>
            <a:endParaRPr kumimoji="1" lang="ja-JP" altLang="en-US"/>
          </a:p>
        </p:txBody>
      </p:sp>
    </p:spTree>
    <p:extLst>
      <p:ext uri="{BB962C8B-B14F-4D97-AF65-F5344CB8AC3E}">
        <p14:creationId xmlns:p14="http://schemas.microsoft.com/office/powerpoint/2010/main" val="14957505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最後に、定量評価の結果と定性評価の結果が一致しているか確認します。</a:t>
            </a:r>
            <a:endParaRPr kumimoji="1" lang="en-US" altLang="ja-JP" dirty="0"/>
          </a:p>
          <a:p>
            <a:endParaRPr kumimoji="1" lang="en-US" altLang="ja-JP" dirty="0"/>
          </a:p>
          <a:p>
            <a:r>
              <a:rPr lang="ja-JP" altLang="en-US" dirty="0"/>
              <a:t>対象グラフには</a:t>
            </a:r>
            <a:r>
              <a:rPr lang="en-US" altLang="ja-JP" dirty="0"/>
              <a:t>, </a:t>
            </a:r>
            <a:r>
              <a:rPr lang="ja-JP" altLang="en-US" dirty="0"/>
              <a:t>各種法の評価値が全体的に同程度となったクエリ文書 </a:t>
            </a:r>
            <a:r>
              <a:rPr lang="en-US" altLang="ja-JP" dirty="0"/>
              <a:t>6 </a:t>
            </a:r>
            <a:r>
              <a:rPr lang="ja-JP" altLang="en-US" dirty="0"/>
              <a:t>を対象として可視化グラフを確認します</a:t>
            </a:r>
            <a:r>
              <a:rPr lang="en-US" altLang="ja-JP" dirty="0"/>
              <a:t>.</a:t>
            </a:r>
          </a:p>
          <a:p>
            <a:endParaRPr kumimoji="1" lang="en-US" altLang="ja-JP" dirty="0"/>
          </a:p>
          <a:p>
            <a:r>
              <a:rPr kumimoji="1" lang="ja-JP" altLang="en-US" dirty="0"/>
              <a:t>定量評価では、散布図の結果より、スペクトル法が低水準、バネモデル法が高水準であると見受けられます。</a:t>
            </a:r>
            <a:endParaRPr kumimoji="1" lang="en-US" altLang="ja-JP" dirty="0"/>
          </a:p>
          <a:p>
            <a:endParaRPr kumimoji="1" lang="en-US" altLang="ja-JP" dirty="0"/>
          </a:p>
          <a:p>
            <a:r>
              <a:rPr kumimoji="1" lang="ja-JP" altLang="en-US" dirty="0"/>
              <a:t>また、中間に位置する多次元尺度法とクロスエントロピー法の可視化結果を比較すると、</a:t>
            </a:r>
            <a:endParaRPr kumimoji="1" lang="en-US" altLang="ja-JP" dirty="0"/>
          </a:p>
          <a:p>
            <a:endParaRPr kumimoji="1" lang="en-US" altLang="ja-JP" dirty="0"/>
          </a:p>
          <a:p>
            <a:r>
              <a:rPr kumimoji="1" lang="ja-JP" altLang="en-US" dirty="0"/>
              <a:t>エッジ長やノードの重なり度合いに多少の特徴がありますが、そこまで大きな違いは見受けられないことを示しています。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33</a:t>
            </a:fld>
            <a:endParaRPr kumimoji="1" lang="ja-JP" altLang="en-US"/>
          </a:p>
        </p:txBody>
      </p:sp>
    </p:spTree>
    <p:extLst>
      <p:ext uri="{BB962C8B-B14F-4D97-AF65-F5344CB8AC3E}">
        <p14:creationId xmlns:p14="http://schemas.microsoft.com/office/powerpoint/2010/main" val="19626480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79C5B-1AC4-B206-F866-E0309BACFC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818806B-ACFD-722B-6692-774A3FBB1C7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541DDA9-22D0-34FB-1A21-5FC9E019AFFA}"/>
              </a:ext>
            </a:extLst>
          </p:cNvPr>
          <p:cNvSpPr>
            <a:spLocks noGrp="1"/>
          </p:cNvSpPr>
          <p:nvPr>
            <p:ph type="body" idx="1"/>
          </p:nvPr>
        </p:nvSpPr>
        <p:spPr/>
        <p:txBody>
          <a:bodyPr/>
          <a:lstStyle/>
          <a:p>
            <a:r>
              <a:rPr kumimoji="1" lang="ja-JP" altLang="en-US" dirty="0"/>
              <a:t>実際にクエリ文書６の可視化グラフを確認すると、スペクトル法ではエッジ長の不自然さやノードの重なり度合いに懸念があります。</a:t>
            </a:r>
            <a:endParaRPr kumimoji="1" lang="en-US" altLang="ja-JP" dirty="0"/>
          </a:p>
          <a:p>
            <a:endParaRPr kumimoji="1" lang="en-US" altLang="ja-JP" dirty="0"/>
          </a:p>
          <a:p>
            <a:r>
              <a:rPr kumimoji="1" lang="ja-JP" altLang="en-US" dirty="0"/>
              <a:t>一方で、バネモデル法ではエッジ長が均一であり、ノードが全く重なっていませんでした。</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また、多次元尺度法とクロスエントロピー法では、エッジ長やノードの重なり度合いで、それぞれ多少の優劣がありますが、</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そこまで大きな違いは見受けられませんでした。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これら結果より、さきほどの定量評価と結果が一致し、やはりバネモデル法が可視化手法として適しているという判断に至りました。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a:extLst>
              <a:ext uri="{FF2B5EF4-FFF2-40B4-BE49-F238E27FC236}">
                <a16:creationId xmlns:a16="http://schemas.microsoft.com/office/drawing/2014/main" id="{2CC891C0-4BC6-3871-2FE4-BA1EA557C4D3}"/>
              </a:ext>
            </a:extLst>
          </p:cNvPr>
          <p:cNvSpPr>
            <a:spLocks noGrp="1"/>
          </p:cNvSpPr>
          <p:nvPr>
            <p:ph type="sldNum" sz="quarter" idx="5"/>
          </p:nvPr>
        </p:nvSpPr>
        <p:spPr/>
        <p:txBody>
          <a:bodyPr/>
          <a:lstStyle/>
          <a:p>
            <a:fld id="{0783AB39-2151-4E9B-986E-1F25CF106DBB}" type="slidenum">
              <a:rPr kumimoji="1" lang="ja-JP" altLang="en-US" smtClean="0"/>
              <a:t>34</a:t>
            </a:fld>
            <a:endParaRPr kumimoji="1" lang="ja-JP" altLang="en-US"/>
          </a:p>
        </p:txBody>
      </p:sp>
    </p:spTree>
    <p:extLst>
      <p:ext uri="{BB962C8B-B14F-4D97-AF65-F5344CB8AC3E}">
        <p14:creationId xmlns:p14="http://schemas.microsoft.com/office/powerpoint/2010/main" val="8667036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まとめです。</a:t>
            </a:r>
            <a:endParaRPr kumimoji="1" lang="en-US" altLang="ja-JP" dirty="0"/>
          </a:p>
          <a:p>
            <a:endParaRPr kumimoji="1" lang="en-US" altLang="ja-JP" dirty="0"/>
          </a:p>
          <a:p>
            <a:r>
              <a:rPr kumimoji="1" lang="ja-JP" altLang="en-US" dirty="0"/>
              <a:t>本研究では、</a:t>
            </a:r>
            <a:r>
              <a:rPr lang="ja-JP" altLang="en-US" dirty="0"/>
              <a:t>検索結果文書がクエリに対し</a:t>
            </a:r>
            <a:r>
              <a:rPr lang="en-US" altLang="ja-JP" dirty="0"/>
              <a:t>, </a:t>
            </a:r>
            <a:r>
              <a:rPr lang="ja-JP" altLang="en-US" dirty="0"/>
              <a:t>どのような説明語で類似するかを付与するとともに</a:t>
            </a:r>
            <a:r>
              <a:rPr lang="en-US" altLang="ja-JP" dirty="0"/>
              <a:t>, </a:t>
            </a:r>
            <a:r>
              <a:rPr lang="ja-JP" altLang="en-US" dirty="0"/>
              <a:t>グループ分けして配色する新手法を提案しました。</a:t>
            </a:r>
            <a:endParaRPr lang="en-US" altLang="ja-JP" dirty="0"/>
          </a:p>
          <a:p>
            <a:endParaRPr lang="en-US" altLang="ja-JP" dirty="0"/>
          </a:p>
          <a:p>
            <a:r>
              <a:rPr lang="ja-JP" altLang="en-US" dirty="0"/>
              <a:t>また、既存の可視化グラフ生成アルゴリズムと今回の類似貢献度ベクトル構築法を組み合わせた可視化ブラウジングツールを開発しました。</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可視化グラフの評価では、変動係数を考慮した評価基準を設定し、定量評価と定性評価の結果が一致することを確認しました。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35</a:t>
            </a:fld>
            <a:endParaRPr kumimoji="1" lang="ja-JP" altLang="en-US"/>
          </a:p>
        </p:txBody>
      </p:sp>
    </p:spTree>
    <p:extLst>
      <p:ext uri="{BB962C8B-B14F-4D97-AF65-F5344CB8AC3E}">
        <p14:creationId xmlns:p14="http://schemas.microsoft.com/office/powerpoint/2010/main" val="24365558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参考文献です。</a:t>
            </a:r>
            <a:endParaRPr kumimoji="1" lang="en-US" altLang="ja-JP" dirty="0"/>
          </a:p>
          <a:p>
            <a:endParaRPr kumimoji="1" lang="en-US" altLang="ja-JP" dirty="0"/>
          </a:p>
          <a:p>
            <a:r>
              <a:rPr kumimoji="1" lang="ja-JP" altLang="en-US" dirty="0"/>
              <a:t>本研究では、下記文献を参考にしました。</a:t>
            </a:r>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36</a:t>
            </a:fld>
            <a:endParaRPr kumimoji="1" lang="ja-JP" altLang="en-US"/>
          </a:p>
        </p:txBody>
      </p:sp>
    </p:spTree>
    <p:extLst>
      <p:ext uri="{BB962C8B-B14F-4D97-AF65-F5344CB8AC3E}">
        <p14:creationId xmlns:p14="http://schemas.microsoft.com/office/powerpoint/2010/main" val="39393783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b="0" dirty="0"/>
              <a:t>研究発表は以上です。</a:t>
            </a:r>
            <a:br>
              <a:rPr kumimoji="1" lang="en-US" altLang="ja-JP" b="0" dirty="0"/>
            </a:br>
            <a:r>
              <a:rPr kumimoji="1" lang="en-US" altLang="ja-JP" b="0" dirty="0"/>
              <a:t>              </a:t>
            </a:r>
          </a:p>
          <a:p>
            <a:r>
              <a:rPr kumimoji="1" lang="ja-JP" altLang="en-US" b="0" dirty="0"/>
              <a:t>ご清聴ありがとうございました。</a:t>
            </a:r>
          </a:p>
        </p:txBody>
      </p:sp>
      <p:sp>
        <p:nvSpPr>
          <p:cNvPr id="4" name="スライド番号プレースホルダー 3"/>
          <p:cNvSpPr>
            <a:spLocks noGrp="1"/>
          </p:cNvSpPr>
          <p:nvPr>
            <p:ph type="sldNum" sz="quarter" idx="5"/>
          </p:nvPr>
        </p:nvSpPr>
        <p:spPr/>
        <p:txBody>
          <a:bodyPr/>
          <a:lstStyle/>
          <a:p>
            <a:fld id="{0783AB39-2151-4E9B-986E-1F25CF106DBB}" type="slidenum">
              <a:rPr kumimoji="1" lang="ja-JP" altLang="en-US" smtClean="0"/>
              <a:t>39</a:t>
            </a:fld>
            <a:endParaRPr kumimoji="1" lang="ja-JP" altLang="en-US"/>
          </a:p>
        </p:txBody>
      </p:sp>
    </p:spTree>
    <p:extLst>
      <p:ext uri="{BB962C8B-B14F-4D97-AF65-F5344CB8AC3E}">
        <p14:creationId xmlns:p14="http://schemas.microsoft.com/office/powerpoint/2010/main" val="393417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25FC4D-6735-E2CC-48F5-7CD47C28B2F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576C05E-B231-C4C1-0C30-78A02C480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E102A4D-0EA0-605F-6E3D-4B5D0DBC5D4C}"/>
              </a:ext>
            </a:extLst>
          </p:cNvPr>
          <p:cNvSpPr>
            <a:spLocks noGrp="1"/>
          </p:cNvSpPr>
          <p:nvPr>
            <p:ph type="dt" sz="half" idx="10"/>
          </p:nvPr>
        </p:nvSpPr>
        <p:spPr/>
        <p:txBody>
          <a:bodyPr/>
          <a:lstStyle/>
          <a:p>
            <a:fld id="{F582530A-B11F-4E32-B061-A40F9528ED49}" type="datetimeFigureOut">
              <a:rPr kumimoji="1" lang="ja-JP" altLang="en-US" smtClean="0"/>
              <a:t>2025/2/18</a:t>
            </a:fld>
            <a:endParaRPr kumimoji="1" lang="ja-JP" altLang="en-US"/>
          </a:p>
        </p:txBody>
      </p:sp>
      <p:sp>
        <p:nvSpPr>
          <p:cNvPr id="5" name="フッター プレースホルダー 4">
            <a:extLst>
              <a:ext uri="{FF2B5EF4-FFF2-40B4-BE49-F238E27FC236}">
                <a16:creationId xmlns:a16="http://schemas.microsoft.com/office/drawing/2014/main" id="{D38A373D-D62D-8B1F-17DA-6A11F60A9E0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4FBA408-8A3E-6D9B-C845-B6503C2BE014}"/>
              </a:ext>
            </a:extLst>
          </p:cNvPr>
          <p:cNvSpPr>
            <a:spLocks noGrp="1"/>
          </p:cNvSpPr>
          <p:nvPr>
            <p:ph type="sldNum" sz="quarter" idx="12"/>
          </p:nvPr>
        </p:nvSpPr>
        <p:spPr/>
        <p:txBody>
          <a:body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834195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CE9DF9-A1F6-87B6-896E-1DDE7D1FDED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BB68D69-7885-A7D1-F9E8-C9F8C5A90F1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085A960-7DDB-62A5-96FB-7FB1C132C2E0}"/>
              </a:ext>
            </a:extLst>
          </p:cNvPr>
          <p:cNvSpPr>
            <a:spLocks noGrp="1"/>
          </p:cNvSpPr>
          <p:nvPr>
            <p:ph type="dt" sz="half" idx="10"/>
          </p:nvPr>
        </p:nvSpPr>
        <p:spPr/>
        <p:txBody>
          <a:bodyPr/>
          <a:lstStyle/>
          <a:p>
            <a:fld id="{F582530A-B11F-4E32-B061-A40F9528ED49}" type="datetimeFigureOut">
              <a:rPr kumimoji="1" lang="ja-JP" altLang="en-US" smtClean="0"/>
              <a:t>2025/2/18</a:t>
            </a:fld>
            <a:endParaRPr kumimoji="1" lang="ja-JP" altLang="en-US"/>
          </a:p>
        </p:txBody>
      </p:sp>
      <p:sp>
        <p:nvSpPr>
          <p:cNvPr id="5" name="フッター プレースホルダー 4">
            <a:extLst>
              <a:ext uri="{FF2B5EF4-FFF2-40B4-BE49-F238E27FC236}">
                <a16:creationId xmlns:a16="http://schemas.microsoft.com/office/drawing/2014/main" id="{37510F84-F375-5181-5AF4-EBFB0E4389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1794A-E212-45F0-1191-4309550ED3BE}"/>
              </a:ext>
            </a:extLst>
          </p:cNvPr>
          <p:cNvSpPr>
            <a:spLocks noGrp="1"/>
          </p:cNvSpPr>
          <p:nvPr>
            <p:ph type="sldNum" sz="quarter" idx="12"/>
          </p:nvPr>
        </p:nvSpPr>
        <p:spPr/>
        <p:txBody>
          <a:body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1768751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19BE29-25E8-3733-33A1-F23BE7E4759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76D1AC3-18B1-063F-B396-5EFB3E0309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F9972FF-CF44-F73B-2AE0-EA9B46FBC22F}"/>
              </a:ext>
            </a:extLst>
          </p:cNvPr>
          <p:cNvSpPr>
            <a:spLocks noGrp="1"/>
          </p:cNvSpPr>
          <p:nvPr>
            <p:ph type="dt" sz="half" idx="10"/>
          </p:nvPr>
        </p:nvSpPr>
        <p:spPr/>
        <p:txBody>
          <a:bodyPr/>
          <a:lstStyle/>
          <a:p>
            <a:fld id="{F582530A-B11F-4E32-B061-A40F9528ED49}" type="datetimeFigureOut">
              <a:rPr kumimoji="1" lang="ja-JP" altLang="en-US" smtClean="0"/>
              <a:t>2025/2/18</a:t>
            </a:fld>
            <a:endParaRPr kumimoji="1" lang="ja-JP" altLang="en-US"/>
          </a:p>
        </p:txBody>
      </p:sp>
      <p:sp>
        <p:nvSpPr>
          <p:cNvPr id="5" name="フッター プレースホルダー 4">
            <a:extLst>
              <a:ext uri="{FF2B5EF4-FFF2-40B4-BE49-F238E27FC236}">
                <a16:creationId xmlns:a16="http://schemas.microsoft.com/office/drawing/2014/main" id="{2DB8FA8F-FFC2-167E-F06E-B95EC77E61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30FB69D-E360-EE44-885D-8791C691DEDF}"/>
              </a:ext>
            </a:extLst>
          </p:cNvPr>
          <p:cNvSpPr>
            <a:spLocks noGrp="1"/>
          </p:cNvSpPr>
          <p:nvPr>
            <p:ph type="sldNum" sz="quarter" idx="12"/>
          </p:nvPr>
        </p:nvSpPr>
        <p:spPr/>
        <p:txBody>
          <a:body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237711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1C680B-2F37-5ED8-5ECD-DD75551364D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F001B36-70C9-319F-CF11-6E14FE5656E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3067E0B-6008-9F9F-F8BD-85EC44921D4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7B01498-D99D-E37C-0EDB-4F5FE50A101A}"/>
              </a:ext>
            </a:extLst>
          </p:cNvPr>
          <p:cNvSpPr>
            <a:spLocks noGrp="1"/>
          </p:cNvSpPr>
          <p:nvPr>
            <p:ph type="dt" sz="half" idx="10"/>
          </p:nvPr>
        </p:nvSpPr>
        <p:spPr/>
        <p:txBody>
          <a:bodyPr/>
          <a:lstStyle/>
          <a:p>
            <a:fld id="{F582530A-B11F-4E32-B061-A40F9528ED49}" type="datetimeFigureOut">
              <a:rPr kumimoji="1" lang="ja-JP" altLang="en-US" smtClean="0"/>
              <a:t>2025/2/18</a:t>
            </a:fld>
            <a:endParaRPr kumimoji="1" lang="ja-JP" altLang="en-US"/>
          </a:p>
        </p:txBody>
      </p:sp>
      <p:sp>
        <p:nvSpPr>
          <p:cNvPr id="6" name="フッター プレースホルダー 5">
            <a:extLst>
              <a:ext uri="{FF2B5EF4-FFF2-40B4-BE49-F238E27FC236}">
                <a16:creationId xmlns:a16="http://schemas.microsoft.com/office/drawing/2014/main" id="{FFECFE13-D9A0-94F0-0DEF-6FCF58C7009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26D595F-B104-C35D-FBE7-22B6DAC3F677}"/>
              </a:ext>
            </a:extLst>
          </p:cNvPr>
          <p:cNvSpPr>
            <a:spLocks noGrp="1"/>
          </p:cNvSpPr>
          <p:nvPr>
            <p:ph type="sldNum" sz="quarter" idx="12"/>
          </p:nvPr>
        </p:nvSpPr>
        <p:spPr/>
        <p:txBody>
          <a:body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880659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3501AB-9471-07B6-51FD-57D327F8F8D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6AE0D2C-43A9-E5E7-1DD3-2BCFB64811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3CBD56D-8AB4-C346-6839-629AE4EFCC0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779D657-C271-AD6E-920A-0933DC6705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F2CC5BF-A6F6-488E-93A4-6993D85B352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F26F773-5A5A-6D68-2EF4-BE4FFCB62EE5}"/>
              </a:ext>
            </a:extLst>
          </p:cNvPr>
          <p:cNvSpPr>
            <a:spLocks noGrp="1"/>
          </p:cNvSpPr>
          <p:nvPr>
            <p:ph type="dt" sz="half" idx="10"/>
          </p:nvPr>
        </p:nvSpPr>
        <p:spPr/>
        <p:txBody>
          <a:bodyPr/>
          <a:lstStyle/>
          <a:p>
            <a:fld id="{F582530A-B11F-4E32-B061-A40F9528ED49}" type="datetimeFigureOut">
              <a:rPr kumimoji="1" lang="ja-JP" altLang="en-US" smtClean="0"/>
              <a:t>2025/2/18</a:t>
            </a:fld>
            <a:endParaRPr kumimoji="1" lang="ja-JP" altLang="en-US"/>
          </a:p>
        </p:txBody>
      </p:sp>
      <p:sp>
        <p:nvSpPr>
          <p:cNvPr id="8" name="フッター プレースホルダー 7">
            <a:extLst>
              <a:ext uri="{FF2B5EF4-FFF2-40B4-BE49-F238E27FC236}">
                <a16:creationId xmlns:a16="http://schemas.microsoft.com/office/drawing/2014/main" id="{4E9D7942-3D56-2C0B-703B-CEB4C539C21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56E1693-492E-F8A6-7EF1-B5C017813611}"/>
              </a:ext>
            </a:extLst>
          </p:cNvPr>
          <p:cNvSpPr>
            <a:spLocks noGrp="1"/>
          </p:cNvSpPr>
          <p:nvPr>
            <p:ph type="sldNum" sz="quarter" idx="12"/>
          </p:nvPr>
        </p:nvSpPr>
        <p:spPr/>
        <p:txBody>
          <a:body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794909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EDE56F-4685-7543-E839-0D8699551A9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11DF730-3B74-4AB2-CCA0-43D78CF67230}"/>
              </a:ext>
            </a:extLst>
          </p:cNvPr>
          <p:cNvSpPr>
            <a:spLocks noGrp="1"/>
          </p:cNvSpPr>
          <p:nvPr>
            <p:ph type="dt" sz="half" idx="10"/>
          </p:nvPr>
        </p:nvSpPr>
        <p:spPr/>
        <p:txBody>
          <a:bodyPr/>
          <a:lstStyle/>
          <a:p>
            <a:fld id="{F582530A-B11F-4E32-B061-A40F9528ED49}" type="datetimeFigureOut">
              <a:rPr kumimoji="1" lang="ja-JP" altLang="en-US" smtClean="0"/>
              <a:t>2025/2/18</a:t>
            </a:fld>
            <a:endParaRPr kumimoji="1" lang="ja-JP" altLang="en-US"/>
          </a:p>
        </p:txBody>
      </p:sp>
      <p:sp>
        <p:nvSpPr>
          <p:cNvPr id="4" name="フッター プレースホルダー 3">
            <a:extLst>
              <a:ext uri="{FF2B5EF4-FFF2-40B4-BE49-F238E27FC236}">
                <a16:creationId xmlns:a16="http://schemas.microsoft.com/office/drawing/2014/main" id="{E0F4629C-5DDC-42D4-8F01-C11DFA0D271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3823BE6-9D4D-727F-B024-1D5DBAA18799}"/>
              </a:ext>
            </a:extLst>
          </p:cNvPr>
          <p:cNvSpPr>
            <a:spLocks noGrp="1"/>
          </p:cNvSpPr>
          <p:nvPr>
            <p:ph type="sldNum" sz="quarter" idx="12"/>
          </p:nvPr>
        </p:nvSpPr>
        <p:spPr/>
        <p:txBody>
          <a:body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1058856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F2C366A-186A-BE7A-41F6-EB471E3F46F3}"/>
              </a:ext>
            </a:extLst>
          </p:cNvPr>
          <p:cNvSpPr>
            <a:spLocks noGrp="1"/>
          </p:cNvSpPr>
          <p:nvPr>
            <p:ph type="dt" sz="half" idx="10"/>
          </p:nvPr>
        </p:nvSpPr>
        <p:spPr/>
        <p:txBody>
          <a:bodyPr/>
          <a:lstStyle/>
          <a:p>
            <a:fld id="{F582530A-B11F-4E32-B061-A40F9528ED49}" type="datetimeFigureOut">
              <a:rPr kumimoji="1" lang="ja-JP" altLang="en-US" smtClean="0"/>
              <a:t>2025/2/18</a:t>
            </a:fld>
            <a:endParaRPr kumimoji="1" lang="ja-JP" altLang="en-US"/>
          </a:p>
        </p:txBody>
      </p:sp>
      <p:sp>
        <p:nvSpPr>
          <p:cNvPr id="3" name="フッター プレースホルダー 2">
            <a:extLst>
              <a:ext uri="{FF2B5EF4-FFF2-40B4-BE49-F238E27FC236}">
                <a16:creationId xmlns:a16="http://schemas.microsoft.com/office/drawing/2014/main" id="{E294F9B0-40EA-067A-ACFF-88C8DB7C5F2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B232A38-86E8-F356-EA29-F3E8839528BF}"/>
              </a:ext>
            </a:extLst>
          </p:cNvPr>
          <p:cNvSpPr>
            <a:spLocks noGrp="1"/>
          </p:cNvSpPr>
          <p:nvPr>
            <p:ph type="sldNum" sz="quarter" idx="12"/>
          </p:nvPr>
        </p:nvSpPr>
        <p:spPr/>
        <p:txBody>
          <a:body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187498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64B029-8AA9-FE96-921E-1DF962893D3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84AA330-7453-0146-D31C-C160951F98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F8E4DE5-DA09-392C-C87D-952963BED7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AC78DE6-8B58-4DB6-1FDD-BCA7F9997521}"/>
              </a:ext>
            </a:extLst>
          </p:cNvPr>
          <p:cNvSpPr>
            <a:spLocks noGrp="1"/>
          </p:cNvSpPr>
          <p:nvPr>
            <p:ph type="dt" sz="half" idx="10"/>
          </p:nvPr>
        </p:nvSpPr>
        <p:spPr/>
        <p:txBody>
          <a:bodyPr/>
          <a:lstStyle/>
          <a:p>
            <a:fld id="{F582530A-B11F-4E32-B061-A40F9528ED49}" type="datetimeFigureOut">
              <a:rPr kumimoji="1" lang="ja-JP" altLang="en-US" smtClean="0"/>
              <a:t>2025/2/18</a:t>
            </a:fld>
            <a:endParaRPr kumimoji="1" lang="ja-JP" altLang="en-US"/>
          </a:p>
        </p:txBody>
      </p:sp>
      <p:sp>
        <p:nvSpPr>
          <p:cNvPr id="6" name="フッター プレースホルダー 5">
            <a:extLst>
              <a:ext uri="{FF2B5EF4-FFF2-40B4-BE49-F238E27FC236}">
                <a16:creationId xmlns:a16="http://schemas.microsoft.com/office/drawing/2014/main" id="{A31B01ED-47A4-921A-68FC-28E688D4E5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9510AD3-0108-8B93-595E-F37C9942A5B4}"/>
              </a:ext>
            </a:extLst>
          </p:cNvPr>
          <p:cNvSpPr>
            <a:spLocks noGrp="1"/>
          </p:cNvSpPr>
          <p:nvPr>
            <p:ph type="sldNum" sz="quarter" idx="12"/>
          </p:nvPr>
        </p:nvSpPr>
        <p:spPr/>
        <p:txBody>
          <a:body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2357231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CF26C7-134F-C0D3-8D5F-559D277457F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9ADE00C-C5ED-0C32-3123-C9EAF779CF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51A5090-C4C6-C415-D408-A29F38E844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9C1EEE8-D35B-EEFD-4661-6971B8C61499}"/>
              </a:ext>
            </a:extLst>
          </p:cNvPr>
          <p:cNvSpPr>
            <a:spLocks noGrp="1"/>
          </p:cNvSpPr>
          <p:nvPr>
            <p:ph type="dt" sz="half" idx="10"/>
          </p:nvPr>
        </p:nvSpPr>
        <p:spPr/>
        <p:txBody>
          <a:bodyPr/>
          <a:lstStyle/>
          <a:p>
            <a:fld id="{F582530A-B11F-4E32-B061-A40F9528ED49}" type="datetimeFigureOut">
              <a:rPr kumimoji="1" lang="ja-JP" altLang="en-US" smtClean="0"/>
              <a:t>2025/2/18</a:t>
            </a:fld>
            <a:endParaRPr kumimoji="1" lang="ja-JP" altLang="en-US"/>
          </a:p>
        </p:txBody>
      </p:sp>
      <p:sp>
        <p:nvSpPr>
          <p:cNvPr id="6" name="フッター プレースホルダー 5">
            <a:extLst>
              <a:ext uri="{FF2B5EF4-FFF2-40B4-BE49-F238E27FC236}">
                <a16:creationId xmlns:a16="http://schemas.microsoft.com/office/drawing/2014/main" id="{505F8B2B-A13A-9542-6120-731CF895906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CC39305-58B7-0E0C-3060-838710FDECA0}"/>
              </a:ext>
            </a:extLst>
          </p:cNvPr>
          <p:cNvSpPr>
            <a:spLocks noGrp="1"/>
          </p:cNvSpPr>
          <p:nvPr>
            <p:ph type="sldNum" sz="quarter" idx="12"/>
          </p:nvPr>
        </p:nvSpPr>
        <p:spPr/>
        <p:txBody>
          <a:body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799089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A7BDCC-1ADE-1B70-5D07-23B3064A7DB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5EF6FF6-F6FB-BB8E-197F-4808E5CE878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BE54078-6F2A-2A67-D901-4270A34198A1}"/>
              </a:ext>
            </a:extLst>
          </p:cNvPr>
          <p:cNvSpPr>
            <a:spLocks noGrp="1"/>
          </p:cNvSpPr>
          <p:nvPr>
            <p:ph type="dt" sz="half" idx="10"/>
          </p:nvPr>
        </p:nvSpPr>
        <p:spPr/>
        <p:txBody>
          <a:bodyPr/>
          <a:lstStyle/>
          <a:p>
            <a:fld id="{F582530A-B11F-4E32-B061-A40F9528ED49}" type="datetimeFigureOut">
              <a:rPr kumimoji="1" lang="ja-JP" altLang="en-US" smtClean="0"/>
              <a:t>2025/2/18</a:t>
            </a:fld>
            <a:endParaRPr kumimoji="1" lang="ja-JP" altLang="en-US"/>
          </a:p>
        </p:txBody>
      </p:sp>
      <p:sp>
        <p:nvSpPr>
          <p:cNvPr id="5" name="フッター プレースホルダー 4">
            <a:extLst>
              <a:ext uri="{FF2B5EF4-FFF2-40B4-BE49-F238E27FC236}">
                <a16:creationId xmlns:a16="http://schemas.microsoft.com/office/drawing/2014/main" id="{0CE0B296-C5BE-EC62-323C-474F0F06622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6E9B8C0-08CE-DDE9-44BD-37093775DCE9}"/>
              </a:ext>
            </a:extLst>
          </p:cNvPr>
          <p:cNvSpPr>
            <a:spLocks noGrp="1"/>
          </p:cNvSpPr>
          <p:nvPr>
            <p:ph type="sldNum" sz="quarter" idx="12"/>
          </p:nvPr>
        </p:nvSpPr>
        <p:spPr/>
        <p:txBody>
          <a:body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48726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926ABE9-447F-B103-41D6-EE7CC78440F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98D2A38-9171-9C1F-AA90-4CDBB7FB419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89F04E9-71BD-8D7B-FDE5-59B5CB791FD0}"/>
              </a:ext>
            </a:extLst>
          </p:cNvPr>
          <p:cNvSpPr>
            <a:spLocks noGrp="1"/>
          </p:cNvSpPr>
          <p:nvPr>
            <p:ph type="dt" sz="half" idx="10"/>
          </p:nvPr>
        </p:nvSpPr>
        <p:spPr/>
        <p:txBody>
          <a:bodyPr/>
          <a:lstStyle/>
          <a:p>
            <a:fld id="{F582530A-B11F-4E32-B061-A40F9528ED49}" type="datetimeFigureOut">
              <a:rPr kumimoji="1" lang="ja-JP" altLang="en-US" smtClean="0"/>
              <a:t>2025/2/18</a:t>
            </a:fld>
            <a:endParaRPr kumimoji="1" lang="ja-JP" altLang="en-US"/>
          </a:p>
        </p:txBody>
      </p:sp>
      <p:sp>
        <p:nvSpPr>
          <p:cNvPr id="5" name="フッター プレースホルダー 4">
            <a:extLst>
              <a:ext uri="{FF2B5EF4-FFF2-40B4-BE49-F238E27FC236}">
                <a16:creationId xmlns:a16="http://schemas.microsoft.com/office/drawing/2014/main" id="{BAB375F3-050F-4967-9ADC-A84D6061661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0A4F8B8-2D86-218B-4F56-8D319060B09F}"/>
              </a:ext>
            </a:extLst>
          </p:cNvPr>
          <p:cNvSpPr>
            <a:spLocks noGrp="1"/>
          </p:cNvSpPr>
          <p:nvPr>
            <p:ph type="sldNum" sz="quarter" idx="12"/>
          </p:nvPr>
        </p:nvSpPr>
        <p:spPr/>
        <p:txBody>
          <a:body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3465303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1DDC051-FE08-FC73-16BC-01C7E667AE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DC11CD7-D278-A3CF-8014-C23CF3AB10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D4C3B42-0AF0-778A-2C27-7EA3F66620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82530A-B11F-4E32-B061-A40F9528ED49}" type="datetimeFigureOut">
              <a:rPr kumimoji="1" lang="ja-JP" altLang="en-US" smtClean="0"/>
              <a:t>2025/2/18</a:t>
            </a:fld>
            <a:endParaRPr kumimoji="1" lang="ja-JP" altLang="en-US"/>
          </a:p>
        </p:txBody>
      </p:sp>
      <p:sp>
        <p:nvSpPr>
          <p:cNvPr id="5" name="フッター プレースホルダー 4">
            <a:extLst>
              <a:ext uri="{FF2B5EF4-FFF2-40B4-BE49-F238E27FC236}">
                <a16:creationId xmlns:a16="http://schemas.microsoft.com/office/drawing/2014/main" id="{9E28E3DC-0605-C012-1304-8BB38309B8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0D1EC7E-6564-15FC-4C92-4E10D84C4E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104084-611D-4EF0-9D4C-908F7374851C}" type="slidenum">
              <a:rPr kumimoji="1" lang="ja-JP" altLang="en-US" smtClean="0"/>
              <a:t>‹#›</a:t>
            </a:fld>
            <a:endParaRPr kumimoji="1" lang="ja-JP" altLang="en-US"/>
          </a:p>
        </p:txBody>
      </p:sp>
    </p:spTree>
    <p:extLst>
      <p:ext uri="{BB962C8B-B14F-4D97-AF65-F5344CB8AC3E}">
        <p14:creationId xmlns:p14="http://schemas.microsoft.com/office/powerpoint/2010/main" val="3954016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7C2316-7376-C46C-A44E-4849F799B817}"/>
              </a:ext>
            </a:extLst>
          </p:cNvPr>
          <p:cNvSpPr>
            <a:spLocks noGrp="1"/>
          </p:cNvSpPr>
          <p:nvPr>
            <p:ph type="ctrTitle"/>
          </p:nvPr>
        </p:nvSpPr>
        <p:spPr>
          <a:xfrm>
            <a:off x="1524000" y="2179434"/>
            <a:ext cx="9144000" cy="1969921"/>
          </a:xfrm>
        </p:spPr>
        <p:txBody>
          <a:bodyPr>
            <a:normAutofit fontScale="90000"/>
          </a:bodyPr>
          <a:lstStyle/>
          <a:p>
            <a:r>
              <a:rPr lang="ja-JP" altLang="en-US" b="1" dirty="0"/>
              <a:t>類似貢献度に基づく文書検索結果の可視化分析法と評価法</a:t>
            </a:r>
            <a:endParaRPr kumimoji="1" lang="ja-JP" altLang="en-US" b="1" dirty="0"/>
          </a:p>
        </p:txBody>
      </p:sp>
      <p:sp>
        <p:nvSpPr>
          <p:cNvPr id="3" name="字幕 2">
            <a:extLst>
              <a:ext uri="{FF2B5EF4-FFF2-40B4-BE49-F238E27FC236}">
                <a16:creationId xmlns:a16="http://schemas.microsoft.com/office/drawing/2014/main" id="{89DDB307-C562-C45B-BD3A-B4B0947383C8}"/>
              </a:ext>
            </a:extLst>
          </p:cNvPr>
          <p:cNvSpPr>
            <a:spLocks noGrp="1"/>
          </p:cNvSpPr>
          <p:nvPr>
            <p:ph type="subTitle" idx="1"/>
          </p:nvPr>
        </p:nvSpPr>
        <p:spPr>
          <a:xfrm>
            <a:off x="1524000" y="4839572"/>
            <a:ext cx="9144000" cy="1348097"/>
          </a:xfrm>
        </p:spPr>
        <p:txBody>
          <a:bodyPr>
            <a:normAutofit/>
          </a:bodyPr>
          <a:lstStyle/>
          <a:p>
            <a:r>
              <a:rPr kumimoji="1" lang="ja-JP" altLang="en-US" b="1" dirty="0"/>
              <a:t>神奈川大学大学院</a:t>
            </a:r>
            <a:endParaRPr kumimoji="1" lang="en-US" altLang="ja-JP" b="1" dirty="0"/>
          </a:p>
          <a:p>
            <a:r>
              <a:rPr kumimoji="1" lang="ja-JP" altLang="en-US" b="1" dirty="0"/>
              <a:t>理学研究科 理学専攻 情報科学領域 </a:t>
            </a:r>
            <a:r>
              <a:rPr lang="en-US" altLang="ja-JP" b="1" dirty="0"/>
              <a:t>2</a:t>
            </a:r>
            <a:r>
              <a:rPr kumimoji="1" lang="ja-JP" altLang="en-US" b="1" dirty="0"/>
              <a:t>年</a:t>
            </a:r>
            <a:endParaRPr kumimoji="1" lang="en-US" altLang="ja-JP" b="1" dirty="0"/>
          </a:p>
          <a:p>
            <a:r>
              <a:rPr lang="ja-JP" altLang="en-US" b="1" dirty="0"/>
              <a:t>尾崎 了祐</a:t>
            </a:r>
            <a:endParaRPr kumimoji="1" lang="ja-JP" altLang="en-US" b="1" dirty="0"/>
          </a:p>
        </p:txBody>
      </p:sp>
    </p:spTree>
    <p:extLst>
      <p:ext uri="{BB962C8B-B14F-4D97-AF65-F5344CB8AC3E}">
        <p14:creationId xmlns:p14="http://schemas.microsoft.com/office/powerpoint/2010/main" val="4096582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7B8FF0C1-03EC-62CF-8144-88B8A614D6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2332BEE-F2F4-0176-D6CD-3445E7FA091F}"/>
              </a:ext>
            </a:extLst>
          </p:cNvPr>
          <p:cNvSpPr>
            <a:spLocks noGrp="1"/>
          </p:cNvSpPr>
          <p:nvPr>
            <p:ph type="title"/>
          </p:nvPr>
        </p:nvSpPr>
        <p:spPr>
          <a:xfrm>
            <a:off x="173166" y="83502"/>
            <a:ext cx="6394497" cy="1325563"/>
          </a:xfrm>
        </p:spPr>
        <p:txBody>
          <a:bodyPr/>
          <a:lstStyle/>
          <a:p>
            <a:r>
              <a:rPr kumimoji="1" lang="ja-JP" altLang="en-US" b="1" dirty="0"/>
              <a:t>はじめに</a:t>
            </a:r>
          </a:p>
        </p:txBody>
      </p:sp>
      <p:sp>
        <p:nvSpPr>
          <p:cNvPr id="3" name="コンテンツ プレースホルダー 2">
            <a:extLst>
              <a:ext uri="{FF2B5EF4-FFF2-40B4-BE49-F238E27FC236}">
                <a16:creationId xmlns:a16="http://schemas.microsoft.com/office/drawing/2014/main" id="{1FF8F379-A930-3E6F-76FC-5A4DE854B4B3}"/>
              </a:ext>
            </a:extLst>
          </p:cNvPr>
          <p:cNvSpPr>
            <a:spLocks noGrp="1"/>
          </p:cNvSpPr>
          <p:nvPr>
            <p:ph idx="1"/>
          </p:nvPr>
        </p:nvSpPr>
        <p:spPr>
          <a:xfrm>
            <a:off x="106706" y="1326911"/>
            <a:ext cx="11781059" cy="4643796"/>
          </a:xfrm>
        </p:spPr>
        <p:txBody>
          <a:bodyPr/>
          <a:lstStyle/>
          <a:p>
            <a:pPr marL="0" indent="0">
              <a:buNone/>
            </a:pPr>
            <a:r>
              <a:rPr lang="ja-JP" altLang="en-US" sz="2800" dirty="0"/>
              <a:t>本研究は</a:t>
            </a:r>
            <a:r>
              <a:rPr lang="en-US" altLang="ja-JP" sz="2800" dirty="0"/>
              <a:t>, </a:t>
            </a:r>
            <a:r>
              <a:rPr lang="ja-JP" altLang="en-US" sz="2800" dirty="0"/>
              <a:t>与えられた文書と</a:t>
            </a:r>
            <a:r>
              <a:rPr lang="ja-JP" altLang="en-US" sz="2800" b="1" dirty="0">
                <a:solidFill>
                  <a:srgbClr val="C00000"/>
                </a:solidFill>
              </a:rPr>
              <a:t>似ている文書を検索</a:t>
            </a:r>
            <a:r>
              <a:rPr lang="ja-JP" altLang="en-US" dirty="0"/>
              <a:t>し</a:t>
            </a:r>
            <a:r>
              <a:rPr lang="en-US" altLang="ja-JP" dirty="0"/>
              <a:t>,</a:t>
            </a:r>
            <a:endParaRPr lang="en-US" altLang="ja-JP" dirty="0">
              <a:solidFill>
                <a:srgbClr val="C00000"/>
              </a:solidFill>
            </a:endParaRPr>
          </a:p>
          <a:p>
            <a:pPr marL="0" indent="0">
              <a:buNone/>
            </a:pPr>
            <a:r>
              <a:rPr kumimoji="1" lang="ja-JP" altLang="en-US" dirty="0"/>
              <a:t>検索結果文書をネットワーク図として</a:t>
            </a:r>
            <a:r>
              <a:rPr kumimoji="1" lang="ja-JP" altLang="en-US" b="1" dirty="0">
                <a:solidFill>
                  <a:srgbClr val="C00000"/>
                </a:solidFill>
              </a:rPr>
              <a:t>可視化</a:t>
            </a:r>
            <a:r>
              <a:rPr kumimoji="1" lang="ja-JP" altLang="en-US" dirty="0"/>
              <a:t>する</a:t>
            </a:r>
            <a:r>
              <a:rPr kumimoji="1" lang="en-US" altLang="ja-JP" dirty="0"/>
              <a:t>.</a:t>
            </a:r>
          </a:p>
        </p:txBody>
      </p:sp>
      <p:sp>
        <p:nvSpPr>
          <p:cNvPr id="4" name="楕円 3">
            <a:extLst>
              <a:ext uri="{FF2B5EF4-FFF2-40B4-BE49-F238E27FC236}">
                <a16:creationId xmlns:a16="http://schemas.microsoft.com/office/drawing/2014/main" id="{DAF40710-3E0B-6BBA-6255-7161F359B2C1}"/>
              </a:ext>
            </a:extLst>
          </p:cNvPr>
          <p:cNvSpPr/>
          <p:nvPr/>
        </p:nvSpPr>
        <p:spPr>
          <a:xfrm>
            <a:off x="435854" y="5531089"/>
            <a:ext cx="2845042" cy="10106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文書を一つ</a:t>
            </a:r>
            <a:endParaRPr kumimoji="1" lang="en-US" altLang="ja-JP" b="1" dirty="0"/>
          </a:p>
          <a:p>
            <a:pPr algn="ctr"/>
            <a:r>
              <a:rPr kumimoji="1" lang="ja-JP" altLang="en-US" b="1" dirty="0"/>
              <a:t>指定して検索</a:t>
            </a:r>
          </a:p>
        </p:txBody>
      </p:sp>
      <p:sp>
        <p:nvSpPr>
          <p:cNvPr id="8" name="矢印: 下 7">
            <a:extLst>
              <a:ext uri="{FF2B5EF4-FFF2-40B4-BE49-F238E27FC236}">
                <a16:creationId xmlns:a16="http://schemas.microsoft.com/office/drawing/2014/main" id="{58A8A8A2-3BBB-541B-4737-D22B56941ADD}"/>
              </a:ext>
            </a:extLst>
          </p:cNvPr>
          <p:cNvSpPr/>
          <p:nvPr/>
        </p:nvSpPr>
        <p:spPr>
          <a:xfrm rot="16200000">
            <a:off x="3811919" y="3104989"/>
            <a:ext cx="482694" cy="1900863"/>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17" name="図 16">
            <a:extLst>
              <a:ext uri="{FF2B5EF4-FFF2-40B4-BE49-F238E27FC236}">
                <a16:creationId xmlns:a16="http://schemas.microsoft.com/office/drawing/2014/main" id="{409F6B19-64E4-0192-C5E8-722B3A28BE31}"/>
              </a:ext>
            </a:extLst>
          </p:cNvPr>
          <p:cNvPicPr>
            <a:picLocks noChangeAspect="1"/>
          </p:cNvPicPr>
          <p:nvPr/>
        </p:nvPicPr>
        <p:blipFill>
          <a:blip r:embed="rId4"/>
          <a:stretch>
            <a:fillRect/>
          </a:stretch>
        </p:blipFill>
        <p:spPr>
          <a:xfrm>
            <a:off x="5584027" y="2375271"/>
            <a:ext cx="6152286" cy="3080890"/>
          </a:xfrm>
          <a:prstGeom prst="rect">
            <a:avLst/>
          </a:prstGeom>
        </p:spPr>
      </p:pic>
      <p:sp>
        <p:nvSpPr>
          <p:cNvPr id="5" name="楕円 4">
            <a:extLst>
              <a:ext uri="{FF2B5EF4-FFF2-40B4-BE49-F238E27FC236}">
                <a16:creationId xmlns:a16="http://schemas.microsoft.com/office/drawing/2014/main" id="{1D1670BC-255F-71F3-423E-65B6EF54E936}"/>
              </a:ext>
            </a:extLst>
          </p:cNvPr>
          <p:cNvSpPr/>
          <p:nvPr/>
        </p:nvSpPr>
        <p:spPr>
          <a:xfrm>
            <a:off x="5415999" y="5747868"/>
            <a:ext cx="6613032" cy="756653"/>
          </a:xfrm>
          <a:prstGeom prst="ellips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1800" b="1" dirty="0">
                <a:solidFill>
                  <a:schemeClr val="bg1"/>
                </a:solidFill>
              </a:rPr>
              <a:t>似ている文書を</a:t>
            </a:r>
            <a:r>
              <a:rPr lang="ja-JP" altLang="en-US" sz="1800" b="1" dirty="0">
                <a:solidFill>
                  <a:schemeClr val="bg1"/>
                </a:solidFill>
              </a:rPr>
              <a:t>ネットワーク図で可視化</a:t>
            </a:r>
            <a:r>
              <a:rPr lang="en-US" altLang="ja-JP" sz="1800" b="1" dirty="0">
                <a:solidFill>
                  <a:schemeClr val="bg1"/>
                </a:solidFill>
              </a:rPr>
              <a:t>.</a:t>
            </a:r>
            <a:endParaRPr kumimoji="1" lang="en-US" altLang="ja-JP" sz="1800" b="1" dirty="0">
              <a:solidFill>
                <a:schemeClr val="bg1"/>
              </a:solidFill>
            </a:endParaRPr>
          </a:p>
        </p:txBody>
      </p:sp>
      <p:pic>
        <p:nvPicPr>
          <p:cNvPr id="6" name="図 5">
            <a:extLst>
              <a:ext uri="{FF2B5EF4-FFF2-40B4-BE49-F238E27FC236}">
                <a16:creationId xmlns:a16="http://schemas.microsoft.com/office/drawing/2014/main" id="{7919B447-EE70-959B-58EF-EF7696F59F67}"/>
              </a:ext>
            </a:extLst>
          </p:cNvPr>
          <p:cNvPicPr>
            <a:picLocks noChangeAspect="1"/>
          </p:cNvPicPr>
          <p:nvPr/>
        </p:nvPicPr>
        <p:blipFill>
          <a:blip r:embed="rId5"/>
          <a:stretch>
            <a:fillRect/>
          </a:stretch>
        </p:blipFill>
        <p:spPr>
          <a:xfrm>
            <a:off x="1182838" y="3210807"/>
            <a:ext cx="1339667" cy="1749247"/>
          </a:xfrm>
          <a:prstGeom prst="rect">
            <a:avLst/>
          </a:prstGeom>
        </p:spPr>
      </p:pic>
    </p:spTree>
    <p:extLst>
      <p:ext uri="{BB962C8B-B14F-4D97-AF65-F5344CB8AC3E}">
        <p14:creationId xmlns:p14="http://schemas.microsoft.com/office/powerpoint/2010/main" val="2193313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481228-6B4D-5B2A-6DBB-83BC582197D5}"/>
              </a:ext>
            </a:extLst>
          </p:cNvPr>
          <p:cNvSpPr>
            <a:spLocks noGrp="1"/>
          </p:cNvSpPr>
          <p:nvPr>
            <p:ph type="title"/>
          </p:nvPr>
        </p:nvSpPr>
        <p:spPr/>
        <p:txBody>
          <a:bodyPr/>
          <a:lstStyle/>
          <a:p>
            <a:r>
              <a:rPr kumimoji="1" lang="ja-JP" altLang="en-US" b="1" dirty="0"/>
              <a:t>類似文書検索</a:t>
            </a:r>
          </a:p>
        </p:txBody>
      </p:sp>
      <p:sp>
        <p:nvSpPr>
          <p:cNvPr id="3" name="コンテンツ プレースホルダー 2">
            <a:extLst>
              <a:ext uri="{FF2B5EF4-FFF2-40B4-BE49-F238E27FC236}">
                <a16:creationId xmlns:a16="http://schemas.microsoft.com/office/drawing/2014/main" id="{1E9EE98E-D476-D0E6-8AF5-D928EC2B2428}"/>
              </a:ext>
            </a:extLst>
          </p:cNvPr>
          <p:cNvSpPr>
            <a:spLocks noGrp="1"/>
          </p:cNvSpPr>
          <p:nvPr>
            <p:ph idx="1"/>
          </p:nvPr>
        </p:nvSpPr>
        <p:spPr>
          <a:xfrm>
            <a:off x="838200" y="1690688"/>
            <a:ext cx="10515600" cy="4870656"/>
          </a:xfrm>
        </p:spPr>
        <p:txBody>
          <a:bodyPr>
            <a:normAutofit/>
          </a:bodyPr>
          <a:lstStyle/>
          <a:p>
            <a:pPr marL="0" indent="0">
              <a:buNone/>
            </a:pPr>
            <a:r>
              <a:rPr kumimoji="1" lang="ja-JP" altLang="en-US" b="1" dirty="0"/>
              <a:t>用意した文書</a:t>
            </a:r>
            <a:r>
              <a:rPr kumimoji="1" lang="en-US" altLang="ja-JP" b="1" dirty="0"/>
              <a:t>(</a:t>
            </a:r>
            <a:r>
              <a:rPr kumimoji="1" lang="ja-JP" altLang="en-US" b="1" dirty="0">
                <a:solidFill>
                  <a:srgbClr val="C00000"/>
                </a:solidFill>
              </a:rPr>
              <a:t>クエリ文書</a:t>
            </a:r>
            <a:r>
              <a:rPr kumimoji="1" lang="en-US" altLang="ja-JP" b="1" dirty="0"/>
              <a:t>)</a:t>
            </a:r>
            <a:r>
              <a:rPr kumimoji="1" lang="ja-JP" altLang="en-US" b="1" dirty="0"/>
              <a:t>と似ている文書を見つけること</a:t>
            </a:r>
            <a:endParaRPr kumimoji="1" lang="en-US" altLang="ja-JP" b="1" dirty="0"/>
          </a:p>
          <a:p>
            <a:pPr marL="0" indent="0">
              <a:buNone/>
            </a:pPr>
            <a:endParaRPr lang="en-US" altLang="ja-JP" b="1" dirty="0"/>
          </a:p>
          <a:p>
            <a:pPr marL="0" indent="0">
              <a:buNone/>
            </a:pPr>
            <a:endParaRPr kumimoji="1" lang="en-US" altLang="ja-JP" b="1" dirty="0"/>
          </a:p>
          <a:p>
            <a:pPr marL="0" indent="0">
              <a:buNone/>
            </a:pPr>
            <a:r>
              <a:rPr lang="en-US" altLang="ja-JP" b="1" dirty="0"/>
              <a:t>                                 1. </a:t>
            </a:r>
            <a:r>
              <a:rPr lang="ja-JP" altLang="en-US" b="1" dirty="0"/>
              <a:t>クエリ文書を渡す</a:t>
            </a:r>
            <a:endParaRPr lang="en-US" altLang="ja-JP" b="1" dirty="0"/>
          </a:p>
          <a:p>
            <a:pPr marL="0" indent="0">
              <a:buNone/>
            </a:pPr>
            <a:endParaRPr lang="en-US" altLang="ja-JP" b="1" dirty="0"/>
          </a:p>
          <a:p>
            <a:pPr marL="0" indent="0">
              <a:buNone/>
            </a:pPr>
            <a:endParaRPr lang="en-US" altLang="ja-JP" b="1" dirty="0"/>
          </a:p>
          <a:p>
            <a:pPr marL="0" indent="0">
              <a:buNone/>
            </a:pPr>
            <a:endParaRPr lang="en-US" altLang="ja-JP" b="1" dirty="0"/>
          </a:p>
          <a:p>
            <a:pPr marL="0" indent="0">
              <a:buNone/>
            </a:pPr>
            <a:r>
              <a:rPr lang="en-US" altLang="ja-JP" b="1" dirty="0"/>
              <a:t>                              </a:t>
            </a:r>
          </a:p>
          <a:p>
            <a:pPr marL="0" indent="0">
              <a:buNone/>
            </a:pPr>
            <a:r>
              <a:rPr lang="en-US" altLang="ja-JP" b="1" dirty="0"/>
              <a:t>                            2. </a:t>
            </a:r>
            <a:r>
              <a:rPr lang="ja-JP" altLang="en-US" b="1" dirty="0"/>
              <a:t>似ている文書を</a:t>
            </a:r>
            <a:r>
              <a:rPr lang="en-US" altLang="ja-JP" b="1" dirty="0"/>
              <a:t>100</a:t>
            </a:r>
            <a:r>
              <a:rPr lang="ja-JP" altLang="en-US" b="1" dirty="0"/>
              <a:t>件出力</a:t>
            </a:r>
            <a:endParaRPr lang="en-US" altLang="ja-JP" b="1" dirty="0"/>
          </a:p>
        </p:txBody>
      </p:sp>
      <p:sp>
        <p:nvSpPr>
          <p:cNvPr id="4" name="フローチャート: 結合子 3">
            <a:extLst>
              <a:ext uri="{FF2B5EF4-FFF2-40B4-BE49-F238E27FC236}">
                <a16:creationId xmlns:a16="http://schemas.microsoft.com/office/drawing/2014/main" id="{D1913EF6-7153-58BF-07C2-A8283A2ED035}"/>
              </a:ext>
            </a:extLst>
          </p:cNvPr>
          <p:cNvSpPr/>
          <p:nvPr/>
        </p:nvSpPr>
        <p:spPr>
          <a:xfrm>
            <a:off x="8272282" y="3266711"/>
            <a:ext cx="2564445" cy="237881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文書集合</a:t>
            </a:r>
          </a:p>
        </p:txBody>
      </p:sp>
      <p:sp>
        <p:nvSpPr>
          <p:cNvPr id="5" name="フローチャート: 結合子 4">
            <a:extLst>
              <a:ext uri="{FF2B5EF4-FFF2-40B4-BE49-F238E27FC236}">
                <a16:creationId xmlns:a16="http://schemas.microsoft.com/office/drawing/2014/main" id="{DBF8760E-1112-4F1C-BB19-863EB50715C9}"/>
              </a:ext>
            </a:extLst>
          </p:cNvPr>
          <p:cNvSpPr/>
          <p:nvPr/>
        </p:nvSpPr>
        <p:spPr>
          <a:xfrm>
            <a:off x="348972" y="3219582"/>
            <a:ext cx="3562503" cy="247307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ゆるキャラ</a:t>
            </a:r>
            <a:endParaRPr kumimoji="1" lang="en-US" altLang="ja-JP" b="1" dirty="0"/>
          </a:p>
          <a:p>
            <a:pPr algn="ctr"/>
            <a:r>
              <a:rPr kumimoji="1" lang="ja-JP" altLang="en-US" b="1" dirty="0"/>
              <a:t>「カクカクシカジカ」</a:t>
            </a:r>
            <a:endParaRPr kumimoji="1" lang="en-US" altLang="ja-JP" b="1" dirty="0"/>
          </a:p>
          <a:p>
            <a:pPr algn="ctr"/>
            <a:r>
              <a:rPr kumimoji="1" lang="ja-JP" altLang="en-US" b="1" dirty="0"/>
              <a:t>を用いたダイハツ自動車の</a:t>
            </a:r>
            <a:r>
              <a:rPr kumimoji="1" lang="en-US" altLang="ja-JP" b="1" dirty="0"/>
              <a:t>CM</a:t>
            </a:r>
            <a:r>
              <a:rPr kumimoji="1" lang="ja-JP" altLang="en-US" b="1" dirty="0"/>
              <a:t>に関する文書</a:t>
            </a:r>
          </a:p>
        </p:txBody>
      </p:sp>
      <p:sp>
        <p:nvSpPr>
          <p:cNvPr id="6" name="矢印: 下 5">
            <a:extLst>
              <a:ext uri="{FF2B5EF4-FFF2-40B4-BE49-F238E27FC236}">
                <a16:creationId xmlns:a16="http://schemas.microsoft.com/office/drawing/2014/main" id="{9014B778-111B-FC80-BA54-CBD5282A57B4}"/>
              </a:ext>
            </a:extLst>
          </p:cNvPr>
          <p:cNvSpPr/>
          <p:nvPr/>
        </p:nvSpPr>
        <p:spPr>
          <a:xfrm rot="16200000">
            <a:off x="5762553" y="2094492"/>
            <a:ext cx="666893" cy="405636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矢印: 下 6">
            <a:extLst>
              <a:ext uri="{FF2B5EF4-FFF2-40B4-BE49-F238E27FC236}">
                <a16:creationId xmlns:a16="http://schemas.microsoft.com/office/drawing/2014/main" id="{605F1F5B-BC75-C01C-A2DF-09EC85B67852}"/>
              </a:ext>
            </a:extLst>
          </p:cNvPr>
          <p:cNvSpPr/>
          <p:nvPr/>
        </p:nvSpPr>
        <p:spPr>
          <a:xfrm rot="5400000">
            <a:off x="5707691" y="2896321"/>
            <a:ext cx="666893" cy="405636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吹き出し: 円形 7">
            <a:extLst>
              <a:ext uri="{FF2B5EF4-FFF2-40B4-BE49-F238E27FC236}">
                <a16:creationId xmlns:a16="http://schemas.microsoft.com/office/drawing/2014/main" id="{21E97943-E40B-A2B3-52FF-57CBD66995F0}"/>
              </a:ext>
            </a:extLst>
          </p:cNvPr>
          <p:cNvSpPr/>
          <p:nvPr/>
        </p:nvSpPr>
        <p:spPr>
          <a:xfrm>
            <a:off x="9157959" y="2108019"/>
            <a:ext cx="2868843" cy="1010652"/>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t>Livedoor</a:t>
            </a:r>
          </a:p>
          <a:p>
            <a:pPr algn="ctr"/>
            <a:r>
              <a:rPr kumimoji="1" lang="ja-JP" altLang="en-US" dirty="0"/>
              <a:t>ニュースコーパス</a:t>
            </a:r>
            <a:endParaRPr kumimoji="1" lang="en-US" altLang="ja-JP" dirty="0"/>
          </a:p>
          <a:p>
            <a:pPr algn="ctr"/>
            <a:r>
              <a:rPr lang="en-US" altLang="ja-JP" dirty="0"/>
              <a:t>7</a:t>
            </a:r>
            <a:r>
              <a:rPr kumimoji="1" lang="en-US" altLang="ja-JP" dirty="0"/>
              <a:t>,367</a:t>
            </a:r>
            <a:r>
              <a:rPr kumimoji="1" lang="ja-JP" altLang="en-US" dirty="0"/>
              <a:t>件</a:t>
            </a:r>
          </a:p>
        </p:txBody>
      </p:sp>
      <p:sp>
        <p:nvSpPr>
          <p:cNvPr id="9" name="吹き出し: 角を丸めた四角形 8">
            <a:extLst>
              <a:ext uri="{FF2B5EF4-FFF2-40B4-BE49-F238E27FC236}">
                <a16:creationId xmlns:a16="http://schemas.microsoft.com/office/drawing/2014/main" id="{B628B522-A94A-AD2A-387D-5DB8EB3D265D}"/>
              </a:ext>
            </a:extLst>
          </p:cNvPr>
          <p:cNvSpPr/>
          <p:nvPr/>
        </p:nvSpPr>
        <p:spPr>
          <a:xfrm>
            <a:off x="348972" y="2421532"/>
            <a:ext cx="1409409" cy="730582"/>
          </a:xfrm>
          <a:prstGeom prst="wedgeRoundRect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dirty="0"/>
              <a:t>クエリ文書</a:t>
            </a:r>
          </a:p>
        </p:txBody>
      </p:sp>
    </p:spTree>
    <p:extLst>
      <p:ext uri="{BB962C8B-B14F-4D97-AF65-F5344CB8AC3E}">
        <p14:creationId xmlns:p14="http://schemas.microsoft.com/office/powerpoint/2010/main" val="3075547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テキスト ボックス 6">
            <a:extLst>
              <a:ext uri="{FF2B5EF4-FFF2-40B4-BE49-F238E27FC236}">
                <a16:creationId xmlns:a16="http://schemas.microsoft.com/office/drawing/2014/main" id="{7EB9F67D-3120-C1AC-F110-54B02E6E7E60}"/>
              </a:ext>
            </a:extLst>
          </p:cNvPr>
          <p:cNvSpPr txBox="1"/>
          <p:nvPr/>
        </p:nvSpPr>
        <p:spPr>
          <a:xfrm>
            <a:off x="1253624" y="174031"/>
            <a:ext cx="9949044" cy="1111843"/>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ja-JP" altLang="en-US" sz="4000" b="1" dirty="0">
                <a:latin typeface="+mj-lt"/>
                <a:ea typeface="+mj-ea"/>
                <a:cs typeface="+mj-cs"/>
              </a:rPr>
              <a:t>従来法の欠点            全体像が把握できない</a:t>
            </a:r>
            <a:endParaRPr lang="en-US" altLang="ja-JP" sz="4000" kern="1200" dirty="0">
              <a:solidFill>
                <a:schemeClr val="tx1"/>
              </a:solidFill>
              <a:latin typeface="+mj-lt"/>
              <a:ea typeface="+mj-ea"/>
              <a:cs typeface="+mj-cs"/>
            </a:endParaRPr>
          </a:p>
        </p:txBody>
      </p:sp>
      <p:sp>
        <p:nvSpPr>
          <p:cNvPr id="9" name="テキスト ボックス 8">
            <a:extLst>
              <a:ext uri="{FF2B5EF4-FFF2-40B4-BE49-F238E27FC236}">
                <a16:creationId xmlns:a16="http://schemas.microsoft.com/office/drawing/2014/main" id="{A041813C-96B7-147A-F895-332FA054FAA1}"/>
              </a:ext>
            </a:extLst>
          </p:cNvPr>
          <p:cNvSpPr txBox="1"/>
          <p:nvPr/>
        </p:nvSpPr>
        <p:spPr>
          <a:xfrm>
            <a:off x="1107152" y="6323210"/>
            <a:ext cx="10241987" cy="461665"/>
          </a:xfrm>
          <a:prstGeom prst="rect">
            <a:avLst/>
          </a:prstGeom>
          <a:noFill/>
        </p:spPr>
        <p:txBody>
          <a:bodyPr wrap="square">
            <a:spAutoFit/>
          </a:bodyPr>
          <a:lstStyle/>
          <a:p>
            <a:r>
              <a:rPr kumimoji="1" lang="ja-JP" altLang="en-US" sz="2400" dirty="0"/>
              <a:t>どんな文書が多いのか、似ている文書はどれなのか、全く分からない</a:t>
            </a:r>
            <a:endParaRPr lang="ja-JP" altLang="en-US" sz="2400" b="1" dirty="0">
              <a:solidFill>
                <a:srgbClr val="C00000"/>
              </a:solidFill>
            </a:endParaRPr>
          </a:p>
        </p:txBody>
      </p:sp>
      <p:sp>
        <p:nvSpPr>
          <p:cNvPr id="2" name="矢印: 右 1">
            <a:extLst>
              <a:ext uri="{FF2B5EF4-FFF2-40B4-BE49-F238E27FC236}">
                <a16:creationId xmlns:a16="http://schemas.microsoft.com/office/drawing/2014/main" id="{89BC0A8B-7EAC-A737-468C-9A8BBB165E69}"/>
              </a:ext>
            </a:extLst>
          </p:cNvPr>
          <p:cNvSpPr/>
          <p:nvPr/>
        </p:nvSpPr>
        <p:spPr>
          <a:xfrm>
            <a:off x="4545930" y="520174"/>
            <a:ext cx="1403010" cy="401457"/>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a:extLst>
              <a:ext uri="{FF2B5EF4-FFF2-40B4-BE49-F238E27FC236}">
                <a16:creationId xmlns:a16="http://schemas.microsoft.com/office/drawing/2014/main" id="{DADD4430-3A7A-79E3-632E-AFEC66EBD52E}"/>
              </a:ext>
            </a:extLst>
          </p:cNvPr>
          <p:cNvPicPr>
            <a:picLocks noChangeAspect="1"/>
          </p:cNvPicPr>
          <p:nvPr/>
        </p:nvPicPr>
        <p:blipFill>
          <a:blip r:embed="rId4"/>
          <a:stretch>
            <a:fillRect/>
          </a:stretch>
        </p:blipFill>
        <p:spPr>
          <a:xfrm>
            <a:off x="1253624" y="1267774"/>
            <a:ext cx="9949044" cy="4940126"/>
          </a:xfrm>
          <a:prstGeom prst="rect">
            <a:avLst/>
          </a:prstGeom>
        </p:spPr>
      </p:pic>
    </p:spTree>
    <p:extLst>
      <p:ext uri="{BB962C8B-B14F-4D97-AF65-F5344CB8AC3E}">
        <p14:creationId xmlns:p14="http://schemas.microsoft.com/office/powerpoint/2010/main" val="2944483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7C2316-7376-C46C-A44E-4849F799B817}"/>
              </a:ext>
            </a:extLst>
          </p:cNvPr>
          <p:cNvSpPr>
            <a:spLocks noGrp="1"/>
          </p:cNvSpPr>
          <p:nvPr>
            <p:ph type="ctrTitle"/>
          </p:nvPr>
        </p:nvSpPr>
        <p:spPr>
          <a:xfrm>
            <a:off x="1524000" y="2887489"/>
            <a:ext cx="9144000" cy="1083022"/>
          </a:xfrm>
        </p:spPr>
        <p:txBody>
          <a:bodyPr>
            <a:normAutofit fontScale="90000"/>
          </a:bodyPr>
          <a:lstStyle/>
          <a:p>
            <a:r>
              <a:rPr kumimoji="1" lang="ja-JP" altLang="en-US" b="1" dirty="0"/>
              <a:t>可視化ブラウジングツール</a:t>
            </a:r>
          </a:p>
        </p:txBody>
      </p:sp>
    </p:spTree>
    <p:extLst>
      <p:ext uri="{BB962C8B-B14F-4D97-AF65-F5344CB8AC3E}">
        <p14:creationId xmlns:p14="http://schemas.microsoft.com/office/powerpoint/2010/main" val="520527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FB175C-28A5-ACCB-137D-50C81321E2A8}"/>
              </a:ext>
            </a:extLst>
          </p:cNvPr>
          <p:cNvSpPr>
            <a:spLocks noGrp="1"/>
          </p:cNvSpPr>
          <p:nvPr>
            <p:ph type="title"/>
          </p:nvPr>
        </p:nvSpPr>
        <p:spPr/>
        <p:txBody>
          <a:bodyPr/>
          <a:lstStyle/>
          <a:p>
            <a:r>
              <a:rPr kumimoji="1" lang="ja-JP" altLang="en-US" b="1" dirty="0"/>
              <a:t>可視化ブラウジングツールの特徴</a:t>
            </a:r>
          </a:p>
        </p:txBody>
      </p:sp>
      <p:sp>
        <p:nvSpPr>
          <p:cNvPr id="3" name="コンテンツ プレースホルダー 2">
            <a:extLst>
              <a:ext uri="{FF2B5EF4-FFF2-40B4-BE49-F238E27FC236}">
                <a16:creationId xmlns:a16="http://schemas.microsoft.com/office/drawing/2014/main" id="{83BDDAAA-200A-30B2-824D-89FCE37F3D95}"/>
              </a:ext>
            </a:extLst>
          </p:cNvPr>
          <p:cNvSpPr>
            <a:spLocks noGrp="1"/>
          </p:cNvSpPr>
          <p:nvPr>
            <p:ph idx="1"/>
          </p:nvPr>
        </p:nvSpPr>
        <p:spPr>
          <a:xfrm>
            <a:off x="838200" y="1825625"/>
            <a:ext cx="10515600" cy="4960938"/>
          </a:xfrm>
        </p:spPr>
        <p:txBody>
          <a:bodyPr>
            <a:normAutofit/>
          </a:bodyPr>
          <a:lstStyle/>
          <a:p>
            <a:pPr marL="0" indent="0">
              <a:buNone/>
            </a:pPr>
            <a:r>
              <a:rPr kumimoji="1" lang="ja-JP" altLang="en-US" dirty="0"/>
              <a:t>検索結果文書に</a:t>
            </a:r>
            <a:r>
              <a:rPr kumimoji="1" lang="ja-JP" altLang="en-US" b="1" dirty="0">
                <a:solidFill>
                  <a:schemeClr val="accent2"/>
                </a:solidFill>
              </a:rPr>
              <a:t>クルマ</a:t>
            </a:r>
            <a:r>
              <a:rPr kumimoji="1" lang="ja-JP" altLang="en-US" dirty="0"/>
              <a:t>や</a:t>
            </a:r>
            <a:r>
              <a:rPr kumimoji="1" lang="en-US" altLang="ja-JP" b="1" dirty="0">
                <a:solidFill>
                  <a:srgbClr val="FFFF00"/>
                </a:solidFill>
              </a:rPr>
              <a:t>CM</a:t>
            </a:r>
            <a:r>
              <a:rPr kumimoji="1" lang="ja-JP" altLang="en-US" dirty="0"/>
              <a:t>などの</a:t>
            </a:r>
            <a:r>
              <a:rPr kumimoji="1" lang="ja-JP" altLang="en-US" b="1" dirty="0"/>
              <a:t>説明語を付与</a:t>
            </a:r>
            <a:r>
              <a:rPr lang="ja-JP" altLang="en-US" dirty="0"/>
              <a:t>し、</a:t>
            </a:r>
            <a:endParaRPr kumimoji="1" lang="en-US" altLang="ja-JP" dirty="0"/>
          </a:p>
          <a:p>
            <a:pPr marL="0" indent="0">
              <a:buNone/>
            </a:pPr>
            <a:r>
              <a:rPr kumimoji="1" lang="ja-JP" altLang="en-US" dirty="0"/>
              <a:t>どういう観点でクエリ文書</a:t>
            </a:r>
            <a:r>
              <a:rPr lang="ja-JP" altLang="en-US" dirty="0"/>
              <a:t>と類似し</a:t>
            </a:r>
            <a:r>
              <a:rPr kumimoji="1" lang="ja-JP" altLang="en-US" dirty="0"/>
              <a:t>ているかを、</a:t>
            </a:r>
            <a:endParaRPr kumimoji="1" lang="en-US" altLang="ja-JP" dirty="0"/>
          </a:p>
          <a:p>
            <a:pPr marL="0" indent="0">
              <a:buNone/>
            </a:pPr>
            <a:r>
              <a:rPr kumimoji="1" lang="ja-JP" altLang="en-US" dirty="0"/>
              <a:t>文書分類と</a:t>
            </a:r>
            <a:r>
              <a:rPr kumimoji="1" lang="ja-JP" altLang="en-US" b="1" dirty="0"/>
              <a:t>配色</a:t>
            </a:r>
            <a:r>
              <a:rPr kumimoji="1" lang="ja-JP" altLang="en-US" dirty="0"/>
              <a:t>を施して表示</a:t>
            </a:r>
            <a:r>
              <a:rPr kumimoji="1" lang="en-US" altLang="ja-JP" dirty="0"/>
              <a:t>.</a:t>
            </a:r>
            <a:endParaRPr kumimoji="1" lang="ja-JP" altLang="en-US" dirty="0"/>
          </a:p>
          <a:p>
            <a:pPr marL="0" indent="0">
              <a:buNone/>
            </a:pPr>
            <a:endParaRPr kumimoji="1" lang="en-US" altLang="ja-JP" dirty="0"/>
          </a:p>
          <a:p>
            <a:pPr marL="0" indent="0">
              <a:buNone/>
            </a:pPr>
            <a:r>
              <a:rPr lang="en-US" altLang="ja-JP" dirty="0"/>
              <a:t>.</a:t>
            </a:r>
            <a:r>
              <a:rPr lang="ja-JP" altLang="en-US" dirty="0"/>
              <a:t> </a:t>
            </a:r>
            <a:r>
              <a:rPr lang="en-US" altLang="ja-JP" dirty="0"/>
              <a:t>.</a:t>
            </a:r>
            <a:r>
              <a:rPr lang="ja-JP" altLang="en-US" dirty="0"/>
              <a:t> </a:t>
            </a:r>
            <a:r>
              <a:rPr lang="en-US" altLang="ja-JP" dirty="0"/>
              <a:t>.</a:t>
            </a:r>
            <a:r>
              <a:rPr lang="ja-JP" altLang="en-US" dirty="0"/>
              <a:t> </a:t>
            </a:r>
            <a:r>
              <a:rPr lang="ja-JP" altLang="en-US" b="0" i="0" dirty="0">
                <a:effectLst/>
                <a:latin typeface="Lato" panose="020F0502020204030203" pitchFamily="34" charset="0"/>
              </a:rPr>
              <a:t>ダイハツ自動車「ムーヴコンテ」の</a:t>
            </a:r>
            <a:r>
              <a:rPr lang="en-US" altLang="ja-JP" b="1" i="0" dirty="0">
                <a:solidFill>
                  <a:srgbClr val="FFFF00"/>
                </a:solidFill>
                <a:effectLst/>
                <a:latin typeface="Lato" panose="020F0502020204030203" pitchFamily="34" charset="0"/>
              </a:rPr>
              <a:t>CM</a:t>
            </a:r>
            <a:r>
              <a:rPr lang="ja-JP" altLang="en-US" b="0" i="0" dirty="0">
                <a:effectLst/>
                <a:latin typeface="Lato" panose="020F0502020204030203" pitchFamily="34" charset="0"/>
              </a:rPr>
              <a:t>に登場している「カクカクシカジカ」だろう。コミカルな声にあわせ「カクカクシカジカ」と軽妙な動きを見せるシカ</a:t>
            </a:r>
            <a:r>
              <a:rPr lang="en-US" altLang="ja-JP" b="0" i="0" dirty="0">
                <a:effectLst/>
                <a:latin typeface="Lato" panose="020F0502020204030203" pitchFamily="34" charset="0"/>
              </a:rPr>
              <a:t>——</a:t>
            </a:r>
            <a:r>
              <a:rPr lang="ja-JP" altLang="en-US" b="0" i="0" dirty="0">
                <a:effectLst/>
                <a:latin typeface="Lato" panose="020F0502020204030203" pitchFamily="34" charset="0"/>
              </a:rPr>
              <a:t>、といえば、一度は目にしたこともあるはず。初登場は、新車ムーヴコンテが発表された</a:t>
            </a:r>
            <a:r>
              <a:rPr lang="en-US" altLang="ja-JP" b="0" i="0" dirty="0">
                <a:effectLst/>
                <a:latin typeface="Lato" panose="020F0502020204030203" pitchFamily="34" charset="0"/>
              </a:rPr>
              <a:t>08</a:t>
            </a:r>
            <a:r>
              <a:rPr lang="ja-JP" altLang="en-US" b="0" i="0" dirty="0">
                <a:effectLst/>
                <a:latin typeface="Lato" panose="020F0502020204030203" pitchFamily="34" charset="0"/>
              </a:rPr>
              <a:t>年</a:t>
            </a:r>
            <a:r>
              <a:rPr lang="en-US" altLang="ja-JP" b="0" i="0" dirty="0">
                <a:effectLst/>
                <a:latin typeface="Lato" panose="020F0502020204030203" pitchFamily="34" charset="0"/>
              </a:rPr>
              <a:t>8</a:t>
            </a:r>
            <a:r>
              <a:rPr lang="ja-JP" altLang="en-US" b="0" i="0" dirty="0">
                <a:effectLst/>
                <a:latin typeface="Lato" panose="020F0502020204030203" pitchFamily="34" charset="0"/>
              </a:rPr>
              <a:t>月の</a:t>
            </a:r>
            <a:r>
              <a:rPr lang="en-US" altLang="ja-JP" b="1" i="0" dirty="0">
                <a:solidFill>
                  <a:srgbClr val="FFFF00"/>
                </a:solidFill>
                <a:effectLst/>
                <a:latin typeface="Lato" panose="020F0502020204030203" pitchFamily="34" charset="0"/>
              </a:rPr>
              <a:t>CM</a:t>
            </a:r>
            <a:r>
              <a:rPr lang="ja-JP" altLang="en-US" b="0" i="0" dirty="0">
                <a:effectLst/>
                <a:latin typeface="Lato" panose="020F0502020204030203" pitchFamily="34" charset="0"/>
              </a:rPr>
              <a:t>で、「このカクカクした</a:t>
            </a:r>
            <a:r>
              <a:rPr lang="ja-JP" altLang="en-US" b="1" i="0" dirty="0">
                <a:solidFill>
                  <a:schemeClr val="accent2"/>
                </a:solidFill>
                <a:effectLst/>
                <a:latin typeface="Lato" panose="020F0502020204030203" pitchFamily="34" charset="0"/>
              </a:rPr>
              <a:t>クルマ</a:t>
            </a:r>
            <a:r>
              <a:rPr lang="ja-JP" altLang="en-US" b="0" i="0" dirty="0">
                <a:effectLst/>
                <a:latin typeface="Lato" panose="020F0502020204030203" pitchFamily="34" charset="0"/>
              </a:rPr>
              <a:t>、いいところがシカジカ。ゆえにカクカクシカジカ」と、</a:t>
            </a:r>
            <a:r>
              <a:rPr lang="ja-JP" altLang="en-US" b="1" i="0" dirty="0">
                <a:solidFill>
                  <a:schemeClr val="accent2"/>
                </a:solidFill>
                <a:effectLst/>
                <a:latin typeface="Lato" panose="020F0502020204030203" pitchFamily="34" charset="0"/>
              </a:rPr>
              <a:t>クルマ</a:t>
            </a:r>
            <a:r>
              <a:rPr lang="ja-JP" altLang="en-US" b="0" i="0" dirty="0">
                <a:effectLst/>
                <a:latin typeface="Lato" panose="020F0502020204030203" pitchFamily="34" charset="0"/>
              </a:rPr>
              <a:t>の説明なのか、自己紹介なのかすらも不明なセリフで登場。</a:t>
            </a:r>
            <a:r>
              <a:rPr lang="en-US" altLang="ja-JP" b="0" i="0" dirty="0">
                <a:effectLst/>
                <a:latin typeface="Lato" panose="020F0502020204030203" pitchFamily="34" charset="0"/>
              </a:rPr>
              <a:t>. . .</a:t>
            </a:r>
          </a:p>
        </p:txBody>
      </p:sp>
      <p:cxnSp>
        <p:nvCxnSpPr>
          <p:cNvPr id="5" name="直線コネクタ 4">
            <a:extLst>
              <a:ext uri="{FF2B5EF4-FFF2-40B4-BE49-F238E27FC236}">
                <a16:creationId xmlns:a16="http://schemas.microsoft.com/office/drawing/2014/main" id="{646535DF-6F83-635E-E60B-84625890F31C}"/>
              </a:ext>
            </a:extLst>
          </p:cNvPr>
          <p:cNvCxnSpPr/>
          <p:nvPr/>
        </p:nvCxnSpPr>
        <p:spPr>
          <a:xfrm>
            <a:off x="957263" y="3664744"/>
            <a:ext cx="10494168"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99534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10188530-C196-6D19-FF89-77B62044381E}"/>
              </a:ext>
            </a:extLst>
          </p:cNvPr>
          <p:cNvPicPr>
            <a:picLocks noChangeAspect="1"/>
          </p:cNvPicPr>
          <p:nvPr/>
        </p:nvPicPr>
        <p:blipFill>
          <a:blip r:embed="rId3"/>
          <a:stretch>
            <a:fillRect/>
          </a:stretch>
        </p:blipFill>
        <p:spPr>
          <a:xfrm>
            <a:off x="172195" y="344433"/>
            <a:ext cx="11891851" cy="6049088"/>
          </a:xfrm>
          <a:prstGeom prst="rect">
            <a:avLst/>
          </a:prstGeom>
        </p:spPr>
      </p:pic>
      <p:sp>
        <p:nvSpPr>
          <p:cNvPr id="7" name="テキスト ボックス 6">
            <a:extLst>
              <a:ext uri="{FF2B5EF4-FFF2-40B4-BE49-F238E27FC236}">
                <a16:creationId xmlns:a16="http://schemas.microsoft.com/office/drawing/2014/main" id="{CBB429FB-C401-E882-80F1-820B0776C13E}"/>
              </a:ext>
            </a:extLst>
          </p:cNvPr>
          <p:cNvSpPr txBox="1"/>
          <p:nvPr/>
        </p:nvSpPr>
        <p:spPr>
          <a:xfrm>
            <a:off x="7652590" y="279813"/>
            <a:ext cx="4313504" cy="369332"/>
          </a:xfrm>
          <a:prstGeom prst="rect">
            <a:avLst/>
          </a:prstGeom>
          <a:noFill/>
        </p:spPr>
        <p:txBody>
          <a:bodyPr wrap="square">
            <a:spAutoFit/>
          </a:bodyPr>
          <a:lstStyle/>
          <a:p>
            <a:r>
              <a:rPr lang="ja-JP" altLang="en-US" dirty="0"/>
              <a:t>●に</a:t>
            </a:r>
            <a:r>
              <a:rPr lang="ja-JP" altLang="en-US" dirty="0">
                <a:solidFill>
                  <a:srgbClr val="C00000"/>
                </a:solidFill>
              </a:rPr>
              <a:t>カーソルを重ねると文書概要</a:t>
            </a:r>
            <a:r>
              <a:rPr lang="ja-JP" altLang="en-US" dirty="0"/>
              <a:t>を表示</a:t>
            </a:r>
            <a:endParaRPr lang="en-US" altLang="ja-JP" dirty="0"/>
          </a:p>
        </p:txBody>
      </p:sp>
      <p:sp>
        <p:nvSpPr>
          <p:cNvPr id="9" name="テキスト ボックス 8">
            <a:extLst>
              <a:ext uri="{FF2B5EF4-FFF2-40B4-BE49-F238E27FC236}">
                <a16:creationId xmlns:a16="http://schemas.microsoft.com/office/drawing/2014/main" id="{4A7C3A3B-5C35-0BE3-4972-4BB0EE8104A6}"/>
              </a:ext>
            </a:extLst>
          </p:cNvPr>
          <p:cNvSpPr txBox="1"/>
          <p:nvPr/>
        </p:nvSpPr>
        <p:spPr>
          <a:xfrm>
            <a:off x="7652590" y="871752"/>
            <a:ext cx="3931571" cy="369332"/>
          </a:xfrm>
          <a:prstGeom prst="rect">
            <a:avLst/>
          </a:prstGeom>
          <a:noFill/>
        </p:spPr>
        <p:txBody>
          <a:bodyPr wrap="square">
            <a:spAutoFit/>
          </a:bodyPr>
          <a:lstStyle/>
          <a:p>
            <a:r>
              <a:rPr lang="ja-JP" altLang="en-US" dirty="0"/>
              <a:t>●</a:t>
            </a:r>
            <a:r>
              <a:rPr kumimoji="1" lang="ja-JP" altLang="en-US" dirty="0"/>
              <a:t>を</a:t>
            </a:r>
            <a:r>
              <a:rPr kumimoji="1" lang="ja-JP" altLang="en-US" dirty="0">
                <a:solidFill>
                  <a:srgbClr val="C00000"/>
                </a:solidFill>
              </a:rPr>
              <a:t>クリックすると文書詳細</a:t>
            </a:r>
            <a:r>
              <a:rPr kumimoji="1" lang="ja-JP" altLang="en-US" dirty="0"/>
              <a:t>を表示</a:t>
            </a:r>
            <a:endParaRPr kumimoji="1" lang="en-US" altLang="ja-JP" dirty="0"/>
          </a:p>
        </p:txBody>
      </p:sp>
      <p:sp>
        <p:nvSpPr>
          <p:cNvPr id="15" name="矢印: 下 14">
            <a:extLst>
              <a:ext uri="{FF2B5EF4-FFF2-40B4-BE49-F238E27FC236}">
                <a16:creationId xmlns:a16="http://schemas.microsoft.com/office/drawing/2014/main" id="{4A0FAFC3-01E0-93A2-90B5-1C916503C287}"/>
              </a:ext>
            </a:extLst>
          </p:cNvPr>
          <p:cNvSpPr/>
          <p:nvPr/>
        </p:nvSpPr>
        <p:spPr>
          <a:xfrm rot="11198819">
            <a:off x="8160424" y="4387079"/>
            <a:ext cx="284415" cy="842713"/>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C8604DA2-0C62-81C0-EEA9-6308340154A6}"/>
              </a:ext>
            </a:extLst>
          </p:cNvPr>
          <p:cNvSpPr txBox="1"/>
          <p:nvPr/>
        </p:nvSpPr>
        <p:spPr>
          <a:xfrm>
            <a:off x="7564248" y="5342434"/>
            <a:ext cx="1476766" cy="369332"/>
          </a:xfrm>
          <a:prstGeom prst="rect">
            <a:avLst/>
          </a:prstGeom>
          <a:noFill/>
        </p:spPr>
        <p:txBody>
          <a:bodyPr wrap="square">
            <a:spAutoFit/>
          </a:bodyPr>
          <a:lstStyle/>
          <a:p>
            <a:r>
              <a:rPr lang="ja-JP" altLang="en-US" dirty="0"/>
              <a:t>クエリ文書</a:t>
            </a:r>
          </a:p>
        </p:txBody>
      </p:sp>
      <p:sp>
        <p:nvSpPr>
          <p:cNvPr id="20" name="テキスト ボックス 19">
            <a:extLst>
              <a:ext uri="{FF2B5EF4-FFF2-40B4-BE49-F238E27FC236}">
                <a16:creationId xmlns:a16="http://schemas.microsoft.com/office/drawing/2014/main" id="{98C6FD65-77D8-71D8-3E75-EA10DCDA367C}"/>
              </a:ext>
            </a:extLst>
          </p:cNvPr>
          <p:cNvSpPr txBox="1"/>
          <p:nvPr/>
        </p:nvSpPr>
        <p:spPr>
          <a:xfrm>
            <a:off x="9772910" y="3416856"/>
            <a:ext cx="1811251" cy="369332"/>
          </a:xfrm>
          <a:prstGeom prst="rect">
            <a:avLst/>
          </a:prstGeom>
          <a:noFill/>
        </p:spPr>
        <p:txBody>
          <a:bodyPr wrap="square">
            <a:spAutoFit/>
          </a:bodyPr>
          <a:lstStyle/>
          <a:p>
            <a:r>
              <a:rPr lang="ja-JP" altLang="en-US" b="1" dirty="0">
                <a:solidFill>
                  <a:srgbClr val="C00000"/>
                </a:solidFill>
              </a:rPr>
              <a:t>最類似文書集合</a:t>
            </a:r>
          </a:p>
        </p:txBody>
      </p:sp>
      <p:sp>
        <p:nvSpPr>
          <p:cNvPr id="21" name="矢印: 下 20">
            <a:extLst>
              <a:ext uri="{FF2B5EF4-FFF2-40B4-BE49-F238E27FC236}">
                <a16:creationId xmlns:a16="http://schemas.microsoft.com/office/drawing/2014/main" id="{E4FCA93A-F2FB-67CB-E52C-88CE08652305}"/>
              </a:ext>
            </a:extLst>
          </p:cNvPr>
          <p:cNvSpPr/>
          <p:nvPr/>
        </p:nvSpPr>
        <p:spPr>
          <a:xfrm rot="8687699">
            <a:off x="596193" y="3425635"/>
            <a:ext cx="165924" cy="722393"/>
          </a:xfrm>
          <a:prstGeom prst="down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88DEC749-B8BC-04ED-0E68-4CD591E9805C}"/>
              </a:ext>
            </a:extLst>
          </p:cNvPr>
          <p:cNvSpPr txBox="1"/>
          <p:nvPr/>
        </p:nvSpPr>
        <p:spPr>
          <a:xfrm>
            <a:off x="127954" y="4126019"/>
            <a:ext cx="2092284" cy="369332"/>
          </a:xfrm>
          <a:prstGeom prst="rect">
            <a:avLst/>
          </a:prstGeom>
          <a:noFill/>
        </p:spPr>
        <p:txBody>
          <a:bodyPr wrap="square">
            <a:spAutoFit/>
          </a:bodyPr>
          <a:lstStyle/>
          <a:p>
            <a:r>
              <a:rPr lang="ja-JP" altLang="en-US" dirty="0"/>
              <a:t>あまり似ていない</a:t>
            </a:r>
          </a:p>
        </p:txBody>
      </p:sp>
      <p:sp>
        <p:nvSpPr>
          <p:cNvPr id="24" name="矢印: 下 23">
            <a:extLst>
              <a:ext uri="{FF2B5EF4-FFF2-40B4-BE49-F238E27FC236}">
                <a16:creationId xmlns:a16="http://schemas.microsoft.com/office/drawing/2014/main" id="{385C1D9F-A8EB-1569-8C84-82F1D7D7AF92}"/>
              </a:ext>
            </a:extLst>
          </p:cNvPr>
          <p:cNvSpPr/>
          <p:nvPr/>
        </p:nvSpPr>
        <p:spPr>
          <a:xfrm>
            <a:off x="2127496" y="678614"/>
            <a:ext cx="185483" cy="444456"/>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0D79E209-8144-2E0A-13CA-C45D11658CE8}"/>
              </a:ext>
            </a:extLst>
          </p:cNvPr>
          <p:cNvSpPr txBox="1"/>
          <p:nvPr/>
        </p:nvSpPr>
        <p:spPr>
          <a:xfrm>
            <a:off x="1051676" y="60754"/>
            <a:ext cx="2486034" cy="646331"/>
          </a:xfrm>
          <a:prstGeom prst="rect">
            <a:avLst/>
          </a:prstGeom>
          <a:noFill/>
        </p:spPr>
        <p:txBody>
          <a:bodyPr wrap="square">
            <a:spAutoFit/>
          </a:bodyPr>
          <a:lstStyle/>
          <a:p>
            <a:pPr algn="ctr"/>
            <a:r>
              <a:rPr lang="ja-JP" altLang="en-US" dirty="0"/>
              <a:t>検索された文書の</a:t>
            </a:r>
            <a:endParaRPr lang="en-US" altLang="ja-JP" dirty="0">
              <a:solidFill>
                <a:srgbClr val="C00000"/>
              </a:solidFill>
            </a:endParaRPr>
          </a:p>
          <a:p>
            <a:pPr algn="ctr"/>
            <a:r>
              <a:rPr lang="ja-JP" altLang="en-US" dirty="0">
                <a:solidFill>
                  <a:srgbClr val="C00000"/>
                </a:solidFill>
              </a:rPr>
              <a:t>カテゴリーが分かる！</a:t>
            </a:r>
          </a:p>
        </p:txBody>
      </p:sp>
      <p:sp>
        <p:nvSpPr>
          <p:cNvPr id="4" name="矢印: 下 3">
            <a:extLst>
              <a:ext uri="{FF2B5EF4-FFF2-40B4-BE49-F238E27FC236}">
                <a16:creationId xmlns:a16="http://schemas.microsoft.com/office/drawing/2014/main" id="{2960E231-1A69-1B6F-6584-EDFB875B4DB2}"/>
              </a:ext>
            </a:extLst>
          </p:cNvPr>
          <p:cNvSpPr/>
          <p:nvPr/>
        </p:nvSpPr>
        <p:spPr>
          <a:xfrm rot="3224647">
            <a:off x="9290717" y="3534760"/>
            <a:ext cx="180141" cy="840433"/>
          </a:xfrm>
          <a:prstGeom prst="downArrow">
            <a:avLst>
              <a:gd name="adj1" fmla="val 55330"/>
              <a:gd name="adj2" fmla="val 5000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15649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A5C014-5B97-59DE-1320-B2E300C33433}"/>
              </a:ext>
            </a:extLst>
          </p:cNvPr>
          <p:cNvSpPr>
            <a:spLocks noGrp="1"/>
          </p:cNvSpPr>
          <p:nvPr>
            <p:ph type="title"/>
          </p:nvPr>
        </p:nvSpPr>
        <p:spPr/>
        <p:txBody>
          <a:bodyPr/>
          <a:lstStyle/>
          <a:p>
            <a:r>
              <a:rPr kumimoji="1" lang="ja-JP" altLang="en-US" b="1" dirty="0"/>
              <a:t>可視化ブラウジングツール</a:t>
            </a:r>
            <a:r>
              <a:rPr lang="ja-JP" altLang="en-US" b="1" dirty="0"/>
              <a:t>の主な</a:t>
            </a:r>
            <a:r>
              <a:rPr kumimoji="1" lang="ja-JP" altLang="en-US" b="1" dirty="0"/>
              <a:t>機能</a:t>
            </a:r>
          </a:p>
        </p:txBody>
      </p:sp>
      <p:sp>
        <p:nvSpPr>
          <p:cNvPr id="3" name="コンテンツ プレースホルダー 2">
            <a:extLst>
              <a:ext uri="{FF2B5EF4-FFF2-40B4-BE49-F238E27FC236}">
                <a16:creationId xmlns:a16="http://schemas.microsoft.com/office/drawing/2014/main" id="{FB61EA07-45EF-C0FB-4444-4FBB47B0150A}"/>
              </a:ext>
            </a:extLst>
          </p:cNvPr>
          <p:cNvSpPr>
            <a:spLocks noGrp="1"/>
          </p:cNvSpPr>
          <p:nvPr>
            <p:ph idx="1"/>
          </p:nvPr>
        </p:nvSpPr>
        <p:spPr>
          <a:xfrm>
            <a:off x="838200" y="1825625"/>
            <a:ext cx="10515600" cy="4728738"/>
          </a:xfrm>
        </p:spPr>
        <p:txBody>
          <a:bodyPr>
            <a:normAutofit/>
          </a:bodyPr>
          <a:lstStyle/>
          <a:p>
            <a:pPr marL="0" indent="0">
              <a:buNone/>
            </a:pPr>
            <a:r>
              <a:rPr lang="ja-JP" altLang="en-US" dirty="0"/>
              <a:t>従来の</a:t>
            </a:r>
            <a:r>
              <a:rPr lang="ja-JP" altLang="en-US" b="1" dirty="0">
                <a:solidFill>
                  <a:srgbClr val="C00000"/>
                </a:solidFill>
              </a:rPr>
              <a:t>類似文書検索</a:t>
            </a:r>
            <a:r>
              <a:rPr lang="ja-JP" altLang="en-US" dirty="0"/>
              <a:t>に</a:t>
            </a:r>
            <a:r>
              <a:rPr lang="ja-JP" altLang="en-US" b="1" dirty="0">
                <a:solidFill>
                  <a:schemeClr val="accent1"/>
                </a:solidFill>
              </a:rPr>
              <a:t>グラフ構築</a:t>
            </a:r>
            <a:r>
              <a:rPr lang="ja-JP" altLang="en-US" dirty="0"/>
              <a:t>を合体</a:t>
            </a:r>
            <a:r>
              <a:rPr lang="en-US" altLang="ja-JP" dirty="0"/>
              <a:t>.</a:t>
            </a:r>
          </a:p>
          <a:p>
            <a:endParaRPr lang="en-US" altLang="ja-JP" dirty="0"/>
          </a:p>
          <a:p>
            <a:r>
              <a:rPr lang="ja-JP" altLang="en-US" b="1" dirty="0">
                <a:solidFill>
                  <a:srgbClr val="C00000"/>
                </a:solidFill>
              </a:rPr>
              <a:t>カテゴリ付与</a:t>
            </a:r>
            <a:endParaRPr lang="en-US" altLang="ja-JP" b="1" dirty="0">
              <a:solidFill>
                <a:srgbClr val="C00000"/>
              </a:solidFill>
            </a:endParaRPr>
          </a:p>
          <a:p>
            <a:r>
              <a:rPr lang="ja-JP" altLang="en-US" b="1" dirty="0">
                <a:solidFill>
                  <a:srgbClr val="C00000"/>
                </a:solidFill>
              </a:rPr>
              <a:t>説明語を付与</a:t>
            </a:r>
            <a:endParaRPr lang="en-US" altLang="ja-JP" b="1" dirty="0">
              <a:solidFill>
                <a:srgbClr val="C00000"/>
              </a:solidFill>
            </a:endParaRPr>
          </a:p>
          <a:p>
            <a:pPr marL="0" indent="0">
              <a:buNone/>
            </a:pPr>
            <a:endParaRPr lang="en-US" altLang="ja-JP" dirty="0"/>
          </a:p>
          <a:p>
            <a:pPr marL="0" indent="0">
              <a:buNone/>
            </a:pPr>
            <a:endParaRPr lang="en-US" altLang="ja-JP" dirty="0"/>
          </a:p>
          <a:p>
            <a:pPr marL="0" indent="0">
              <a:buNone/>
            </a:pPr>
            <a:r>
              <a:rPr lang="ja-JP" altLang="en-US" b="1" dirty="0">
                <a:solidFill>
                  <a:schemeClr val="accent1"/>
                </a:solidFill>
              </a:rPr>
              <a:t>線と●の配置</a:t>
            </a:r>
            <a:endParaRPr lang="en-US" altLang="ja-JP" dirty="0"/>
          </a:p>
          <a:p>
            <a:pPr marL="0" indent="0">
              <a:buNone/>
            </a:pPr>
            <a:endParaRPr lang="en-US" altLang="ja-JP" dirty="0"/>
          </a:p>
          <a:p>
            <a:pPr marL="0" indent="0">
              <a:buNone/>
            </a:pPr>
            <a:r>
              <a:rPr lang="ja-JP" altLang="en-US" dirty="0"/>
              <a:t>検索された文書の全体像を把握する！</a:t>
            </a:r>
            <a:endParaRPr kumimoji="1" lang="ja-JP" altLang="en-US" dirty="0"/>
          </a:p>
        </p:txBody>
      </p:sp>
      <p:sp>
        <p:nvSpPr>
          <p:cNvPr id="4" name="矢印: 右 3">
            <a:extLst>
              <a:ext uri="{FF2B5EF4-FFF2-40B4-BE49-F238E27FC236}">
                <a16:creationId xmlns:a16="http://schemas.microsoft.com/office/drawing/2014/main" id="{A1BEB77D-542C-66F3-59A8-3D04E701629C}"/>
              </a:ext>
            </a:extLst>
          </p:cNvPr>
          <p:cNvSpPr/>
          <p:nvPr/>
        </p:nvSpPr>
        <p:spPr>
          <a:xfrm>
            <a:off x="3795486" y="3087234"/>
            <a:ext cx="4245428" cy="791029"/>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260B320-C263-4D99-B836-7E4AF9A120E7}"/>
              </a:ext>
            </a:extLst>
          </p:cNvPr>
          <p:cNvSpPr txBox="1"/>
          <p:nvPr/>
        </p:nvSpPr>
        <p:spPr>
          <a:xfrm>
            <a:off x="8476343" y="3128805"/>
            <a:ext cx="2293257" cy="707886"/>
          </a:xfrm>
          <a:prstGeom prst="rect">
            <a:avLst/>
          </a:prstGeom>
          <a:noFill/>
        </p:spPr>
        <p:txBody>
          <a:bodyPr wrap="square">
            <a:spAutoFit/>
          </a:bodyPr>
          <a:lstStyle/>
          <a:p>
            <a:r>
              <a:rPr lang="ja-JP" altLang="en-US" sz="4000" b="1" dirty="0">
                <a:solidFill>
                  <a:srgbClr val="C00000"/>
                </a:solidFill>
              </a:rPr>
              <a:t>文書検索</a:t>
            </a:r>
            <a:endParaRPr lang="en-US" altLang="ja-JP" sz="4000" b="1" dirty="0">
              <a:solidFill>
                <a:srgbClr val="C00000"/>
              </a:solidFill>
            </a:endParaRPr>
          </a:p>
        </p:txBody>
      </p:sp>
      <p:sp>
        <p:nvSpPr>
          <p:cNvPr id="7" name="矢印: 右 6">
            <a:extLst>
              <a:ext uri="{FF2B5EF4-FFF2-40B4-BE49-F238E27FC236}">
                <a16:creationId xmlns:a16="http://schemas.microsoft.com/office/drawing/2014/main" id="{35DE80E5-F1CA-2160-8805-9EEB4CA0A5BB}"/>
              </a:ext>
            </a:extLst>
          </p:cNvPr>
          <p:cNvSpPr/>
          <p:nvPr/>
        </p:nvSpPr>
        <p:spPr>
          <a:xfrm>
            <a:off x="3795486" y="4744357"/>
            <a:ext cx="4245428" cy="7910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BA4796E-ADA8-7577-BCED-DD1370359F5C}"/>
              </a:ext>
            </a:extLst>
          </p:cNvPr>
          <p:cNvSpPr txBox="1"/>
          <p:nvPr/>
        </p:nvSpPr>
        <p:spPr>
          <a:xfrm>
            <a:off x="8476343" y="4744357"/>
            <a:ext cx="3389426" cy="707886"/>
          </a:xfrm>
          <a:prstGeom prst="rect">
            <a:avLst/>
          </a:prstGeom>
          <a:noFill/>
        </p:spPr>
        <p:txBody>
          <a:bodyPr wrap="square">
            <a:spAutoFit/>
          </a:bodyPr>
          <a:lstStyle/>
          <a:p>
            <a:r>
              <a:rPr lang="ja-JP" altLang="en-US" sz="4000" b="1" dirty="0">
                <a:solidFill>
                  <a:srgbClr val="0070C0"/>
                </a:solidFill>
              </a:rPr>
              <a:t>グラフ構築</a:t>
            </a:r>
            <a:endParaRPr lang="en-US" altLang="ja-JP" sz="4000" b="1" dirty="0">
              <a:solidFill>
                <a:srgbClr val="0070C0"/>
              </a:solidFill>
            </a:endParaRPr>
          </a:p>
        </p:txBody>
      </p:sp>
      <p:sp>
        <p:nvSpPr>
          <p:cNvPr id="9" name="テキスト ボックス 8">
            <a:extLst>
              <a:ext uri="{FF2B5EF4-FFF2-40B4-BE49-F238E27FC236}">
                <a16:creationId xmlns:a16="http://schemas.microsoft.com/office/drawing/2014/main" id="{E3E116FC-200B-5BFA-5C31-BB9C94579BA2}"/>
              </a:ext>
            </a:extLst>
          </p:cNvPr>
          <p:cNvSpPr txBox="1"/>
          <p:nvPr/>
        </p:nvSpPr>
        <p:spPr>
          <a:xfrm>
            <a:off x="4401389" y="4476834"/>
            <a:ext cx="2733584" cy="400110"/>
          </a:xfrm>
          <a:prstGeom prst="rect">
            <a:avLst/>
          </a:prstGeom>
          <a:noFill/>
        </p:spPr>
        <p:txBody>
          <a:bodyPr wrap="square">
            <a:spAutoFit/>
          </a:bodyPr>
          <a:lstStyle/>
          <a:p>
            <a:r>
              <a:rPr lang="ja-JP" altLang="en-US" sz="2000" b="1" dirty="0"/>
              <a:t>似ている文書はどれ？</a:t>
            </a:r>
          </a:p>
        </p:txBody>
      </p:sp>
      <p:sp>
        <p:nvSpPr>
          <p:cNvPr id="11" name="テキスト ボックス 10">
            <a:extLst>
              <a:ext uri="{FF2B5EF4-FFF2-40B4-BE49-F238E27FC236}">
                <a16:creationId xmlns:a16="http://schemas.microsoft.com/office/drawing/2014/main" id="{19B6FC36-0918-5E6C-10AB-6D69DF361FD9}"/>
              </a:ext>
            </a:extLst>
          </p:cNvPr>
          <p:cNvSpPr txBox="1"/>
          <p:nvPr/>
        </p:nvSpPr>
        <p:spPr>
          <a:xfrm>
            <a:off x="3535129" y="2687124"/>
            <a:ext cx="4766142" cy="400110"/>
          </a:xfrm>
          <a:prstGeom prst="rect">
            <a:avLst/>
          </a:prstGeom>
          <a:noFill/>
        </p:spPr>
        <p:txBody>
          <a:bodyPr wrap="square">
            <a:spAutoFit/>
          </a:bodyPr>
          <a:lstStyle/>
          <a:p>
            <a:r>
              <a:rPr lang="ja-JP" altLang="en-US" sz="2000" b="1" dirty="0"/>
              <a:t>どんなカテゴリーの文書が検索された？</a:t>
            </a:r>
          </a:p>
        </p:txBody>
      </p:sp>
    </p:spTree>
    <p:extLst>
      <p:ext uri="{BB962C8B-B14F-4D97-AF65-F5344CB8AC3E}">
        <p14:creationId xmlns:p14="http://schemas.microsoft.com/office/powerpoint/2010/main" val="2800553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3A9E2C97-A6FF-A78D-C8AB-54D88F60DD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6600B0-AB4E-3247-BBB6-942B96527CD1}"/>
              </a:ext>
            </a:extLst>
          </p:cNvPr>
          <p:cNvSpPr>
            <a:spLocks noGrp="1"/>
          </p:cNvSpPr>
          <p:nvPr>
            <p:ph type="title"/>
          </p:nvPr>
        </p:nvSpPr>
        <p:spPr/>
        <p:txBody>
          <a:bodyPr/>
          <a:lstStyle/>
          <a:p>
            <a:r>
              <a:rPr kumimoji="1" lang="ja-JP" altLang="en-US" b="1" dirty="0">
                <a:solidFill>
                  <a:srgbClr val="C00000"/>
                </a:solidFill>
              </a:rPr>
              <a:t>文書検索</a:t>
            </a:r>
          </a:p>
        </p:txBody>
      </p:sp>
      <p:sp>
        <p:nvSpPr>
          <p:cNvPr id="3" name="コンテンツ プレースホルダー 2">
            <a:extLst>
              <a:ext uri="{FF2B5EF4-FFF2-40B4-BE49-F238E27FC236}">
                <a16:creationId xmlns:a16="http://schemas.microsoft.com/office/drawing/2014/main" id="{5D2EFE75-A742-244E-77F5-6E64F0944867}"/>
              </a:ext>
            </a:extLst>
          </p:cNvPr>
          <p:cNvSpPr>
            <a:spLocks noGrp="1"/>
          </p:cNvSpPr>
          <p:nvPr>
            <p:ph idx="1"/>
          </p:nvPr>
        </p:nvSpPr>
        <p:spPr/>
        <p:txBody>
          <a:bodyPr/>
          <a:lstStyle/>
          <a:p>
            <a:pPr marL="0" indent="0" algn="ctr">
              <a:buNone/>
            </a:pPr>
            <a:r>
              <a:rPr kumimoji="1" lang="ja-JP" altLang="en-US" dirty="0"/>
              <a:t>検索した文書に「カテゴリーと</a:t>
            </a:r>
            <a:r>
              <a:rPr kumimoji="1" lang="ja-JP" altLang="en-US" b="1" dirty="0">
                <a:solidFill>
                  <a:srgbClr val="C00000"/>
                </a:solidFill>
              </a:rPr>
              <a:t>説明語</a:t>
            </a:r>
            <a:r>
              <a:rPr kumimoji="1" lang="ja-JP" altLang="en-US" dirty="0"/>
              <a:t>」を</a:t>
            </a:r>
            <a:r>
              <a:rPr lang="ja-JP" altLang="en-US" dirty="0"/>
              <a:t>付与</a:t>
            </a:r>
            <a:endParaRPr kumimoji="1" lang="ja-JP" altLang="en-US" dirty="0">
              <a:solidFill>
                <a:srgbClr val="FF0000"/>
              </a:solidFill>
            </a:endParaRPr>
          </a:p>
        </p:txBody>
      </p:sp>
      <p:sp>
        <p:nvSpPr>
          <p:cNvPr id="4" name="楕円 3">
            <a:extLst>
              <a:ext uri="{FF2B5EF4-FFF2-40B4-BE49-F238E27FC236}">
                <a16:creationId xmlns:a16="http://schemas.microsoft.com/office/drawing/2014/main" id="{E89E1837-B132-0B85-B923-5BC9DE02535D}"/>
              </a:ext>
            </a:extLst>
          </p:cNvPr>
          <p:cNvSpPr/>
          <p:nvPr/>
        </p:nvSpPr>
        <p:spPr>
          <a:xfrm>
            <a:off x="3442177" y="2499465"/>
            <a:ext cx="5307645" cy="10106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ヒットした数百件の</a:t>
            </a:r>
            <a:r>
              <a:rPr kumimoji="1" lang="ja-JP" altLang="en-US" dirty="0"/>
              <a:t>文書</a:t>
            </a:r>
          </a:p>
        </p:txBody>
      </p:sp>
      <p:sp>
        <p:nvSpPr>
          <p:cNvPr id="5" name="フローチャート: 結合子 4">
            <a:extLst>
              <a:ext uri="{FF2B5EF4-FFF2-40B4-BE49-F238E27FC236}">
                <a16:creationId xmlns:a16="http://schemas.microsoft.com/office/drawing/2014/main" id="{4E419AD4-AA7E-968A-10F8-5C3D1BB88672}"/>
              </a:ext>
            </a:extLst>
          </p:cNvPr>
          <p:cNvSpPr/>
          <p:nvPr/>
        </p:nvSpPr>
        <p:spPr>
          <a:xfrm>
            <a:off x="922993" y="4775105"/>
            <a:ext cx="1430039" cy="1439958"/>
          </a:xfrm>
          <a:prstGeom prst="flowChartConnector">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cm</a:t>
            </a:r>
            <a:endParaRPr kumimoji="1" lang="ja-JP" altLang="en-US" b="1" dirty="0">
              <a:solidFill>
                <a:schemeClr val="tx1"/>
              </a:solidFill>
            </a:endParaRPr>
          </a:p>
        </p:txBody>
      </p:sp>
      <p:sp>
        <p:nvSpPr>
          <p:cNvPr id="6" name="フローチャート: 結合子 5">
            <a:extLst>
              <a:ext uri="{FF2B5EF4-FFF2-40B4-BE49-F238E27FC236}">
                <a16:creationId xmlns:a16="http://schemas.microsoft.com/office/drawing/2014/main" id="{7B656C79-FEBB-6DA5-BA0F-233D5EA2CD5A}"/>
              </a:ext>
            </a:extLst>
          </p:cNvPr>
          <p:cNvSpPr/>
          <p:nvPr/>
        </p:nvSpPr>
        <p:spPr>
          <a:xfrm>
            <a:off x="3253110" y="4743773"/>
            <a:ext cx="1430039" cy="1439958"/>
          </a:xfrm>
          <a:prstGeom prst="flowChartConnector">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クルマ</a:t>
            </a:r>
            <a:endParaRPr kumimoji="1" lang="ja-JP" altLang="en-US" b="1" dirty="0">
              <a:solidFill>
                <a:schemeClr val="tx1"/>
              </a:solidFill>
            </a:endParaRPr>
          </a:p>
        </p:txBody>
      </p:sp>
      <p:sp>
        <p:nvSpPr>
          <p:cNvPr id="7" name="フローチャート: 結合子 6">
            <a:extLst>
              <a:ext uri="{FF2B5EF4-FFF2-40B4-BE49-F238E27FC236}">
                <a16:creationId xmlns:a16="http://schemas.microsoft.com/office/drawing/2014/main" id="{CD37071E-8695-E6C8-F50C-3EACA743D293}"/>
              </a:ext>
            </a:extLst>
          </p:cNvPr>
          <p:cNvSpPr/>
          <p:nvPr/>
        </p:nvSpPr>
        <p:spPr>
          <a:xfrm>
            <a:off x="5494707" y="4733174"/>
            <a:ext cx="1430039" cy="1439958"/>
          </a:xfrm>
          <a:prstGeom prst="flowChartConnector">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店</a:t>
            </a:r>
            <a:endParaRPr kumimoji="1" lang="ja-JP" altLang="en-US" b="1" dirty="0">
              <a:solidFill>
                <a:schemeClr val="tx1"/>
              </a:solidFill>
            </a:endParaRPr>
          </a:p>
        </p:txBody>
      </p:sp>
      <p:sp>
        <p:nvSpPr>
          <p:cNvPr id="8" name="フローチャート: 結合子 7">
            <a:extLst>
              <a:ext uri="{FF2B5EF4-FFF2-40B4-BE49-F238E27FC236}">
                <a16:creationId xmlns:a16="http://schemas.microsoft.com/office/drawing/2014/main" id="{EA919FA4-7974-3CF8-61D7-321C20769CC4}"/>
              </a:ext>
            </a:extLst>
          </p:cNvPr>
          <p:cNvSpPr/>
          <p:nvPr/>
        </p:nvSpPr>
        <p:spPr>
          <a:xfrm>
            <a:off x="7792165" y="4775105"/>
            <a:ext cx="1430039" cy="1439958"/>
          </a:xfrm>
          <a:prstGeom prst="flowChartConnector">
            <a:avLst/>
          </a:prstGeom>
          <a:solidFill>
            <a:srgbClr val="E20E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ゆるキャラ</a:t>
            </a:r>
          </a:p>
        </p:txBody>
      </p:sp>
      <p:sp>
        <p:nvSpPr>
          <p:cNvPr id="9" name="フローチャート: 結合子 8">
            <a:extLst>
              <a:ext uri="{FF2B5EF4-FFF2-40B4-BE49-F238E27FC236}">
                <a16:creationId xmlns:a16="http://schemas.microsoft.com/office/drawing/2014/main" id="{A4C56371-C6B8-4798-0D8A-7FBAD990E59A}"/>
              </a:ext>
            </a:extLst>
          </p:cNvPr>
          <p:cNvSpPr/>
          <p:nvPr/>
        </p:nvSpPr>
        <p:spPr>
          <a:xfrm>
            <a:off x="10122282" y="4733174"/>
            <a:ext cx="1430039" cy="1439958"/>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ダイ</a:t>
            </a:r>
            <a:endParaRPr kumimoji="1" lang="en-US" altLang="ja-JP" b="1" dirty="0">
              <a:solidFill>
                <a:schemeClr val="tx1"/>
              </a:solidFill>
            </a:endParaRPr>
          </a:p>
          <a:p>
            <a:pPr algn="ctr"/>
            <a:r>
              <a:rPr kumimoji="1" lang="ja-JP" altLang="en-US" b="1" dirty="0">
                <a:solidFill>
                  <a:schemeClr val="tx1"/>
                </a:solidFill>
              </a:rPr>
              <a:t>ハツ</a:t>
            </a:r>
          </a:p>
        </p:txBody>
      </p:sp>
      <p:sp>
        <p:nvSpPr>
          <p:cNvPr id="10" name="矢印: 下 9">
            <a:extLst>
              <a:ext uri="{FF2B5EF4-FFF2-40B4-BE49-F238E27FC236}">
                <a16:creationId xmlns:a16="http://schemas.microsoft.com/office/drawing/2014/main" id="{39245DD6-066C-911F-22BA-BF0A2DC7D04A}"/>
              </a:ext>
            </a:extLst>
          </p:cNvPr>
          <p:cNvSpPr/>
          <p:nvPr/>
        </p:nvSpPr>
        <p:spPr>
          <a:xfrm rot="3267553">
            <a:off x="2460869" y="3146602"/>
            <a:ext cx="482694" cy="1709381"/>
          </a:xfrm>
          <a:prstGeom prst="down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5353C23C-36AB-A6A4-A32F-4DB5BB616007}"/>
              </a:ext>
            </a:extLst>
          </p:cNvPr>
          <p:cNvSpPr/>
          <p:nvPr/>
        </p:nvSpPr>
        <p:spPr>
          <a:xfrm rot="984307">
            <a:off x="3994387" y="3572945"/>
            <a:ext cx="482694" cy="1133271"/>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下 11">
            <a:extLst>
              <a:ext uri="{FF2B5EF4-FFF2-40B4-BE49-F238E27FC236}">
                <a16:creationId xmlns:a16="http://schemas.microsoft.com/office/drawing/2014/main" id="{0E8DF074-A97D-395F-79A3-954E50ECB40D}"/>
              </a:ext>
            </a:extLst>
          </p:cNvPr>
          <p:cNvSpPr/>
          <p:nvPr/>
        </p:nvSpPr>
        <p:spPr>
          <a:xfrm>
            <a:off x="5902549" y="3655052"/>
            <a:ext cx="482694" cy="1010653"/>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下 12">
            <a:extLst>
              <a:ext uri="{FF2B5EF4-FFF2-40B4-BE49-F238E27FC236}">
                <a16:creationId xmlns:a16="http://schemas.microsoft.com/office/drawing/2014/main" id="{874E170C-B069-3BC4-26B5-AD342B339AE3}"/>
              </a:ext>
            </a:extLst>
          </p:cNvPr>
          <p:cNvSpPr/>
          <p:nvPr/>
        </p:nvSpPr>
        <p:spPr>
          <a:xfrm rot="20051512">
            <a:off x="7841412" y="3578279"/>
            <a:ext cx="482694" cy="1211357"/>
          </a:xfrm>
          <a:prstGeom prst="downArrow">
            <a:avLst/>
          </a:prstGeom>
          <a:solidFill>
            <a:srgbClr val="E20E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矢印: 下 13">
            <a:extLst>
              <a:ext uri="{FF2B5EF4-FFF2-40B4-BE49-F238E27FC236}">
                <a16:creationId xmlns:a16="http://schemas.microsoft.com/office/drawing/2014/main" id="{DE028913-64EF-B958-8DD3-C7E5C3518414}"/>
              </a:ext>
            </a:extLst>
          </p:cNvPr>
          <p:cNvSpPr/>
          <p:nvPr/>
        </p:nvSpPr>
        <p:spPr>
          <a:xfrm rot="18815590">
            <a:off x="9548778" y="3103357"/>
            <a:ext cx="482694" cy="1859618"/>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05968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AEAF49-EB58-124C-E38D-340A392312BF}"/>
              </a:ext>
            </a:extLst>
          </p:cNvPr>
          <p:cNvSpPr>
            <a:spLocks noGrp="1"/>
          </p:cNvSpPr>
          <p:nvPr>
            <p:ph type="title"/>
          </p:nvPr>
        </p:nvSpPr>
        <p:spPr/>
        <p:txBody>
          <a:bodyPr/>
          <a:lstStyle/>
          <a:p>
            <a:r>
              <a:rPr kumimoji="1" lang="ja-JP" altLang="en-US" b="1" dirty="0"/>
              <a:t>説明語は類似貢献度ベクトル</a:t>
            </a:r>
            <a:r>
              <a:rPr lang="ja-JP" altLang="en-US" b="1" dirty="0"/>
              <a:t>で</a:t>
            </a:r>
            <a:r>
              <a:rPr kumimoji="1" lang="ja-JP" altLang="en-US" b="1" dirty="0"/>
              <a:t>算出</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0E43868-D0A6-CA13-58FF-1CB5FB768DC8}"/>
                  </a:ext>
                </a:extLst>
              </p:cNvPr>
              <p:cNvSpPr>
                <a:spLocks noGrp="1"/>
              </p:cNvSpPr>
              <p:nvPr>
                <p:ph idx="1"/>
              </p:nvPr>
            </p:nvSpPr>
            <p:spPr>
              <a:xfrm>
                <a:off x="838200" y="1825624"/>
                <a:ext cx="10515600" cy="4940936"/>
              </a:xfrm>
            </p:spPr>
            <p:txBody>
              <a:bodyPr>
                <a:normAutofit/>
              </a:bodyPr>
              <a:lstStyle/>
              <a:p>
                <a:pPr marL="0" indent="0">
                  <a:buNone/>
                </a:pPr>
                <a:r>
                  <a:rPr kumimoji="1" lang="ja-JP" altLang="en-US" dirty="0"/>
                  <a:t>クエリ</a:t>
                </a:r>
                <a:r>
                  <a:rPr kumimoji="1" lang="en-US" altLang="ja-JP" b="1" dirty="0"/>
                  <a:t>q</a:t>
                </a:r>
                <a:r>
                  <a:rPr kumimoji="1" lang="en-US" altLang="ja-JP" dirty="0"/>
                  <a:t> </a:t>
                </a:r>
                <a:r>
                  <a:rPr kumimoji="1" lang="ja-JP" altLang="en-US" dirty="0"/>
                  <a:t>に対し</a:t>
                </a:r>
                <a:r>
                  <a:rPr kumimoji="1" lang="en-US" altLang="ja-JP" dirty="0"/>
                  <a:t>, </a:t>
                </a:r>
                <a:r>
                  <a:rPr kumimoji="1" lang="ja-JP" altLang="en-US" dirty="0"/>
                  <a:t>文書集合</a:t>
                </a:r>
                <a:r>
                  <a:rPr kumimoji="1" lang="en-US" altLang="ja-JP" b="1" i="1" dirty="0"/>
                  <a:t>N</a:t>
                </a:r>
                <a:r>
                  <a:rPr kumimoji="1" lang="en-US" altLang="ja-JP" dirty="0"/>
                  <a:t> </a:t>
                </a:r>
                <a:r>
                  <a:rPr kumimoji="1" lang="ja-JP" altLang="en-US" dirty="0"/>
                  <a:t>から最類似の検索結果文書を示す</a:t>
                </a:r>
                <a:endParaRPr kumimoji="1" lang="en-US" altLang="ja-JP" dirty="0"/>
              </a:p>
              <a:p>
                <a:pPr marL="0" indent="0">
                  <a:buNone/>
                </a:pPr>
                <a:r>
                  <a:rPr kumimoji="1" lang="en-US" altLang="ja-JP" i="1" dirty="0"/>
                  <a:t>h </a:t>
                </a:r>
                <a:r>
                  <a:rPr kumimoji="1" lang="en-US" altLang="ja-JP" b="1" dirty="0"/>
                  <a:t>-</a:t>
                </a:r>
                <a:r>
                  <a:rPr kumimoji="1" lang="ja-JP" altLang="en-US" dirty="0"/>
                  <a:t>最類似文書集合 </a:t>
                </a:r>
                <a:r>
                  <a:rPr lang="en-US" altLang="ja-JP" b="1" i="1" dirty="0"/>
                  <a:t>R </a:t>
                </a:r>
                <a:r>
                  <a:rPr lang="en-US" altLang="ja-JP" dirty="0"/>
                  <a:t>(</a:t>
                </a:r>
                <a:r>
                  <a:rPr lang="en-US" altLang="ja-JP" i="1" dirty="0"/>
                  <a:t>h </a:t>
                </a:r>
                <a:r>
                  <a:rPr lang="en-US" altLang="ja-JP" dirty="0"/>
                  <a:t>)</a:t>
                </a:r>
                <a:r>
                  <a:rPr kumimoji="1" lang="en-US" altLang="ja-JP" dirty="0"/>
                  <a:t> ⊂ </a:t>
                </a:r>
                <a:r>
                  <a:rPr kumimoji="1" lang="en-US" altLang="ja-JP" b="1" i="1" dirty="0"/>
                  <a:t>N </a:t>
                </a:r>
                <a:r>
                  <a:rPr kumimoji="1" lang="ja-JP" altLang="en-US" dirty="0"/>
                  <a:t>を導出</a:t>
                </a:r>
                <a:r>
                  <a:rPr kumimoji="1" lang="en-US" altLang="ja-JP" dirty="0"/>
                  <a:t>.  ※ </a:t>
                </a:r>
                <a:r>
                  <a:rPr kumimoji="1" lang="en-US" altLang="ja-JP" i="1" dirty="0"/>
                  <a:t>h</a:t>
                </a:r>
                <a:r>
                  <a:rPr kumimoji="1" lang="en-US" altLang="ja-JP" dirty="0"/>
                  <a:t> </a:t>
                </a:r>
                <a:r>
                  <a:rPr kumimoji="1" lang="ja-JP" altLang="en-US" dirty="0"/>
                  <a:t>は類似文書数</a:t>
                </a:r>
                <a:endParaRPr kumimoji="1" lang="en-US" altLang="ja-JP" dirty="0"/>
              </a:p>
              <a:p>
                <a:pPr marL="0" indent="0">
                  <a:buNone/>
                </a:pPr>
                <a:endParaRPr lang="en-US" altLang="ja-JP" dirty="0"/>
              </a:p>
              <a:p>
                <a:pPr marL="0" indent="0">
                  <a:buNone/>
                </a:pPr>
                <a:r>
                  <a:rPr kumimoji="1" lang="ja-JP" altLang="en-US" dirty="0"/>
                  <a:t>次に</a:t>
                </a:r>
                <a:r>
                  <a:rPr kumimoji="1" lang="en-US" altLang="ja-JP" dirty="0"/>
                  <a:t>, </a:t>
                </a:r>
                <a:r>
                  <a:rPr kumimoji="1" lang="ja-JP" altLang="en-US" dirty="0"/>
                  <a:t>類似文書 </a:t>
                </a:r>
                <a:r>
                  <a:rPr kumimoji="1" lang="en-US" altLang="ja-JP" i="1" dirty="0"/>
                  <a:t>n</a:t>
                </a:r>
                <a:r>
                  <a:rPr kumimoji="1" lang="en-US" altLang="ja-JP" dirty="0"/>
                  <a:t> ∈ </a:t>
                </a:r>
                <a:r>
                  <a:rPr kumimoji="1" lang="en-US" altLang="ja-JP" b="1" i="1" dirty="0"/>
                  <a:t>R </a:t>
                </a:r>
                <a:r>
                  <a:rPr kumimoji="1" lang="en-US" altLang="ja-JP" dirty="0"/>
                  <a:t>(</a:t>
                </a:r>
                <a:r>
                  <a:rPr kumimoji="1" lang="en-US" altLang="ja-JP" i="1" dirty="0"/>
                  <a:t>h </a:t>
                </a:r>
                <a:r>
                  <a:rPr kumimoji="1" lang="en-US" altLang="ja-JP" dirty="0"/>
                  <a:t>) </a:t>
                </a:r>
                <a:r>
                  <a:rPr kumimoji="1" lang="ja-JP" altLang="en-US" dirty="0"/>
                  <a:t>に対し</a:t>
                </a:r>
                <a:r>
                  <a:rPr kumimoji="1" lang="en-US" altLang="ja-JP" dirty="0"/>
                  <a:t>, </a:t>
                </a:r>
                <a:r>
                  <a:rPr kumimoji="1" lang="ja-JP" altLang="en-US" dirty="0"/>
                  <a:t>特徴ベクトル </a:t>
                </a:r>
                <a14:m>
                  <m:oMath xmlns:m="http://schemas.openxmlformats.org/officeDocument/2006/math">
                    <m:sSub>
                      <m:sSubPr>
                        <m:ctrlPr>
                          <a:rPr lang="en-US" altLang="ja-JP" sz="2800" i="1" dirty="0" smtClean="0">
                            <a:latin typeface="Cambria Math" panose="02040503050406030204" pitchFamily="18" charset="0"/>
                          </a:rPr>
                        </m:ctrlPr>
                      </m:sSubPr>
                      <m:e>
                        <m:r>
                          <a:rPr lang="en-US" altLang="ja-JP" sz="2800" b="1" i="1" dirty="0" smtClean="0">
                            <a:latin typeface="Cambria Math" panose="02040503050406030204" pitchFamily="18" charset="0"/>
                          </a:rPr>
                          <m:t>𝒙</m:t>
                        </m:r>
                      </m:e>
                      <m:sub>
                        <m:r>
                          <a:rPr lang="en-US" altLang="ja-JP" sz="2800" i="1" dirty="0">
                            <a:latin typeface="Cambria Math" panose="02040503050406030204" pitchFamily="18" charset="0"/>
                          </a:rPr>
                          <m:t>𝑛</m:t>
                        </m:r>
                      </m:sub>
                    </m:sSub>
                  </m:oMath>
                </a14:m>
                <a:r>
                  <a:rPr kumimoji="1" lang="en-US" altLang="ja-JP" dirty="0"/>
                  <a:t> </a:t>
                </a:r>
                <a:r>
                  <a:rPr kumimoji="1" lang="ja-JP" altLang="en-US" dirty="0"/>
                  <a:t>から単語 </a:t>
                </a:r>
                <a:r>
                  <a:rPr kumimoji="1" lang="en-US" altLang="ja-JP" i="1" dirty="0"/>
                  <a:t>d</a:t>
                </a:r>
                <a:r>
                  <a:rPr kumimoji="1" lang="en-US" altLang="ja-JP" dirty="0"/>
                  <a:t> </a:t>
                </a:r>
              </a:p>
              <a:p>
                <a:pPr marL="0" indent="0">
                  <a:buNone/>
                </a:pPr>
                <a:r>
                  <a:rPr kumimoji="1" lang="ja-JP" altLang="en-US" dirty="0"/>
                  <a:t>の</a:t>
                </a:r>
                <a:r>
                  <a:rPr lang="en-US" altLang="ja-JP" b="1" i="1" dirty="0">
                    <a:solidFill>
                      <a:srgbClr val="C00000"/>
                    </a:solidFill>
                  </a:rPr>
                  <a:t>D </a:t>
                </a:r>
                <a:r>
                  <a:rPr lang="en-US" altLang="ja-JP" b="1" dirty="0">
                    <a:solidFill>
                      <a:srgbClr val="C00000"/>
                    </a:solidFill>
                  </a:rPr>
                  <a:t>-</a:t>
                </a:r>
                <a:r>
                  <a:rPr lang="ja-JP" altLang="en-US" b="1" dirty="0">
                    <a:solidFill>
                      <a:srgbClr val="C00000"/>
                    </a:solidFill>
                  </a:rPr>
                  <a:t>次元類似貢献度ベクトル </a:t>
                </a:r>
                <a14:m>
                  <m:oMath xmlns:m="http://schemas.openxmlformats.org/officeDocument/2006/math">
                    <m:sSub>
                      <m:sSubPr>
                        <m:ctrlPr>
                          <a:rPr lang="en-US" altLang="ja-JP" i="1" dirty="0">
                            <a:solidFill>
                              <a:srgbClr val="C00000"/>
                            </a:solidFill>
                            <a:latin typeface="Cambria Math" panose="02040503050406030204" pitchFamily="18" charset="0"/>
                          </a:rPr>
                        </m:ctrlPr>
                      </m:sSubPr>
                      <m:e>
                        <m:r>
                          <a:rPr lang="en-US" altLang="ja-JP" b="1" i="1" dirty="0" smtClean="0">
                            <a:solidFill>
                              <a:srgbClr val="C00000"/>
                            </a:solidFill>
                            <a:latin typeface="Cambria Math" panose="02040503050406030204" pitchFamily="18" charset="0"/>
                          </a:rPr>
                          <m:t>𝒚</m:t>
                        </m:r>
                      </m:e>
                      <m:sub>
                        <m:r>
                          <a:rPr lang="en-US" altLang="ja-JP" i="1" dirty="0">
                            <a:solidFill>
                              <a:srgbClr val="C00000"/>
                            </a:solidFill>
                            <a:latin typeface="Cambria Math" panose="02040503050406030204" pitchFamily="18" charset="0"/>
                          </a:rPr>
                          <m:t>𝑛</m:t>
                        </m:r>
                      </m:sub>
                    </m:sSub>
                  </m:oMath>
                </a14:m>
                <a:r>
                  <a:rPr lang="ja-JP" altLang="en-US" dirty="0"/>
                  <a:t>を算出</a:t>
                </a:r>
                <a:r>
                  <a:rPr lang="en-US" altLang="ja-JP" dirty="0"/>
                  <a:t>. </a:t>
                </a:r>
              </a:p>
              <a:p>
                <a:pPr marL="0" indent="0">
                  <a:buNone/>
                </a:pPr>
                <a:endParaRPr lang="en-US" altLang="ja-JP" dirty="0"/>
              </a:p>
              <a:p>
                <a:pPr marL="0" indent="0">
                  <a:buNone/>
                </a:pPr>
                <a14:m>
                  <m:oMath xmlns:m="http://schemas.openxmlformats.org/officeDocument/2006/math">
                    <m:sSub>
                      <m:sSubPr>
                        <m:ctrlPr>
                          <a:rPr lang="en-US" altLang="ja-JP" i="1" smtClean="0">
                            <a:latin typeface="Cambria Math" panose="02040503050406030204" pitchFamily="18" charset="0"/>
                          </a:rPr>
                        </m:ctrlPr>
                      </m:sSubPr>
                      <m:e>
                        <m:r>
                          <a:rPr lang="en-US" altLang="ja-JP" b="0" i="1" smtClean="0">
                            <a:latin typeface="Cambria Math" panose="02040503050406030204" pitchFamily="18" charset="0"/>
                          </a:rPr>
                          <m:t>𝑦</m:t>
                        </m:r>
                      </m:e>
                      <m:sub>
                        <m:r>
                          <a:rPr lang="en-US" altLang="ja-JP" b="0" i="1" smtClean="0">
                            <a:latin typeface="Cambria Math" panose="02040503050406030204" pitchFamily="18" charset="0"/>
                          </a:rPr>
                          <m:t>𝑛</m:t>
                        </m:r>
                        <m:r>
                          <a:rPr lang="en-US" altLang="ja-JP" b="0" i="1" smtClean="0">
                            <a:latin typeface="Cambria Math" panose="02040503050406030204" pitchFamily="18" charset="0"/>
                          </a:rPr>
                          <m:t>,</m:t>
                        </m:r>
                        <m:r>
                          <a:rPr lang="en-US" altLang="ja-JP" i="1">
                            <a:latin typeface="Cambria Math" panose="02040503050406030204" pitchFamily="18" charset="0"/>
                          </a:rPr>
                          <m:t>𝑑</m:t>
                        </m:r>
                      </m:sub>
                    </m:sSub>
                    <m:r>
                      <a:rPr lang="en-US" altLang="ja-JP" b="0" i="1" smtClean="0">
                        <a:latin typeface="Cambria Math" panose="02040503050406030204" pitchFamily="18" charset="0"/>
                      </a:rPr>
                      <m:t>=</m:t>
                    </m:r>
                    <m:f>
                      <m:fPr>
                        <m:ctrlPr>
                          <a:rPr lang="en-US" altLang="ja-JP" i="1" smtClean="0">
                            <a:latin typeface="Cambria Math" panose="02040503050406030204" pitchFamily="18" charset="0"/>
                          </a:rPr>
                        </m:ctrlPr>
                      </m:fPr>
                      <m:num>
                        <m:sSub>
                          <m:sSubPr>
                            <m:ctrlPr>
                              <a:rPr lang="en-US" altLang="ja-JP" i="1" smtClean="0">
                                <a:latin typeface="Cambria Math" panose="02040503050406030204" pitchFamily="18" charset="0"/>
                              </a:rPr>
                            </m:ctrlPr>
                          </m:sSubPr>
                          <m:e>
                            <m:r>
                              <a:rPr lang="en-US" altLang="ja-JP" b="0" i="1" smtClean="0">
                                <a:latin typeface="Cambria Math" panose="02040503050406030204" pitchFamily="18" charset="0"/>
                              </a:rPr>
                              <m:t>𝑞</m:t>
                            </m:r>
                          </m:e>
                          <m:sub>
                            <m:r>
                              <a:rPr lang="en-US" altLang="ja-JP" b="0" i="1" smtClean="0">
                                <a:latin typeface="Cambria Math" panose="02040503050406030204" pitchFamily="18" charset="0"/>
                              </a:rPr>
                              <m:t>𝑑</m:t>
                            </m:r>
                          </m:sub>
                        </m:sSub>
                        <m:r>
                          <a:rPr lang="en-US" altLang="ja-JP" i="1">
                            <a:latin typeface="Cambria Math" panose="02040503050406030204" pitchFamily="18" charset="0"/>
                          </a:rPr>
                          <m:t>×</m:t>
                        </m:r>
                        <m:sSub>
                          <m:sSubPr>
                            <m:ctrlPr>
                              <a:rPr lang="en-US" altLang="ja-JP" i="1" smtClean="0">
                                <a:latin typeface="Cambria Math" panose="02040503050406030204" pitchFamily="18" charset="0"/>
                              </a:rPr>
                            </m:ctrlPr>
                          </m:sSubPr>
                          <m:e>
                            <m:r>
                              <a:rPr lang="en-US" altLang="ja-JP" b="0" i="1" smtClean="0">
                                <a:latin typeface="Cambria Math" panose="02040503050406030204" pitchFamily="18" charset="0"/>
                              </a:rPr>
                              <m:t>𝑥</m:t>
                            </m:r>
                          </m:e>
                          <m:sub>
                            <m:r>
                              <a:rPr lang="en-US" altLang="ja-JP" b="0" i="1" smtClean="0">
                                <a:latin typeface="Cambria Math" panose="02040503050406030204" pitchFamily="18" charset="0"/>
                              </a:rPr>
                              <m:t>𝑛</m:t>
                            </m:r>
                            <m:r>
                              <a:rPr lang="en-US" altLang="ja-JP" b="0" i="1" smtClean="0">
                                <a:latin typeface="Cambria Math" panose="02040503050406030204" pitchFamily="18" charset="0"/>
                              </a:rPr>
                              <m:t>,</m:t>
                            </m:r>
                            <m:r>
                              <a:rPr lang="en-US" altLang="ja-JP" b="0" i="1" smtClean="0">
                                <a:latin typeface="Cambria Math" panose="02040503050406030204" pitchFamily="18" charset="0"/>
                              </a:rPr>
                              <m:t>𝑑</m:t>
                            </m:r>
                          </m:sub>
                        </m:sSub>
                      </m:num>
                      <m:den>
                        <m:sSub>
                          <m:sSubPr>
                            <m:ctrlPr>
                              <a:rPr lang="en-US" altLang="ja-JP" i="1" smtClean="0">
                                <a:latin typeface="Cambria Math" panose="02040503050406030204" pitchFamily="18" charset="0"/>
                              </a:rPr>
                            </m:ctrlPr>
                          </m:sSubPr>
                          <m:e>
                            <m:r>
                              <m:rPr>
                                <m:sty m:val="p"/>
                              </m:rPr>
                              <a:rPr lang="en-US" altLang="ja-JP" i="1">
                                <a:latin typeface="Cambria Math" panose="02040503050406030204" pitchFamily="18" charset="0"/>
                              </a:rPr>
                              <m:t>Σ</m:t>
                            </m:r>
                          </m:e>
                          <m:sub>
                            <m:sSup>
                              <m:sSupPr>
                                <m:ctrlPr>
                                  <a:rPr lang="en-US" altLang="ja-JP" i="1" smtClean="0">
                                    <a:latin typeface="Cambria Math" panose="02040503050406030204" pitchFamily="18" charset="0"/>
                                  </a:rPr>
                                </m:ctrlPr>
                              </m:sSupPr>
                              <m:e>
                                <m:r>
                                  <a:rPr lang="en-US" altLang="ja-JP" b="0" i="1" smtClean="0">
                                    <a:latin typeface="Cambria Math" panose="02040503050406030204" pitchFamily="18" charset="0"/>
                                  </a:rPr>
                                  <m:t>𝑑</m:t>
                                </m:r>
                              </m:e>
                              <m:sup>
                                <m:r>
                                  <a:rPr lang="en-US" altLang="ja-JP" b="0" i="1" smtClean="0">
                                    <a:latin typeface="Cambria Math" panose="02040503050406030204" pitchFamily="18" charset="0"/>
                                  </a:rPr>
                                  <m:t>′</m:t>
                                </m:r>
                              </m:sup>
                            </m:sSup>
                            <m:r>
                              <a:rPr lang="en-US" altLang="ja-JP" i="1" smtClean="0">
                                <a:latin typeface="Cambria Math" panose="02040503050406030204" pitchFamily="18" charset="0"/>
                                <a:ea typeface="Cambria Math" panose="02040503050406030204" pitchFamily="18" charset="0"/>
                              </a:rPr>
                              <m:t>∈</m:t>
                            </m:r>
                            <m:r>
                              <a:rPr lang="en-US" altLang="ja-JP" b="0" i="1" smtClean="0">
                                <a:latin typeface="Cambria Math" panose="02040503050406030204" pitchFamily="18" charset="0"/>
                                <a:ea typeface="Cambria Math" panose="02040503050406030204" pitchFamily="18" charset="0"/>
                              </a:rPr>
                              <m:t>𝐷</m:t>
                            </m:r>
                          </m:sub>
                        </m:sSub>
                        <m:sSub>
                          <m:sSubPr>
                            <m:ctrlPr>
                              <a:rPr lang="en-US" altLang="ja-JP" i="1" smtClean="0">
                                <a:latin typeface="Cambria Math" panose="02040503050406030204" pitchFamily="18" charset="0"/>
                              </a:rPr>
                            </m:ctrlPr>
                          </m:sSubPr>
                          <m:e>
                            <m:r>
                              <a:rPr lang="en-US" altLang="ja-JP" b="0" i="1" smtClean="0">
                                <a:latin typeface="Cambria Math" panose="02040503050406030204" pitchFamily="18" charset="0"/>
                              </a:rPr>
                              <m:t>𝑞</m:t>
                            </m:r>
                          </m:e>
                          <m:sub>
                            <m:sSup>
                              <m:sSupPr>
                                <m:ctrlPr>
                                  <a:rPr lang="en-US" altLang="ja-JP" i="1" smtClean="0">
                                    <a:latin typeface="Cambria Math" panose="02040503050406030204" pitchFamily="18" charset="0"/>
                                  </a:rPr>
                                </m:ctrlPr>
                              </m:sSupPr>
                              <m:e>
                                <m:r>
                                  <a:rPr lang="en-US" altLang="ja-JP" b="0" i="1" smtClean="0">
                                    <a:latin typeface="Cambria Math" panose="02040503050406030204" pitchFamily="18" charset="0"/>
                                  </a:rPr>
                                  <m:t>𝑑</m:t>
                                </m:r>
                              </m:e>
                              <m:sup>
                                <m:r>
                                  <a:rPr lang="en-US" altLang="ja-JP" b="0" i="1" smtClean="0">
                                    <a:latin typeface="Cambria Math" panose="02040503050406030204" pitchFamily="18" charset="0"/>
                                  </a:rPr>
                                  <m:t>′</m:t>
                                </m:r>
                              </m:sup>
                            </m:sSup>
                          </m:sub>
                        </m:sSub>
                        <m:r>
                          <a:rPr lang="en-US" altLang="ja-JP" i="1">
                            <a:latin typeface="Cambria Math" panose="02040503050406030204" pitchFamily="18" charset="0"/>
                          </a:rPr>
                          <m:t>×</m:t>
                        </m:r>
                        <m:sSub>
                          <m:sSubPr>
                            <m:ctrlPr>
                              <a:rPr lang="en-US" altLang="ja-JP" i="1" smtClean="0">
                                <a:latin typeface="Cambria Math" panose="02040503050406030204" pitchFamily="18" charset="0"/>
                              </a:rPr>
                            </m:ctrlPr>
                          </m:sSubPr>
                          <m:e>
                            <m:r>
                              <a:rPr lang="en-US" altLang="ja-JP" b="0" i="1" smtClean="0">
                                <a:latin typeface="Cambria Math" panose="02040503050406030204" pitchFamily="18" charset="0"/>
                              </a:rPr>
                              <m:t>𝑥</m:t>
                            </m:r>
                          </m:e>
                          <m:sub>
                            <m:sSup>
                              <m:sSupPr>
                                <m:ctrlPr>
                                  <a:rPr lang="en-US" altLang="ja-JP" i="1" smtClean="0">
                                    <a:latin typeface="Cambria Math" panose="02040503050406030204" pitchFamily="18" charset="0"/>
                                  </a:rPr>
                                </m:ctrlPr>
                              </m:sSupPr>
                              <m:e>
                                <m:r>
                                  <a:rPr lang="en-US" altLang="ja-JP" b="0" i="1" smtClean="0">
                                    <a:latin typeface="Cambria Math" panose="02040503050406030204" pitchFamily="18" charset="0"/>
                                  </a:rPr>
                                  <m:t>𝑛</m:t>
                                </m:r>
                                <m:r>
                                  <a:rPr lang="en-US" altLang="ja-JP" b="0" i="1" smtClean="0">
                                    <a:latin typeface="Cambria Math" panose="02040503050406030204" pitchFamily="18" charset="0"/>
                                  </a:rPr>
                                  <m:t>,</m:t>
                                </m:r>
                                <m:r>
                                  <a:rPr lang="en-US" altLang="ja-JP" b="0" i="1" smtClean="0">
                                    <a:latin typeface="Cambria Math" panose="02040503050406030204" pitchFamily="18" charset="0"/>
                                  </a:rPr>
                                  <m:t>𝑑</m:t>
                                </m:r>
                              </m:e>
                              <m:sup>
                                <m:r>
                                  <a:rPr lang="en-US" altLang="ja-JP" b="0" i="1" smtClean="0">
                                    <a:latin typeface="Cambria Math" panose="02040503050406030204" pitchFamily="18" charset="0"/>
                                  </a:rPr>
                                  <m:t>′</m:t>
                                </m:r>
                              </m:sup>
                            </m:sSup>
                          </m:sub>
                        </m:sSub>
                      </m:den>
                    </m:f>
                  </m:oMath>
                </a14:m>
                <a:r>
                  <a:rPr lang="en-US" altLang="ja-JP" dirty="0"/>
                  <a:t>   (1)   ※   </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𝑛</m:t>
                        </m:r>
                        <m:r>
                          <a:rPr lang="en-US" altLang="ja-JP" i="1">
                            <a:latin typeface="Cambria Math" panose="02040503050406030204" pitchFamily="18" charset="0"/>
                          </a:rPr>
                          <m:t>,1</m:t>
                        </m:r>
                      </m:sub>
                    </m:sSub>
                  </m:oMath>
                </a14:m>
                <a:r>
                  <a:rPr lang="en-US" altLang="ja-JP" dirty="0"/>
                  <a:t> + . . . + </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𝑛</m:t>
                        </m:r>
                        <m:r>
                          <a:rPr lang="en-US" altLang="ja-JP" i="1">
                            <a:latin typeface="Cambria Math" panose="02040503050406030204" pitchFamily="18" charset="0"/>
                          </a:rPr>
                          <m:t>,</m:t>
                        </m:r>
                        <m:r>
                          <a:rPr lang="en-US" altLang="ja-JP" b="0" i="1" smtClean="0">
                            <a:latin typeface="Cambria Math" panose="02040503050406030204" pitchFamily="18" charset="0"/>
                          </a:rPr>
                          <m:t>𝐷</m:t>
                        </m:r>
                      </m:sub>
                    </m:sSub>
                  </m:oMath>
                </a14:m>
                <a:r>
                  <a:rPr lang="en-US" altLang="ja-JP" dirty="0"/>
                  <a:t> = 1 </a:t>
                </a:r>
              </a:p>
              <a:p>
                <a:pPr marL="0" indent="0">
                  <a:buNone/>
                </a:pPr>
                <a:endParaRPr lang="en-US" altLang="ja-JP" dirty="0"/>
              </a:p>
              <a:p>
                <a:pPr marL="0" indent="0">
                  <a:buNone/>
                </a:pPr>
                <a14:m>
                  <m:oMath xmlns:m="http://schemas.openxmlformats.org/officeDocument/2006/math">
                    <m:sSub>
                      <m:sSubPr>
                        <m:ctrlPr>
                          <a:rPr lang="en-US" altLang="ja-JP" i="1" smtClean="0">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𝑛</m:t>
                        </m:r>
                        <m:r>
                          <a:rPr lang="en-US" altLang="ja-JP" i="1">
                            <a:latin typeface="Cambria Math" panose="02040503050406030204" pitchFamily="18" charset="0"/>
                          </a:rPr>
                          <m:t>,1</m:t>
                        </m:r>
                      </m:sub>
                    </m:sSub>
                  </m:oMath>
                </a14:m>
                <a:r>
                  <a:rPr lang="en-US" altLang="ja-JP" dirty="0"/>
                  <a:t> ,  . . .  , </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𝑛</m:t>
                        </m:r>
                        <m:r>
                          <a:rPr lang="en-US" altLang="ja-JP" i="1">
                            <a:latin typeface="Cambria Math" panose="02040503050406030204" pitchFamily="18" charset="0"/>
                          </a:rPr>
                          <m:t>,</m:t>
                        </m:r>
                        <m:r>
                          <a:rPr lang="en-US" altLang="ja-JP" b="0" i="1" smtClean="0">
                            <a:latin typeface="Cambria Math" panose="02040503050406030204" pitchFamily="18" charset="0"/>
                          </a:rPr>
                          <m:t>𝐷</m:t>
                        </m:r>
                      </m:sub>
                    </m:sSub>
                  </m:oMath>
                </a14:m>
                <a:r>
                  <a:rPr lang="ja-JP" altLang="en-US" dirty="0"/>
                  <a:t> の中で、</a:t>
                </a:r>
                <a:r>
                  <a:rPr lang="ja-JP" altLang="en-US" b="1" dirty="0">
                    <a:solidFill>
                      <a:srgbClr val="C00000"/>
                    </a:solidFill>
                  </a:rPr>
                  <a:t>値が最大の単語を説明語</a:t>
                </a:r>
                <a:r>
                  <a:rPr lang="ja-JP" altLang="en-US" dirty="0"/>
                  <a:t>とする</a:t>
                </a:r>
                <a:r>
                  <a:rPr lang="en-US" altLang="ja-JP" dirty="0"/>
                  <a:t>.</a:t>
                </a:r>
                <a:endParaRPr lang="ja-JP" altLang="en-US" dirty="0"/>
              </a:p>
              <a:p>
                <a:pPr marL="0" indent="0">
                  <a:buNone/>
                </a:pPr>
                <a:endParaRPr lang="en-US" altLang="ja-JP" dirty="0"/>
              </a:p>
            </p:txBody>
          </p:sp>
        </mc:Choice>
        <mc:Fallback xmlns="">
          <p:sp>
            <p:nvSpPr>
              <p:cNvPr id="3" name="コンテンツ プレースホルダー 2">
                <a:extLst>
                  <a:ext uri="{FF2B5EF4-FFF2-40B4-BE49-F238E27FC236}">
                    <a16:creationId xmlns:a16="http://schemas.microsoft.com/office/drawing/2014/main" id="{D0E43868-D0A6-CA13-58FF-1CB5FB768DC8}"/>
                  </a:ext>
                </a:extLst>
              </p:cNvPr>
              <p:cNvSpPr>
                <a:spLocks noGrp="1" noRot="1" noChangeAspect="1" noMove="1" noResize="1" noEditPoints="1" noAdjustHandles="1" noChangeArrowheads="1" noChangeShapeType="1" noTextEdit="1"/>
              </p:cNvSpPr>
              <p:nvPr>
                <p:ph idx="1"/>
              </p:nvPr>
            </p:nvSpPr>
            <p:spPr>
              <a:xfrm>
                <a:off x="838200" y="1825624"/>
                <a:ext cx="10515600" cy="4940936"/>
              </a:xfrm>
              <a:blipFill>
                <a:blip r:embed="rId4"/>
                <a:stretch>
                  <a:fillRect l="-1217" t="-2096" b="-148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72846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06BD5D-7A59-7AE1-EDDC-DDD08A0D9D8C}"/>
              </a:ext>
            </a:extLst>
          </p:cNvPr>
          <p:cNvSpPr>
            <a:spLocks noGrp="1"/>
          </p:cNvSpPr>
          <p:nvPr>
            <p:ph type="title"/>
          </p:nvPr>
        </p:nvSpPr>
        <p:spPr>
          <a:xfrm>
            <a:off x="1344385" y="314325"/>
            <a:ext cx="9503229" cy="1325563"/>
          </a:xfrm>
        </p:spPr>
        <p:txBody>
          <a:bodyPr/>
          <a:lstStyle/>
          <a:p>
            <a:r>
              <a:rPr kumimoji="1" lang="ja-JP" altLang="en-US" b="1" dirty="0"/>
              <a:t>色と説明語を付けるだけじゃ不十分！</a:t>
            </a:r>
          </a:p>
        </p:txBody>
      </p:sp>
      <p:pic>
        <p:nvPicPr>
          <p:cNvPr id="7" name="図 6">
            <a:extLst>
              <a:ext uri="{FF2B5EF4-FFF2-40B4-BE49-F238E27FC236}">
                <a16:creationId xmlns:a16="http://schemas.microsoft.com/office/drawing/2014/main" id="{487BD32A-870E-65AA-08B2-A8F9B6BAAFA5}"/>
              </a:ext>
            </a:extLst>
          </p:cNvPr>
          <p:cNvPicPr>
            <a:picLocks noChangeAspect="1"/>
          </p:cNvPicPr>
          <p:nvPr/>
        </p:nvPicPr>
        <p:blipFill>
          <a:blip r:embed="rId3"/>
          <a:stretch>
            <a:fillRect/>
          </a:stretch>
        </p:blipFill>
        <p:spPr>
          <a:xfrm>
            <a:off x="1044341" y="1842743"/>
            <a:ext cx="3454578" cy="387370"/>
          </a:xfrm>
          <a:prstGeom prst="rect">
            <a:avLst/>
          </a:prstGeom>
        </p:spPr>
      </p:pic>
      <p:pic>
        <p:nvPicPr>
          <p:cNvPr id="13" name="図 12">
            <a:extLst>
              <a:ext uri="{FF2B5EF4-FFF2-40B4-BE49-F238E27FC236}">
                <a16:creationId xmlns:a16="http://schemas.microsoft.com/office/drawing/2014/main" id="{BB9710C4-71DF-4C1E-FB76-C633B8496C5F}"/>
              </a:ext>
            </a:extLst>
          </p:cNvPr>
          <p:cNvPicPr>
            <a:picLocks noChangeAspect="1"/>
          </p:cNvPicPr>
          <p:nvPr/>
        </p:nvPicPr>
        <p:blipFill>
          <a:blip r:embed="rId4"/>
          <a:stretch>
            <a:fillRect/>
          </a:stretch>
        </p:blipFill>
        <p:spPr>
          <a:xfrm>
            <a:off x="2771630" y="2293663"/>
            <a:ext cx="7190729" cy="4108988"/>
          </a:xfrm>
          <a:prstGeom prst="rect">
            <a:avLst/>
          </a:prstGeom>
        </p:spPr>
      </p:pic>
      <p:sp>
        <p:nvSpPr>
          <p:cNvPr id="14" name="吹き出し: 円形 13">
            <a:extLst>
              <a:ext uri="{FF2B5EF4-FFF2-40B4-BE49-F238E27FC236}">
                <a16:creationId xmlns:a16="http://schemas.microsoft.com/office/drawing/2014/main" id="{F98C15A3-46A6-BD44-9103-3411C9421926}"/>
              </a:ext>
            </a:extLst>
          </p:cNvPr>
          <p:cNvSpPr/>
          <p:nvPr/>
        </p:nvSpPr>
        <p:spPr>
          <a:xfrm>
            <a:off x="9410703" y="2923674"/>
            <a:ext cx="2577491" cy="1010652"/>
          </a:xfrm>
          <a:prstGeom prst="wedgeEllipseCallout">
            <a:avLst/>
          </a:prstGeom>
          <a:solidFill>
            <a:schemeClr val="accent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b="1" dirty="0">
                <a:solidFill>
                  <a:schemeClr val="tx1"/>
                </a:solidFill>
              </a:rPr>
              <a:t>配置がバラバラ</a:t>
            </a:r>
            <a:endParaRPr lang="en-US" altLang="ja-JP" b="1" dirty="0">
              <a:solidFill>
                <a:schemeClr val="tx1"/>
              </a:solidFill>
            </a:endParaRPr>
          </a:p>
        </p:txBody>
      </p:sp>
      <p:sp>
        <p:nvSpPr>
          <p:cNvPr id="16" name="正方形/長方形 15">
            <a:extLst>
              <a:ext uri="{FF2B5EF4-FFF2-40B4-BE49-F238E27FC236}">
                <a16:creationId xmlns:a16="http://schemas.microsoft.com/office/drawing/2014/main" id="{D7A75511-0F40-A11E-61C5-F412508B76F1}"/>
              </a:ext>
            </a:extLst>
          </p:cNvPr>
          <p:cNvSpPr/>
          <p:nvPr/>
        </p:nvSpPr>
        <p:spPr>
          <a:xfrm>
            <a:off x="203806" y="3338412"/>
            <a:ext cx="2281158" cy="14732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b="1" dirty="0"/>
              <a:t>画面の外側に</a:t>
            </a:r>
            <a:endParaRPr kumimoji="1" lang="en-US" altLang="ja-JP" b="1" dirty="0"/>
          </a:p>
          <a:p>
            <a:pPr algn="ctr"/>
            <a:r>
              <a:rPr kumimoji="1" lang="ja-JP" altLang="en-US" b="1" dirty="0"/>
              <a:t>描画してしまう！</a:t>
            </a:r>
          </a:p>
        </p:txBody>
      </p:sp>
    </p:spTree>
    <p:extLst>
      <p:ext uri="{BB962C8B-B14F-4D97-AF65-F5344CB8AC3E}">
        <p14:creationId xmlns:p14="http://schemas.microsoft.com/office/powerpoint/2010/main" val="744807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16" name="フローチャート: 結合子 15">
            <a:extLst>
              <a:ext uri="{FF2B5EF4-FFF2-40B4-BE49-F238E27FC236}">
                <a16:creationId xmlns:a16="http://schemas.microsoft.com/office/drawing/2014/main" id="{C9AEAAEB-3568-FE68-A61E-2C37B1DB356D}"/>
              </a:ext>
            </a:extLst>
          </p:cNvPr>
          <p:cNvSpPr/>
          <p:nvPr/>
        </p:nvSpPr>
        <p:spPr>
          <a:xfrm>
            <a:off x="472540" y="4055126"/>
            <a:ext cx="1430039" cy="1439958"/>
          </a:xfrm>
          <a:prstGeom prst="flowChartConnector">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店</a:t>
            </a:r>
            <a:endParaRPr kumimoji="1" lang="ja-JP" altLang="en-US" b="1" dirty="0">
              <a:solidFill>
                <a:schemeClr val="tx1"/>
              </a:solidFill>
            </a:endParaRPr>
          </a:p>
        </p:txBody>
      </p:sp>
      <p:sp>
        <p:nvSpPr>
          <p:cNvPr id="2" name="タイトル 1">
            <a:extLst>
              <a:ext uri="{FF2B5EF4-FFF2-40B4-BE49-F238E27FC236}">
                <a16:creationId xmlns:a16="http://schemas.microsoft.com/office/drawing/2014/main" id="{DC860EDF-5F89-5D44-D5FD-DB71EA324F18}"/>
              </a:ext>
            </a:extLst>
          </p:cNvPr>
          <p:cNvSpPr>
            <a:spLocks noGrp="1"/>
          </p:cNvSpPr>
          <p:nvPr>
            <p:ph type="title"/>
          </p:nvPr>
        </p:nvSpPr>
        <p:spPr/>
        <p:txBody>
          <a:bodyPr/>
          <a:lstStyle/>
          <a:p>
            <a:r>
              <a:rPr kumimoji="1" lang="ja-JP" altLang="en-US" b="1" dirty="0">
                <a:solidFill>
                  <a:srgbClr val="0070C0"/>
                </a:solidFill>
              </a:rPr>
              <a:t>グラフ構築</a:t>
            </a:r>
          </a:p>
        </p:txBody>
      </p:sp>
      <p:sp>
        <p:nvSpPr>
          <p:cNvPr id="3" name="コンテンツ プレースホルダー 2">
            <a:extLst>
              <a:ext uri="{FF2B5EF4-FFF2-40B4-BE49-F238E27FC236}">
                <a16:creationId xmlns:a16="http://schemas.microsoft.com/office/drawing/2014/main" id="{B62D23D3-CE86-EB00-AB47-9C6C793093AB}"/>
              </a:ext>
            </a:extLst>
          </p:cNvPr>
          <p:cNvSpPr>
            <a:spLocks noGrp="1"/>
          </p:cNvSpPr>
          <p:nvPr>
            <p:ph idx="1"/>
          </p:nvPr>
        </p:nvSpPr>
        <p:spPr>
          <a:xfrm>
            <a:off x="838200" y="1553602"/>
            <a:ext cx="10515600" cy="4623361"/>
          </a:xfrm>
        </p:spPr>
        <p:txBody>
          <a:bodyPr/>
          <a:lstStyle/>
          <a:p>
            <a:pPr marL="0" indent="0">
              <a:buNone/>
            </a:pPr>
            <a:r>
              <a:rPr kumimoji="1" lang="ja-JP" altLang="en-US" dirty="0"/>
              <a:t>似ている文書同士</a:t>
            </a:r>
            <a:r>
              <a:rPr lang="ja-JP" altLang="en-US" dirty="0"/>
              <a:t>を</a:t>
            </a:r>
            <a:r>
              <a:rPr kumimoji="1" lang="ja-JP" altLang="en-US" b="1" dirty="0">
                <a:solidFill>
                  <a:srgbClr val="C00000"/>
                </a:solidFill>
              </a:rPr>
              <a:t>近くに配置</a:t>
            </a:r>
            <a:r>
              <a:rPr lang="ja-JP" altLang="en-US" dirty="0"/>
              <a:t>し</a:t>
            </a:r>
            <a:r>
              <a:rPr kumimoji="1" lang="ja-JP" altLang="en-US" dirty="0"/>
              <a:t>て線を繋ぐ</a:t>
            </a:r>
            <a:r>
              <a:rPr kumimoji="1" lang="en-US" altLang="ja-JP" dirty="0"/>
              <a:t>.</a:t>
            </a:r>
            <a:endParaRPr kumimoji="1" lang="ja-JP" altLang="en-US" dirty="0"/>
          </a:p>
        </p:txBody>
      </p:sp>
      <p:sp>
        <p:nvSpPr>
          <p:cNvPr id="5" name="フローチャート: 結合子 4">
            <a:extLst>
              <a:ext uri="{FF2B5EF4-FFF2-40B4-BE49-F238E27FC236}">
                <a16:creationId xmlns:a16="http://schemas.microsoft.com/office/drawing/2014/main" id="{22D1E114-FB4D-1567-B492-984C80B0F5D4}"/>
              </a:ext>
            </a:extLst>
          </p:cNvPr>
          <p:cNvSpPr/>
          <p:nvPr/>
        </p:nvSpPr>
        <p:spPr>
          <a:xfrm>
            <a:off x="3196661" y="5215062"/>
            <a:ext cx="1430039" cy="1439958"/>
          </a:xfrm>
          <a:prstGeom prst="flowChartConnector">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店</a:t>
            </a:r>
            <a:endParaRPr kumimoji="1" lang="ja-JP" altLang="en-US" b="1" dirty="0">
              <a:solidFill>
                <a:schemeClr val="tx1"/>
              </a:solidFill>
            </a:endParaRPr>
          </a:p>
        </p:txBody>
      </p:sp>
      <p:sp>
        <p:nvSpPr>
          <p:cNvPr id="6" name="フローチャート: 結合子 5">
            <a:extLst>
              <a:ext uri="{FF2B5EF4-FFF2-40B4-BE49-F238E27FC236}">
                <a16:creationId xmlns:a16="http://schemas.microsoft.com/office/drawing/2014/main" id="{46BBC9E5-C832-F375-CF6B-44BB6AD25F3E}"/>
              </a:ext>
            </a:extLst>
          </p:cNvPr>
          <p:cNvSpPr/>
          <p:nvPr/>
        </p:nvSpPr>
        <p:spPr>
          <a:xfrm>
            <a:off x="5524254" y="2419230"/>
            <a:ext cx="1430039" cy="1439958"/>
          </a:xfrm>
          <a:prstGeom prst="flowChartConnector">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クルマ</a:t>
            </a:r>
            <a:endParaRPr kumimoji="1" lang="ja-JP" altLang="en-US" b="1" dirty="0">
              <a:solidFill>
                <a:schemeClr val="tx1"/>
              </a:solidFill>
            </a:endParaRPr>
          </a:p>
        </p:txBody>
      </p:sp>
      <p:sp>
        <p:nvSpPr>
          <p:cNvPr id="7" name="フローチャート: 結合子 6">
            <a:extLst>
              <a:ext uri="{FF2B5EF4-FFF2-40B4-BE49-F238E27FC236}">
                <a16:creationId xmlns:a16="http://schemas.microsoft.com/office/drawing/2014/main" id="{865B1FC8-8ED5-0AD0-684A-F718AA43A987}"/>
              </a:ext>
            </a:extLst>
          </p:cNvPr>
          <p:cNvSpPr/>
          <p:nvPr/>
        </p:nvSpPr>
        <p:spPr>
          <a:xfrm>
            <a:off x="5987405" y="4341554"/>
            <a:ext cx="1430039" cy="1439958"/>
          </a:xfrm>
          <a:prstGeom prst="flowChartConnector">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cm</a:t>
            </a:r>
            <a:endParaRPr kumimoji="1" lang="ja-JP" altLang="en-US" b="1" dirty="0">
              <a:solidFill>
                <a:schemeClr val="tx1"/>
              </a:solidFill>
            </a:endParaRPr>
          </a:p>
        </p:txBody>
      </p:sp>
      <p:sp>
        <p:nvSpPr>
          <p:cNvPr id="8" name="フローチャート: 結合子 7">
            <a:extLst>
              <a:ext uri="{FF2B5EF4-FFF2-40B4-BE49-F238E27FC236}">
                <a16:creationId xmlns:a16="http://schemas.microsoft.com/office/drawing/2014/main" id="{6FBB1EE3-65EA-D603-2A81-72D175FE6DE1}"/>
              </a:ext>
            </a:extLst>
          </p:cNvPr>
          <p:cNvSpPr/>
          <p:nvPr/>
        </p:nvSpPr>
        <p:spPr>
          <a:xfrm>
            <a:off x="10483308" y="1660000"/>
            <a:ext cx="1430039" cy="1439958"/>
          </a:xfrm>
          <a:prstGeom prst="flowChartConnector">
            <a:avLst/>
          </a:prstGeom>
          <a:solidFill>
            <a:srgbClr val="E20E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ゆるキャラ</a:t>
            </a:r>
          </a:p>
        </p:txBody>
      </p:sp>
      <p:sp>
        <p:nvSpPr>
          <p:cNvPr id="9" name="フローチャート: 結合子 8">
            <a:extLst>
              <a:ext uri="{FF2B5EF4-FFF2-40B4-BE49-F238E27FC236}">
                <a16:creationId xmlns:a16="http://schemas.microsoft.com/office/drawing/2014/main" id="{146646A6-8937-81EE-8B06-82F8696EE3C9}"/>
              </a:ext>
            </a:extLst>
          </p:cNvPr>
          <p:cNvSpPr/>
          <p:nvPr/>
        </p:nvSpPr>
        <p:spPr>
          <a:xfrm>
            <a:off x="10372762" y="4582988"/>
            <a:ext cx="1430039" cy="1439958"/>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ダイ</a:t>
            </a:r>
            <a:endParaRPr kumimoji="1" lang="en-US" altLang="ja-JP" b="1" dirty="0">
              <a:solidFill>
                <a:schemeClr val="tx1"/>
              </a:solidFill>
            </a:endParaRPr>
          </a:p>
          <a:p>
            <a:pPr algn="ctr"/>
            <a:r>
              <a:rPr kumimoji="1" lang="ja-JP" altLang="en-US" b="1" dirty="0">
                <a:solidFill>
                  <a:schemeClr val="tx1"/>
                </a:solidFill>
              </a:rPr>
              <a:t>ハツ</a:t>
            </a:r>
          </a:p>
        </p:txBody>
      </p:sp>
      <p:sp>
        <p:nvSpPr>
          <p:cNvPr id="17" name="フローチャート: 処理 16">
            <a:extLst>
              <a:ext uri="{FF2B5EF4-FFF2-40B4-BE49-F238E27FC236}">
                <a16:creationId xmlns:a16="http://schemas.microsoft.com/office/drawing/2014/main" id="{1711AA31-DB63-F850-DBA0-1C9CB8EBC249}"/>
              </a:ext>
            </a:extLst>
          </p:cNvPr>
          <p:cNvSpPr/>
          <p:nvPr/>
        </p:nvSpPr>
        <p:spPr>
          <a:xfrm rot="1582975">
            <a:off x="1793508" y="5292510"/>
            <a:ext cx="1491718" cy="166222"/>
          </a:xfrm>
          <a:prstGeom prst="flowChartProcess">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フローチャート: 処理 17">
            <a:extLst>
              <a:ext uri="{FF2B5EF4-FFF2-40B4-BE49-F238E27FC236}">
                <a16:creationId xmlns:a16="http://schemas.microsoft.com/office/drawing/2014/main" id="{706F0F3D-1BE7-0761-7B2F-65FCB73E4F03}"/>
              </a:ext>
            </a:extLst>
          </p:cNvPr>
          <p:cNvSpPr/>
          <p:nvPr/>
        </p:nvSpPr>
        <p:spPr>
          <a:xfrm rot="6825346">
            <a:off x="2100583" y="4505143"/>
            <a:ext cx="1491718" cy="166222"/>
          </a:xfrm>
          <a:prstGeom prst="flowChartProcess">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フローチャート: 結合子 18">
            <a:extLst>
              <a:ext uri="{FF2B5EF4-FFF2-40B4-BE49-F238E27FC236}">
                <a16:creationId xmlns:a16="http://schemas.microsoft.com/office/drawing/2014/main" id="{C14B7553-49D6-DA03-E037-E96AAAC48455}"/>
              </a:ext>
            </a:extLst>
          </p:cNvPr>
          <p:cNvSpPr/>
          <p:nvPr/>
        </p:nvSpPr>
        <p:spPr>
          <a:xfrm>
            <a:off x="2833236" y="2565777"/>
            <a:ext cx="1430039" cy="1439958"/>
          </a:xfrm>
          <a:prstGeom prst="flowChartConnector">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店</a:t>
            </a:r>
            <a:endParaRPr kumimoji="1" lang="ja-JP" altLang="en-US" b="1" dirty="0">
              <a:solidFill>
                <a:schemeClr val="tx1"/>
              </a:solidFill>
            </a:endParaRPr>
          </a:p>
        </p:txBody>
      </p:sp>
      <p:sp>
        <p:nvSpPr>
          <p:cNvPr id="20" name="フローチャート: 処理 19">
            <a:extLst>
              <a:ext uri="{FF2B5EF4-FFF2-40B4-BE49-F238E27FC236}">
                <a16:creationId xmlns:a16="http://schemas.microsoft.com/office/drawing/2014/main" id="{28512681-7073-79DF-0A86-AA719896045C}"/>
              </a:ext>
            </a:extLst>
          </p:cNvPr>
          <p:cNvSpPr/>
          <p:nvPr/>
        </p:nvSpPr>
        <p:spPr>
          <a:xfrm rot="20203823">
            <a:off x="4607589" y="5590865"/>
            <a:ext cx="1491718" cy="166222"/>
          </a:xfrm>
          <a:prstGeom prst="flowChartProcess">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フローチャート: 結合子 20">
            <a:extLst>
              <a:ext uri="{FF2B5EF4-FFF2-40B4-BE49-F238E27FC236}">
                <a16:creationId xmlns:a16="http://schemas.microsoft.com/office/drawing/2014/main" id="{BB416CBD-12C5-46E7-1C00-F5EB7D28DB24}"/>
              </a:ext>
            </a:extLst>
          </p:cNvPr>
          <p:cNvSpPr/>
          <p:nvPr/>
        </p:nvSpPr>
        <p:spPr>
          <a:xfrm>
            <a:off x="8731134" y="5359976"/>
            <a:ext cx="1430039" cy="1439958"/>
          </a:xfrm>
          <a:prstGeom prst="flowChartConnector">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cm</a:t>
            </a:r>
            <a:endParaRPr kumimoji="1" lang="ja-JP" altLang="en-US" b="1" dirty="0">
              <a:solidFill>
                <a:schemeClr val="tx1"/>
              </a:solidFill>
            </a:endParaRPr>
          </a:p>
        </p:txBody>
      </p:sp>
      <p:sp>
        <p:nvSpPr>
          <p:cNvPr id="22" name="フローチャート: 結合子 21">
            <a:extLst>
              <a:ext uri="{FF2B5EF4-FFF2-40B4-BE49-F238E27FC236}">
                <a16:creationId xmlns:a16="http://schemas.microsoft.com/office/drawing/2014/main" id="{9E326314-1E27-1CBB-41DF-EA1FA094E0E8}"/>
              </a:ext>
            </a:extLst>
          </p:cNvPr>
          <p:cNvSpPr/>
          <p:nvPr/>
        </p:nvSpPr>
        <p:spPr>
          <a:xfrm>
            <a:off x="8439027" y="2419230"/>
            <a:ext cx="1430039" cy="1439958"/>
          </a:xfrm>
          <a:prstGeom prst="flowChartConnector">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クルマ</a:t>
            </a:r>
            <a:endParaRPr kumimoji="1" lang="ja-JP" altLang="en-US" b="1" dirty="0">
              <a:solidFill>
                <a:schemeClr val="tx1"/>
              </a:solidFill>
            </a:endParaRPr>
          </a:p>
        </p:txBody>
      </p:sp>
      <p:sp>
        <p:nvSpPr>
          <p:cNvPr id="23" name="フローチャート: 処理 22">
            <a:extLst>
              <a:ext uri="{FF2B5EF4-FFF2-40B4-BE49-F238E27FC236}">
                <a16:creationId xmlns:a16="http://schemas.microsoft.com/office/drawing/2014/main" id="{5BE959E8-72D1-4C27-2FF6-44970FECDF4D}"/>
              </a:ext>
            </a:extLst>
          </p:cNvPr>
          <p:cNvSpPr/>
          <p:nvPr/>
        </p:nvSpPr>
        <p:spPr>
          <a:xfrm rot="1597116">
            <a:off x="7281232" y="5611072"/>
            <a:ext cx="1491718" cy="166222"/>
          </a:xfrm>
          <a:prstGeom prst="flowChartProcess">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フローチャート: 処理 23">
            <a:extLst>
              <a:ext uri="{FF2B5EF4-FFF2-40B4-BE49-F238E27FC236}">
                <a16:creationId xmlns:a16="http://schemas.microsoft.com/office/drawing/2014/main" id="{0AB1CDF2-6789-E9E2-2B2C-570D3CF124A8}"/>
              </a:ext>
            </a:extLst>
          </p:cNvPr>
          <p:cNvSpPr/>
          <p:nvPr/>
        </p:nvSpPr>
        <p:spPr>
          <a:xfrm>
            <a:off x="6954293" y="3099958"/>
            <a:ext cx="1491718" cy="166222"/>
          </a:xfrm>
          <a:prstGeom prst="flowChartProcess">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フローチャート: 処理 24">
            <a:extLst>
              <a:ext uri="{FF2B5EF4-FFF2-40B4-BE49-F238E27FC236}">
                <a16:creationId xmlns:a16="http://schemas.microsoft.com/office/drawing/2014/main" id="{BAA44E57-2D31-7BE0-0D0F-BC4A639BD324}"/>
              </a:ext>
            </a:extLst>
          </p:cNvPr>
          <p:cNvSpPr/>
          <p:nvPr/>
        </p:nvSpPr>
        <p:spPr>
          <a:xfrm rot="2812219">
            <a:off x="9375055" y="4140371"/>
            <a:ext cx="1491718" cy="166222"/>
          </a:xfrm>
          <a:prstGeom prst="flowChartProcess">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フローチャート: 処理 25">
            <a:extLst>
              <a:ext uri="{FF2B5EF4-FFF2-40B4-BE49-F238E27FC236}">
                <a16:creationId xmlns:a16="http://schemas.microsoft.com/office/drawing/2014/main" id="{0884D7A1-DA88-4CBA-470D-F65EDF1FAA54}"/>
              </a:ext>
            </a:extLst>
          </p:cNvPr>
          <p:cNvSpPr/>
          <p:nvPr/>
        </p:nvSpPr>
        <p:spPr>
          <a:xfrm rot="16200000">
            <a:off x="10452469" y="3762706"/>
            <a:ext cx="1491718" cy="166222"/>
          </a:xfrm>
          <a:prstGeom prst="flowChartProcess">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フローチャート: 処理 26">
            <a:extLst>
              <a:ext uri="{FF2B5EF4-FFF2-40B4-BE49-F238E27FC236}">
                <a16:creationId xmlns:a16="http://schemas.microsoft.com/office/drawing/2014/main" id="{6363499B-D7FC-7F76-12E9-463BA772AA52}"/>
              </a:ext>
            </a:extLst>
          </p:cNvPr>
          <p:cNvSpPr/>
          <p:nvPr/>
        </p:nvSpPr>
        <p:spPr>
          <a:xfrm rot="20203823">
            <a:off x="10075334" y="6177443"/>
            <a:ext cx="1014329" cy="161958"/>
          </a:xfrm>
          <a:prstGeom prst="flowChartProcess">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フローチャート: 処理 27">
            <a:extLst>
              <a:ext uri="{FF2B5EF4-FFF2-40B4-BE49-F238E27FC236}">
                <a16:creationId xmlns:a16="http://schemas.microsoft.com/office/drawing/2014/main" id="{9A18D4E9-4ACA-E19B-F5AA-3AC302A4380F}"/>
              </a:ext>
            </a:extLst>
          </p:cNvPr>
          <p:cNvSpPr/>
          <p:nvPr/>
        </p:nvSpPr>
        <p:spPr>
          <a:xfrm rot="15840603">
            <a:off x="6224030" y="4013205"/>
            <a:ext cx="535509" cy="138571"/>
          </a:xfrm>
          <a:prstGeom prst="flowChartProcess">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ローチャート: 処理 3">
            <a:extLst>
              <a:ext uri="{FF2B5EF4-FFF2-40B4-BE49-F238E27FC236}">
                <a16:creationId xmlns:a16="http://schemas.microsoft.com/office/drawing/2014/main" id="{3DD5A757-D973-F140-4270-DE4A617835B7}"/>
              </a:ext>
            </a:extLst>
          </p:cNvPr>
          <p:cNvSpPr/>
          <p:nvPr/>
        </p:nvSpPr>
        <p:spPr>
          <a:xfrm>
            <a:off x="4267197" y="3126955"/>
            <a:ext cx="1253135" cy="160424"/>
          </a:xfrm>
          <a:prstGeom prst="flowChartProcess">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A214EAB7-2C35-0D87-8936-996908016782}"/>
              </a:ext>
            </a:extLst>
          </p:cNvPr>
          <p:cNvSpPr/>
          <p:nvPr/>
        </p:nvSpPr>
        <p:spPr>
          <a:xfrm>
            <a:off x="397173" y="2559706"/>
            <a:ext cx="1821821" cy="90118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dirty="0"/>
              <a:t>画面の枠内に</a:t>
            </a:r>
            <a:endParaRPr kumimoji="1" lang="en-US" altLang="ja-JP" dirty="0"/>
          </a:p>
          <a:p>
            <a:pPr algn="ctr"/>
            <a:r>
              <a:rPr kumimoji="1" lang="ja-JP" altLang="en-US" dirty="0"/>
              <a:t>座標を指定！</a:t>
            </a:r>
          </a:p>
        </p:txBody>
      </p:sp>
    </p:spTree>
    <p:extLst>
      <p:ext uri="{BB962C8B-B14F-4D97-AF65-F5344CB8AC3E}">
        <p14:creationId xmlns:p14="http://schemas.microsoft.com/office/powerpoint/2010/main" val="2259238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コンテンツ プレースホルダー 3" descr="ダイアグラム&#10;&#10;自動的に生成された説明">
            <a:extLst>
              <a:ext uri="{FF2B5EF4-FFF2-40B4-BE49-F238E27FC236}">
                <a16:creationId xmlns:a16="http://schemas.microsoft.com/office/drawing/2014/main" id="{6C8CDFD3-1C3B-8026-DC01-3AD8A507F8A8}"/>
              </a:ext>
            </a:extLst>
          </p:cNvPr>
          <p:cNvPicPr>
            <a:picLocks noGrp="1" noChangeAspect="1"/>
          </p:cNvPicPr>
          <p:nvPr>
            <p:ph idx="1"/>
          </p:nvPr>
        </p:nvPicPr>
        <p:blipFill>
          <a:blip r:embed="rId3"/>
          <a:stretch>
            <a:fillRect/>
          </a:stretch>
        </p:blipFill>
        <p:spPr>
          <a:xfrm>
            <a:off x="1313311" y="33291"/>
            <a:ext cx="9565377" cy="6791418"/>
          </a:xfrm>
          <a:prstGeom prst="rect">
            <a:avLst/>
          </a:prstGeom>
        </p:spPr>
      </p:pic>
      <p:sp>
        <p:nvSpPr>
          <p:cNvPr id="6" name="矢印: 下 5">
            <a:extLst>
              <a:ext uri="{FF2B5EF4-FFF2-40B4-BE49-F238E27FC236}">
                <a16:creationId xmlns:a16="http://schemas.microsoft.com/office/drawing/2014/main" id="{8CBD54C0-6353-9914-F31E-951D68A59ED8}"/>
              </a:ext>
            </a:extLst>
          </p:cNvPr>
          <p:cNvSpPr/>
          <p:nvPr/>
        </p:nvSpPr>
        <p:spPr>
          <a:xfrm rot="3019491">
            <a:off x="4041510" y="293168"/>
            <a:ext cx="664157" cy="112380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7D1038E-E9B2-4959-79C3-F75FC0A2B74A}"/>
              </a:ext>
            </a:extLst>
          </p:cNvPr>
          <p:cNvSpPr/>
          <p:nvPr/>
        </p:nvSpPr>
        <p:spPr>
          <a:xfrm>
            <a:off x="5018082" y="89132"/>
            <a:ext cx="2575724" cy="692645"/>
          </a:xfrm>
          <a:prstGeom prst="rect">
            <a:avLst/>
          </a:prstGeom>
          <a:solidFill>
            <a:srgbClr val="FFC00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b="1" dirty="0">
                <a:solidFill>
                  <a:schemeClr val="tx1"/>
                </a:solidFill>
              </a:rPr>
              <a:t>文書検索＆グラフ構築</a:t>
            </a:r>
          </a:p>
        </p:txBody>
      </p:sp>
      <p:sp>
        <p:nvSpPr>
          <p:cNvPr id="8" name="矢印: 下 7">
            <a:extLst>
              <a:ext uri="{FF2B5EF4-FFF2-40B4-BE49-F238E27FC236}">
                <a16:creationId xmlns:a16="http://schemas.microsoft.com/office/drawing/2014/main" id="{78B6D74F-01EA-FD8A-2EF1-F1158A570A13}"/>
              </a:ext>
            </a:extLst>
          </p:cNvPr>
          <p:cNvSpPr/>
          <p:nvPr/>
        </p:nvSpPr>
        <p:spPr>
          <a:xfrm rot="9019561">
            <a:off x="6804488" y="4882367"/>
            <a:ext cx="664157" cy="112380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3DFE7FCD-875F-18E3-D077-DBE94A09570F}"/>
              </a:ext>
            </a:extLst>
          </p:cNvPr>
          <p:cNvSpPr/>
          <p:nvPr/>
        </p:nvSpPr>
        <p:spPr>
          <a:xfrm>
            <a:off x="7473932" y="6000158"/>
            <a:ext cx="2472786" cy="692645"/>
          </a:xfrm>
          <a:prstGeom prst="rect">
            <a:avLst/>
          </a:prstGeom>
          <a:solidFill>
            <a:srgbClr val="FFC00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b="1" dirty="0">
                <a:solidFill>
                  <a:schemeClr val="tx1"/>
                </a:solidFill>
              </a:rPr>
              <a:t>可視化グラフを描画</a:t>
            </a:r>
          </a:p>
        </p:txBody>
      </p:sp>
      <p:sp>
        <p:nvSpPr>
          <p:cNvPr id="11" name="矢印: 下 10">
            <a:extLst>
              <a:ext uri="{FF2B5EF4-FFF2-40B4-BE49-F238E27FC236}">
                <a16:creationId xmlns:a16="http://schemas.microsoft.com/office/drawing/2014/main" id="{A4ECAB61-DD14-B417-17CE-27BC94699C8A}"/>
              </a:ext>
            </a:extLst>
          </p:cNvPr>
          <p:cNvSpPr/>
          <p:nvPr/>
        </p:nvSpPr>
        <p:spPr>
          <a:xfrm rot="953030">
            <a:off x="9614640" y="1940588"/>
            <a:ext cx="664157" cy="170837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B08D3E4B-E42F-FF6A-4B65-4EC83892E858}"/>
              </a:ext>
            </a:extLst>
          </p:cNvPr>
          <p:cNvSpPr/>
          <p:nvPr/>
        </p:nvSpPr>
        <p:spPr>
          <a:xfrm>
            <a:off x="9212666" y="1189670"/>
            <a:ext cx="2700156" cy="69264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dirty="0"/>
              <a:t>クエリ文書を形態素解析</a:t>
            </a:r>
          </a:p>
        </p:txBody>
      </p:sp>
    </p:spTree>
    <p:extLst>
      <p:ext uri="{BB962C8B-B14F-4D97-AF65-F5344CB8AC3E}">
        <p14:creationId xmlns:p14="http://schemas.microsoft.com/office/powerpoint/2010/main" val="129765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7B8FF0C1-03EC-62CF-8144-88B8A614D6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2332BEE-F2F4-0176-D6CD-3445E7FA091F}"/>
              </a:ext>
            </a:extLst>
          </p:cNvPr>
          <p:cNvSpPr>
            <a:spLocks noGrp="1"/>
          </p:cNvSpPr>
          <p:nvPr>
            <p:ph type="title"/>
          </p:nvPr>
        </p:nvSpPr>
        <p:spPr>
          <a:xfrm>
            <a:off x="173166" y="83502"/>
            <a:ext cx="8506707" cy="1325563"/>
          </a:xfrm>
        </p:spPr>
        <p:txBody>
          <a:bodyPr/>
          <a:lstStyle/>
          <a:p>
            <a:r>
              <a:rPr kumimoji="1" lang="ja-JP" altLang="en-US" b="1" dirty="0"/>
              <a:t>可視化ブラウジングツールの提案</a:t>
            </a:r>
          </a:p>
        </p:txBody>
      </p:sp>
      <p:sp>
        <p:nvSpPr>
          <p:cNvPr id="3" name="コンテンツ プレースホルダー 2">
            <a:extLst>
              <a:ext uri="{FF2B5EF4-FFF2-40B4-BE49-F238E27FC236}">
                <a16:creationId xmlns:a16="http://schemas.microsoft.com/office/drawing/2014/main" id="{1FF8F379-A930-3E6F-76FC-5A4DE854B4B3}"/>
              </a:ext>
            </a:extLst>
          </p:cNvPr>
          <p:cNvSpPr>
            <a:spLocks noGrp="1"/>
          </p:cNvSpPr>
          <p:nvPr>
            <p:ph idx="1"/>
          </p:nvPr>
        </p:nvSpPr>
        <p:spPr>
          <a:xfrm>
            <a:off x="106706" y="1326911"/>
            <a:ext cx="11781059" cy="4643796"/>
          </a:xfrm>
        </p:spPr>
        <p:txBody>
          <a:bodyPr/>
          <a:lstStyle/>
          <a:p>
            <a:pPr marL="0" indent="0">
              <a:buNone/>
            </a:pPr>
            <a:r>
              <a:rPr kumimoji="1" lang="ja-JP" altLang="en-US" dirty="0"/>
              <a:t>検索結果文書の</a:t>
            </a:r>
            <a:r>
              <a:rPr kumimoji="1" lang="ja-JP" altLang="en-US" b="1" dirty="0">
                <a:solidFill>
                  <a:srgbClr val="C00000"/>
                </a:solidFill>
              </a:rPr>
              <a:t>全体像を容易に把握可能</a:t>
            </a:r>
            <a:r>
              <a:rPr kumimoji="1" lang="en-US" altLang="ja-JP" dirty="0"/>
              <a:t>.</a:t>
            </a:r>
            <a:endParaRPr kumimoji="1" lang="en-US" altLang="ja-JP" sz="2800" dirty="0"/>
          </a:p>
        </p:txBody>
      </p:sp>
      <p:sp>
        <p:nvSpPr>
          <p:cNvPr id="4" name="楕円 3">
            <a:extLst>
              <a:ext uri="{FF2B5EF4-FFF2-40B4-BE49-F238E27FC236}">
                <a16:creationId xmlns:a16="http://schemas.microsoft.com/office/drawing/2014/main" id="{DAF40710-3E0B-6BBA-6255-7161F359B2C1}"/>
              </a:ext>
            </a:extLst>
          </p:cNvPr>
          <p:cNvSpPr/>
          <p:nvPr/>
        </p:nvSpPr>
        <p:spPr>
          <a:xfrm>
            <a:off x="435854" y="5531089"/>
            <a:ext cx="2845042" cy="10106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文書を一つ</a:t>
            </a:r>
            <a:endParaRPr kumimoji="1" lang="en-US" altLang="ja-JP" b="1" dirty="0"/>
          </a:p>
          <a:p>
            <a:pPr algn="ctr"/>
            <a:r>
              <a:rPr kumimoji="1" lang="ja-JP" altLang="en-US" b="1" dirty="0"/>
              <a:t>指定して検索</a:t>
            </a:r>
          </a:p>
        </p:txBody>
      </p:sp>
      <p:sp>
        <p:nvSpPr>
          <p:cNvPr id="8" name="矢印: 下 7">
            <a:extLst>
              <a:ext uri="{FF2B5EF4-FFF2-40B4-BE49-F238E27FC236}">
                <a16:creationId xmlns:a16="http://schemas.microsoft.com/office/drawing/2014/main" id="{58A8A8A2-3BBB-541B-4737-D22B56941ADD}"/>
              </a:ext>
            </a:extLst>
          </p:cNvPr>
          <p:cNvSpPr/>
          <p:nvPr/>
        </p:nvSpPr>
        <p:spPr>
          <a:xfrm rot="16200000">
            <a:off x="3572163" y="3134998"/>
            <a:ext cx="482694" cy="1900863"/>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 name="楕円 4">
            <a:extLst>
              <a:ext uri="{FF2B5EF4-FFF2-40B4-BE49-F238E27FC236}">
                <a16:creationId xmlns:a16="http://schemas.microsoft.com/office/drawing/2014/main" id="{1D1670BC-255F-71F3-423E-65B6EF54E936}"/>
              </a:ext>
            </a:extLst>
          </p:cNvPr>
          <p:cNvSpPr/>
          <p:nvPr/>
        </p:nvSpPr>
        <p:spPr>
          <a:xfrm>
            <a:off x="5415999" y="5747868"/>
            <a:ext cx="6613032" cy="756653"/>
          </a:xfrm>
          <a:prstGeom prst="ellips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1800" b="1" dirty="0">
                <a:solidFill>
                  <a:schemeClr val="bg1"/>
                </a:solidFill>
              </a:rPr>
              <a:t>似ている文書を</a:t>
            </a:r>
            <a:r>
              <a:rPr lang="ja-JP" altLang="en-US" sz="1800" b="1" dirty="0">
                <a:solidFill>
                  <a:schemeClr val="bg1"/>
                </a:solidFill>
              </a:rPr>
              <a:t>ネットワーク図で可視化</a:t>
            </a:r>
            <a:r>
              <a:rPr lang="en-US" altLang="ja-JP" sz="1800" b="1" dirty="0">
                <a:solidFill>
                  <a:schemeClr val="bg1"/>
                </a:solidFill>
              </a:rPr>
              <a:t>.</a:t>
            </a:r>
            <a:endParaRPr kumimoji="1" lang="en-US" altLang="ja-JP" sz="1800" b="1" dirty="0">
              <a:solidFill>
                <a:schemeClr val="bg1"/>
              </a:solidFill>
            </a:endParaRPr>
          </a:p>
        </p:txBody>
      </p:sp>
      <p:pic>
        <p:nvPicPr>
          <p:cNvPr id="6" name="図 5">
            <a:extLst>
              <a:ext uri="{FF2B5EF4-FFF2-40B4-BE49-F238E27FC236}">
                <a16:creationId xmlns:a16="http://schemas.microsoft.com/office/drawing/2014/main" id="{7919B447-EE70-959B-58EF-EF7696F59F67}"/>
              </a:ext>
            </a:extLst>
          </p:cNvPr>
          <p:cNvPicPr>
            <a:picLocks noChangeAspect="1"/>
          </p:cNvPicPr>
          <p:nvPr/>
        </p:nvPicPr>
        <p:blipFill>
          <a:blip r:embed="rId4"/>
          <a:stretch>
            <a:fillRect/>
          </a:stretch>
        </p:blipFill>
        <p:spPr>
          <a:xfrm>
            <a:off x="1182838" y="3210807"/>
            <a:ext cx="1339667" cy="1749247"/>
          </a:xfrm>
          <a:prstGeom prst="rect">
            <a:avLst/>
          </a:prstGeom>
        </p:spPr>
      </p:pic>
      <p:pic>
        <p:nvPicPr>
          <p:cNvPr id="9" name="図 8">
            <a:extLst>
              <a:ext uri="{FF2B5EF4-FFF2-40B4-BE49-F238E27FC236}">
                <a16:creationId xmlns:a16="http://schemas.microsoft.com/office/drawing/2014/main" id="{DC51AC9C-2CD6-EC87-9344-E1EA9B064C72}"/>
              </a:ext>
            </a:extLst>
          </p:cNvPr>
          <p:cNvPicPr>
            <a:picLocks noChangeAspect="1"/>
          </p:cNvPicPr>
          <p:nvPr/>
        </p:nvPicPr>
        <p:blipFill>
          <a:blip r:embed="rId5"/>
          <a:stretch>
            <a:fillRect/>
          </a:stretch>
        </p:blipFill>
        <p:spPr>
          <a:xfrm>
            <a:off x="5526696" y="2218448"/>
            <a:ext cx="6391638" cy="3251267"/>
          </a:xfrm>
          <a:prstGeom prst="rect">
            <a:avLst/>
          </a:prstGeom>
        </p:spPr>
      </p:pic>
    </p:spTree>
    <p:extLst>
      <p:ext uri="{BB962C8B-B14F-4D97-AF65-F5344CB8AC3E}">
        <p14:creationId xmlns:p14="http://schemas.microsoft.com/office/powerpoint/2010/main" val="2862326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3E964-A950-F4E5-B489-0E6517DDBBD4}"/>
              </a:ext>
            </a:extLst>
          </p:cNvPr>
          <p:cNvSpPr>
            <a:spLocks noGrp="1"/>
          </p:cNvSpPr>
          <p:nvPr>
            <p:ph type="title"/>
          </p:nvPr>
        </p:nvSpPr>
        <p:spPr/>
        <p:txBody>
          <a:bodyPr/>
          <a:lstStyle/>
          <a:p>
            <a:r>
              <a:rPr kumimoji="1" lang="ja-JP" altLang="en-US" b="1" dirty="0"/>
              <a:t>中間発表での質問</a:t>
            </a:r>
          </a:p>
        </p:txBody>
      </p:sp>
      <p:sp>
        <p:nvSpPr>
          <p:cNvPr id="3" name="コンテンツ プレースホルダー 2">
            <a:extLst>
              <a:ext uri="{FF2B5EF4-FFF2-40B4-BE49-F238E27FC236}">
                <a16:creationId xmlns:a16="http://schemas.microsoft.com/office/drawing/2014/main" id="{7B6AFC35-BF88-8250-0687-513AA43A70F5}"/>
              </a:ext>
            </a:extLst>
          </p:cNvPr>
          <p:cNvSpPr>
            <a:spLocks noGrp="1"/>
          </p:cNvSpPr>
          <p:nvPr>
            <p:ph idx="1"/>
          </p:nvPr>
        </p:nvSpPr>
        <p:spPr>
          <a:xfrm>
            <a:off x="838200" y="2321216"/>
            <a:ext cx="10515600" cy="3374589"/>
          </a:xfrm>
        </p:spPr>
        <p:txBody>
          <a:bodyPr>
            <a:normAutofit/>
          </a:bodyPr>
          <a:lstStyle/>
          <a:p>
            <a:pPr marL="742950" indent="-742950">
              <a:buFont typeface="+mj-lt"/>
              <a:buAutoNum type="arabicPeriod"/>
            </a:pPr>
            <a:r>
              <a:rPr kumimoji="1" lang="ja-JP" altLang="en-US" sz="3600" dirty="0"/>
              <a:t>類似度とエッジの長さは関係しているのか？</a:t>
            </a:r>
            <a:endParaRPr kumimoji="1" lang="en-US" altLang="ja-JP" sz="3600" dirty="0"/>
          </a:p>
          <a:p>
            <a:pPr marL="742950" indent="-742950">
              <a:buFont typeface="+mj-lt"/>
              <a:buAutoNum type="arabicPeriod"/>
            </a:pPr>
            <a:endParaRPr kumimoji="1" lang="en-US" altLang="ja-JP" sz="3600" dirty="0"/>
          </a:p>
          <a:p>
            <a:pPr marL="742950" indent="-742950">
              <a:buFont typeface="+mj-lt"/>
              <a:buAutoNum type="arabicPeriod"/>
            </a:pPr>
            <a:r>
              <a:rPr kumimoji="1" lang="ja-JP" altLang="en-US" sz="3600" dirty="0"/>
              <a:t>同じ意味</a:t>
            </a:r>
            <a:r>
              <a:rPr lang="ja-JP" altLang="en-US" sz="3600" dirty="0"/>
              <a:t>の</a:t>
            </a:r>
            <a:r>
              <a:rPr kumimoji="1" lang="ja-JP" altLang="en-US" sz="3600" dirty="0"/>
              <a:t>単語</a:t>
            </a:r>
            <a:r>
              <a:rPr lang="ja-JP" altLang="en-US" sz="3600" dirty="0"/>
              <a:t>の表記が異なって</a:t>
            </a:r>
            <a:r>
              <a:rPr kumimoji="1" lang="ja-JP" altLang="en-US" sz="3600" dirty="0"/>
              <a:t>もよいか？</a:t>
            </a:r>
            <a:endParaRPr kumimoji="1" lang="en-US" altLang="ja-JP" sz="3600" dirty="0"/>
          </a:p>
          <a:p>
            <a:pPr marL="742950" indent="-742950">
              <a:buFont typeface="+mj-lt"/>
              <a:buAutoNum type="arabicPeriod"/>
            </a:pPr>
            <a:endParaRPr kumimoji="1" lang="en-US" altLang="ja-JP" sz="3600" dirty="0"/>
          </a:p>
          <a:p>
            <a:pPr marL="742950" indent="-742950">
              <a:buFont typeface="+mj-lt"/>
              <a:buAutoNum type="arabicPeriod"/>
            </a:pPr>
            <a:r>
              <a:rPr kumimoji="1" lang="ja-JP" altLang="en-US" sz="3600" dirty="0"/>
              <a:t>可視化結果の良さを定量的に評価できるか？</a:t>
            </a:r>
            <a:endParaRPr kumimoji="1" lang="en-US" altLang="ja-JP" sz="3600" dirty="0"/>
          </a:p>
          <a:p>
            <a:pPr marL="0" indent="0">
              <a:buNone/>
            </a:pPr>
            <a:endParaRPr kumimoji="1" lang="en-US" altLang="ja-JP" sz="3600" dirty="0"/>
          </a:p>
        </p:txBody>
      </p:sp>
    </p:spTree>
    <p:extLst>
      <p:ext uri="{BB962C8B-B14F-4D97-AF65-F5344CB8AC3E}">
        <p14:creationId xmlns:p14="http://schemas.microsoft.com/office/powerpoint/2010/main" val="507749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8FC92A7-9208-8EEA-7367-3065699423E2}"/>
              </a:ext>
            </a:extLst>
          </p:cNvPr>
          <p:cNvSpPr>
            <a:spLocks noGrp="1"/>
          </p:cNvSpPr>
          <p:nvPr>
            <p:ph type="title"/>
          </p:nvPr>
        </p:nvSpPr>
        <p:spPr>
          <a:xfrm>
            <a:off x="793662" y="386930"/>
            <a:ext cx="10066122" cy="1298448"/>
          </a:xfrm>
        </p:spPr>
        <p:txBody>
          <a:bodyPr anchor="b">
            <a:normAutofit/>
          </a:bodyPr>
          <a:lstStyle/>
          <a:p>
            <a:r>
              <a:rPr kumimoji="1" lang="ja-JP" altLang="en-US" b="1" dirty="0"/>
              <a:t>類似度とエッジ長は関係しているのか？</a:t>
            </a:r>
            <a:endParaRPr kumimoji="1" lang="ja-JP" altLang="en-US" dirty="0"/>
          </a:p>
        </p:txBody>
      </p:sp>
      <p:sp>
        <p:nvSpPr>
          <p:cNvPr id="60" name="Rectangle 5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A015582-8602-F4DE-4C15-F647037CDE8B}"/>
              </a:ext>
            </a:extLst>
          </p:cNvPr>
          <p:cNvSpPr>
            <a:spLocks noGrp="1"/>
          </p:cNvSpPr>
          <p:nvPr>
            <p:ph idx="1"/>
          </p:nvPr>
        </p:nvSpPr>
        <p:spPr>
          <a:xfrm>
            <a:off x="793661" y="2366272"/>
            <a:ext cx="4530898" cy="3872687"/>
          </a:xfrm>
        </p:spPr>
        <p:txBody>
          <a:bodyPr anchor="ctr">
            <a:normAutofit lnSpcReduction="10000"/>
          </a:bodyPr>
          <a:lstStyle/>
          <a:p>
            <a:pPr marL="0" indent="0">
              <a:buNone/>
            </a:pPr>
            <a:r>
              <a:rPr lang="ja-JP" altLang="en-US" sz="2000" b="1" dirty="0">
                <a:latin typeface="Courier New" panose="02070309020205020404" pitchFamily="49" charset="0"/>
              </a:rPr>
              <a:t>回答</a:t>
            </a:r>
            <a:endParaRPr lang="en-US" altLang="ja-JP" sz="2000" b="1" dirty="0">
              <a:latin typeface="Courier New" panose="02070309020205020404" pitchFamily="49" charset="0"/>
            </a:endParaRPr>
          </a:p>
          <a:p>
            <a:pPr marL="0" indent="0">
              <a:buNone/>
            </a:pPr>
            <a:r>
              <a:rPr lang="ja-JP" altLang="en-US" sz="2000" dirty="0">
                <a:latin typeface="Courier New" panose="02070309020205020404" pitchFamily="49" charset="0"/>
              </a:rPr>
              <a:t>類似度の高い文書同士の</a:t>
            </a:r>
            <a:r>
              <a:rPr lang="ja-JP" altLang="en-US" sz="2000" b="1" dirty="0">
                <a:latin typeface="Courier New" panose="02070309020205020404" pitchFamily="49" charset="0"/>
              </a:rPr>
              <a:t>関係のみ</a:t>
            </a:r>
            <a:r>
              <a:rPr lang="ja-JP" altLang="en-US" sz="2000" dirty="0">
                <a:latin typeface="Courier New" panose="02070309020205020404" pitchFamily="49" charset="0"/>
              </a:rPr>
              <a:t>を</a:t>
            </a:r>
            <a:endParaRPr lang="en-US" altLang="ja-JP" sz="2000" dirty="0">
              <a:latin typeface="Courier New" panose="02070309020205020404" pitchFamily="49" charset="0"/>
            </a:endParaRPr>
          </a:p>
          <a:p>
            <a:pPr marL="0" indent="0">
              <a:buNone/>
            </a:pPr>
            <a:r>
              <a:rPr lang="ja-JP" altLang="en-US" sz="2000" dirty="0">
                <a:latin typeface="Courier New" panose="02070309020205020404" pitchFamily="49" charset="0"/>
              </a:rPr>
              <a:t>可視化しているので、エッジ長の相関</a:t>
            </a:r>
            <a:endParaRPr lang="en-US" altLang="ja-JP" sz="2000" dirty="0">
              <a:latin typeface="Courier New" panose="02070309020205020404" pitchFamily="49" charset="0"/>
            </a:endParaRPr>
          </a:p>
          <a:p>
            <a:pPr marL="0" indent="0">
              <a:buNone/>
            </a:pPr>
            <a:r>
              <a:rPr lang="ja-JP" altLang="en-US" sz="2000" dirty="0">
                <a:latin typeface="Courier New" panose="02070309020205020404" pitchFamily="49" charset="0"/>
              </a:rPr>
              <a:t>はない</a:t>
            </a:r>
            <a:r>
              <a:rPr lang="en-US" altLang="ja-JP" sz="2000" dirty="0">
                <a:latin typeface="Courier New" panose="02070309020205020404" pitchFamily="49" charset="0"/>
              </a:rPr>
              <a:t>.</a:t>
            </a:r>
          </a:p>
          <a:p>
            <a:pPr marL="0" indent="0">
              <a:buNone/>
            </a:pPr>
            <a:endParaRPr lang="en-US" altLang="ja-JP" sz="2000" b="1" dirty="0">
              <a:latin typeface="Courier New" panose="02070309020205020404" pitchFamily="49" charset="0"/>
            </a:endParaRPr>
          </a:p>
          <a:p>
            <a:pPr marL="0" indent="0">
              <a:buNone/>
            </a:pPr>
            <a:r>
              <a:rPr lang="ja-JP" altLang="en-US" sz="2000" b="1" dirty="0">
                <a:latin typeface="Courier New" panose="02070309020205020404" pitchFamily="49" charset="0"/>
              </a:rPr>
              <a:t>対象文書</a:t>
            </a:r>
            <a:endParaRPr lang="en-US" altLang="ja-JP" sz="2000" dirty="0">
              <a:latin typeface="Courier New" panose="02070309020205020404" pitchFamily="49" charset="0"/>
            </a:endParaRPr>
          </a:p>
          <a:p>
            <a:r>
              <a:rPr lang="ja-JP" altLang="en-US" sz="2000" dirty="0">
                <a:latin typeface="Courier New" panose="02070309020205020404" pitchFamily="49" charset="0"/>
              </a:rPr>
              <a:t>クエリの類似文書１００件</a:t>
            </a:r>
            <a:endParaRPr lang="en-US" altLang="ja-JP" sz="2000" b="0" dirty="0">
              <a:effectLst/>
              <a:latin typeface="Courier New" panose="02070309020205020404" pitchFamily="49" charset="0"/>
            </a:endParaRPr>
          </a:p>
          <a:p>
            <a:endParaRPr lang="en-US" altLang="ja-JP" sz="2000" dirty="0">
              <a:latin typeface="Courier New" panose="02070309020205020404" pitchFamily="49" charset="0"/>
            </a:endParaRPr>
          </a:p>
          <a:p>
            <a:pPr marL="0" indent="0">
              <a:buNone/>
            </a:pPr>
            <a:r>
              <a:rPr lang="ja-JP" altLang="en-US" sz="2000" b="1" dirty="0">
                <a:effectLst/>
                <a:latin typeface="Courier New" panose="02070309020205020404" pitchFamily="49" charset="0"/>
              </a:rPr>
              <a:t>実験結果</a:t>
            </a:r>
            <a:endParaRPr lang="en-US" altLang="ja-JP" sz="2000" b="1" dirty="0">
              <a:effectLst/>
              <a:latin typeface="Courier New" panose="02070309020205020404" pitchFamily="49" charset="0"/>
            </a:endParaRPr>
          </a:p>
          <a:p>
            <a:r>
              <a:rPr lang="ja-JP" altLang="en-US" sz="2000" dirty="0">
                <a:latin typeface="Courier New" panose="02070309020205020404" pitchFamily="49" charset="0"/>
              </a:rPr>
              <a:t>類似度とエッジ長に</a:t>
            </a:r>
            <a:r>
              <a:rPr lang="ja-JP" altLang="en-US" sz="2000" b="1" dirty="0">
                <a:solidFill>
                  <a:srgbClr val="C00000"/>
                </a:solidFill>
                <a:latin typeface="Courier New" panose="02070309020205020404" pitchFamily="49" charset="0"/>
              </a:rPr>
              <a:t>相関は無い</a:t>
            </a:r>
            <a:endParaRPr lang="ja-JP" altLang="en-US" sz="2000" b="1" dirty="0">
              <a:solidFill>
                <a:srgbClr val="C00000"/>
              </a:solidFill>
              <a:effectLst/>
              <a:latin typeface="Courier New" panose="02070309020205020404" pitchFamily="49" charset="0"/>
            </a:endParaRPr>
          </a:p>
        </p:txBody>
      </p:sp>
      <p:pic>
        <p:nvPicPr>
          <p:cNvPr id="5" name="図 4" descr="グラフ, 散布図&#10;&#10;自動的に生成された説明">
            <a:extLst>
              <a:ext uri="{FF2B5EF4-FFF2-40B4-BE49-F238E27FC236}">
                <a16:creationId xmlns:a16="http://schemas.microsoft.com/office/drawing/2014/main" id="{15BB9274-A1DA-4959-47AD-FC12B554C1CA}"/>
              </a:ext>
            </a:extLst>
          </p:cNvPr>
          <p:cNvPicPr>
            <a:picLocks noChangeAspect="1"/>
          </p:cNvPicPr>
          <p:nvPr/>
        </p:nvPicPr>
        <p:blipFill>
          <a:blip r:embed="rId3"/>
          <a:srcRect t="422" r="2" b="108"/>
          <a:stretch/>
        </p:blipFill>
        <p:spPr>
          <a:xfrm>
            <a:off x="5975826" y="2292604"/>
            <a:ext cx="5150277" cy="3714244"/>
          </a:xfrm>
          <a:prstGeom prst="rect">
            <a:avLst/>
          </a:prstGeom>
        </p:spPr>
      </p:pic>
      <p:sp>
        <p:nvSpPr>
          <p:cNvPr id="64" name="Rectangle 63">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テキスト ボックス 6">
            <a:extLst>
              <a:ext uri="{FF2B5EF4-FFF2-40B4-BE49-F238E27FC236}">
                <a16:creationId xmlns:a16="http://schemas.microsoft.com/office/drawing/2014/main" id="{D63D379B-68EB-F02D-2D84-48A6B9DF4BF7}"/>
              </a:ext>
            </a:extLst>
          </p:cNvPr>
          <p:cNvSpPr txBox="1"/>
          <p:nvPr/>
        </p:nvSpPr>
        <p:spPr>
          <a:xfrm>
            <a:off x="8679840" y="2515327"/>
            <a:ext cx="2108005" cy="369332"/>
          </a:xfrm>
          <a:prstGeom prst="rect">
            <a:avLst/>
          </a:prstGeom>
          <a:noFill/>
        </p:spPr>
        <p:txBody>
          <a:bodyPr wrap="square">
            <a:spAutoFit/>
          </a:bodyPr>
          <a:lstStyle/>
          <a:p>
            <a:r>
              <a:rPr lang="ja-JP" altLang="en-US" sz="1800" b="1" dirty="0">
                <a:effectLst/>
                <a:latin typeface="Courier New" panose="02070309020205020404" pitchFamily="49" charset="0"/>
              </a:rPr>
              <a:t>相関係数</a:t>
            </a:r>
            <a:r>
              <a:rPr lang="en-US" altLang="ja-JP" sz="1800" b="1" dirty="0">
                <a:effectLst/>
                <a:latin typeface="Courier New" panose="02070309020205020404" pitchFamily="49" charset="0"/>
              </a:rPr>
              <a:t>: -0.12</a:t>
            </a:r>
            <a:endParaRPr lang="ja-JP" altLang="en-US" b="1" dirty="0"/>
          </a:p>
        </p:txBody>
      </p:sp>
      <p:sp>
        <p:nvSpPr>
          <p:cNvPr id="6" name="テキスト ボックス 5">
            <a:extLst>
              <a:ext uri="{FF2B5EF4-FFF2-40B4-BE49-F238E27FC236}">
                <a16:creationId xmlns:a16="http://schemas.microsoft.com/office/drawing/2014/main" id="{0C4A1E01-50BF-C7BA-AF5E-C531D3D87C9E}"/>
              </a:ext>
            </a:extLst>
          </p:cNvPr>
          <p:cNvSpPr txBox="1"/>
          <p:nvPr/>
        </p:nvSpPr>
        <p:spPr>
          <a:xfrm>
            <a:off x="7399921" y="6054293"/>
            <a:ext cx="2548443" cy="369332"/>
          </a:xfrm>
          <a:prstGeom prst="rect">
            <a:avLst/>
          </a:prstGeom>
          <a:noFill/>
        </p:spPr>
        <p:txBody>
          <a:bodyPr wrap="square">
            <a:spAutoFit/>
          </a:bodyPr>
          <a:lstStyle/>
          <a:p>
            <a:r>
              <a:rPr lang="ja-JP" altLang="en-US" b="1" dirty="0">
                <a:effectLst/>
                <a:latin typeface="Courier New" panose="02070309020205020404" pitchFamily="49" charset="0"/>
              </a:rPr>
              <a:t>クエリ文書との類似度</a:t>
            </a:r>
            <a:endParaRPr lang="ja-JP" altLang="en-US" b="1" dirty="0"/>
          </a:p>
        </p:txBody>
      </p:sp>
      <p:sp>
        <p:nvSpPr>
          <p:cNvPr id="9" name="テキスト ボックス 8">
            <a:extLst>
              <a:ext uri="{FF2B5EF4-FFF2-40B4-BE49-F238E27FC236}">
                <a16:creationId xmlns:a16="http://schemas.microsoft.com/office/drawing/2014/main" id="{AB8B8B9B-0872-8978-E614-BEB7197AF0BE}"/>
              </a:ext>
            </a:extLst>
          </p:cNvPr>
          <p:cNvSpPr txBox="1"/>
          <p:nvPr/>
        </p:nvSpPr>
        <p:spPr>
          <a:xfrm>
            <a:off x="5571601" y="3309422"/>
            <a:ext cx="404225" cy="1200329"/>
          </a:xfrm>
          <a:prstGeom prst="rect">
            <a:avLst/>
          </a:prstGeom>
          <a:noFill/>
        </p:spPr>
        <p:txBody>
          <a:bodyPr wrap="square">
            <a:spAutoFit/>
          </a:bodyPr>
          <a:lstStyle/>
          <a:p>
            <a:r>
              <a:rPr lang="ja-JP" altLang="en-US" sz="1800" b="1" dirty="0">
                <a:latin typeface="Courier New" panose="02070309020205020404" pitchFamily="49" charset="0"/>
              </a:rPr>
              <a:t>エッジ長</a:t>
            </a:r>
            <a:endParaRPr lang="ja-JP" altLang="en-US" b="1" dirty="0"/>
          </a:p>
        </p:txBody>
      </p:sp>
    </p:spTree>
    <p:extLst>
      <p:ext uri="{BB962C8B-B14F-4D97-AF65-F5344CB8AC3E}">
        <p14:creationId xmlns:p14="http://schemas.microsoft.com/office/powerpoint/2010/main" val="379492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A13ED-E12A-2150-E195-D90B589360DE}"/>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8337248D-A9AE-0C20-8E34-DCECF96C62CE}"/>
              </a:ext>
            </a:extLst>
          </p:cNvPr>
          <p:cNvPicPr>
            <a:picLocks noChangeAspect="1"/>
          </p:cNvPicPr>
          <p:nvPr/>
        </p:nvPicPr>
        <p:blipFill>
          <a:blip r:embed="rId3"/>
          <a:stretch>
            <a:fillRect/>
          </a:stretch>
        </p:blipFill>
        <p:spPr>
          <a:xfrm>
            <a:off x="200738" y="538587"/>
            <a:ext cx="11891851" cy="6049088"/>
          </a:xfrm>
          <a:prstGeom prst="rect">
            <a:avLst/>
          </a:prstGeom>
        </p:spPr>
      </p:pic>
      <p:sp>
        <p:nvSpPr>
          <p:cNvPr id="15" name="矢印: 下 14">
            <a:extLst>
              <a:ext uri="{FF2B5EF4-FFF2-40B4-BE49-F238E27FC236}">
                <a16:creationId xmlns:a16="http://schemas.microsoft.com/office/drawing/2014/main" id="{CFD58E2D-0F43-23DE-FA60-65FD0129CDAC}"/>
              </a:ext>
            </a:extLst>
          </p:cNvPr>
          <p:cNvSpPr/>
          <p:nvPr/>
        </p:nvSpPr>
        <p:spPr>
          <a:xfrm rot="10514629">
            <a:off x="8262983" y="4605984"/>
            <a:ext cx="284415" cy="447247"/>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D1A7CAA-ABC7-CFD6-1092-FED58175C315}"/>
              </a:ext>
            </a:extLst>
          </p:cNvPr>
          <p:cNvSpPr txBox="1"/>
          <p:nvPr/>
        </p:nvSpPr>
        <p:spPr>
          <a:xfrm>
            <a:off x="7827068" y="5122688"/>
            <a:ext cx="1476766" cy="369332"/>
          </a:xfrm>
          <a:prstGeom prst="rect">
            <a:avLst/>
          </a:prstGeom>
          <a:noFill/>
        </p:spPr>
        <p:txBody>
          <a:bodyPr wrap="square">
            <a:spAutoFit/>
          </a:bodyPr>
          <a:lstStyle/>
          <a:p>
            <a:r>
              <a:rPr lang="ja-JP" altLang="en-US" dirty="0"/>
              <a:t>クエリ文書</a:t>
            </a:r>
          </a:p>
        </p:txBody>
      </p:sp>
      <p:sp>
        <p:nvSpPr>
          <p:cNvPr id="18" name="矢印: 下 17">
            <a:extLst>
              <a:ext uri="{FF2B5EF4-FFF2-40B4-BE49-F238E27FC236}">
                <a16:creationId xmlns:a16="http://schemas.microsoft.com/office/drawing/2014/main" id="{92E9A926-F4FD-6FF8-90FB-40317797C246}"/>
              </a:ext>
            </a:extLst>
          </p:cNvPr>
          <p:cNvSpPr/>
          <p:nvPr/>
        </p:nvSpPr>
        <p:spPr>
          <a:xfrm rot="3047882">
            <a:off x="9675381" y="4143568"/>
            <a:ext cx="219811" cy="40539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3BEFB474-BF51-5175-DABE-139789C0C8FD}"/>
              </a:ext>
            </a:extLst>
          </p:cNvPr>
          <p:cNvSpPr txBox="1"/>
          <p:nvPr/>
        </p:nvSpPr>
        <p:spPr>
          <a:xfrm>
            <a:off x="9933996" y="3807391"/>
            <a:ext cx="2258004" cy="646331"/>
          </a:xfrm>
          <a:prstGeom prst="rect">
            <a:avLst/>
          </a:prstGeom>
          <a:noFill/>
        </p:spPr>
        <p:txBody>
          <a:bodyPr wrap="square">
            <a:spAutoFit/>
          </a:bodyPr>
          <a:lstStyle/>
          <a:p>
            <a:pPr algn="ctr"/>
            <a:r>
              <a:rPr lang="ja-JP" altLang="en-US" dirty="0"/>
              <a:t>辿る本数が１個</a:t>
            </a:r>
            <a:endParaRPr lang="en-US" altLang="ja-JP" dirty="0"/>
          </a:p>
          <a:p>
            <a:pPr algn="ctr"/>
            <a:r>
              <a:rPr lang="ja-JP" altLang="en-US" dirty="0"/>
              <a:t>なので、似ている！</a:t>
            </a:r>
          </a:p>
        </p:txBody>
      </p:sp>
      <p:sp>
        <p:nvSpPr>
          <p:cNvPr id="21" name="矢印: 下 20">
            <a:extLst>
              <a:ext uri="{FF2B5EF4-FFF2-40B4-BE49-F238E27FC236}">
                <a16:creationId xmlns:a16="http://schemas.microsoft.com/office/drawing/2014/main" id="{9D0D6699-D7B3-8858-3A8A-1FF06DAC13E9}"/>
              </a:ext>
            </a:extLst>
          </p:cNvPr>
          <p:cNvSpPr/>
          <p:nvPr/>
        </p:nvSpPr>
        <p:spPr>
          <a:xfrm rot="8549656">
            <a:off x="623945" y="3592226"/>
            <a:ext cx="165924" cy="722393"/>
          </a:xfrm>
          <a:prstGeom prst="down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D5EC905B-F1F4-C923-0287-CCFBB45E684D}"/>
              </a:ext>
            </a:extLst>
          </p:cNvPr>
          <p:cNvSpPr txBox="1"/>
          <p:nvPr/>
        </p:nvSpPr>
        <p:spPr>
          <a:xfrm>
            <a:off x="302386" y="4323991"/>
            <a:ext cx="2377019" cy="646331"/>
          </a:xfrm>
          <a:prstGeom prst="rect">
            <a:avLst/>
          </a:prstGeom>
          <a:noFill/>
        </p:spPr>
        <p:txBody>
          <a:bodyPr wrap="square">
            <a:spAutoFit/>
          </a:bodyPr>
          <a:lstStyle/>
          <a:p>
            <a:pPr algn="ctr"/>
            <a:r>
              <a:rPr lang="ja-JP" altLang="en-US" dirty="0"/>
              <a:t>辿る本数が多いので、</a:t>
            </a:r>
            <a:endParaRPr lang="en-US" altLang="ja-JP" dirty="0"/>
          </a:p>
          <a:p>
            <a:pPr algn="ctr"/>
            <a:r>
              <a:rPr lang="ja-JP" altLang="en-US" dirty="0"/>
              <a:t>あまり似ていない</a:t>
            </a:r>
          </a:p>
        </p:txBody>
      </p:sp>
      <p:sp>
        <p:nvSpPr>
          <p:cNvPr id="4" name="矢印: 下 3">
            <a:extLst>
              <a:ext uri="{FF2B5EF4-FFF2-40B4-BE49-F238E27FC236}">
                <a16:creationId xmlns:a16="http://schemas.microsoft.com/office/drawing/2014/main" id="{590737E7-4BC9-BDDA-D0D5-589973128F1A}"/>
              </a:ext>
            </a:extLst>
          </p:cNvPr>
          <p:cNvSpPr/>
          <p:nvPr/>
        </p:nvSpPr>
        <p:spPr>
          <a:xfrm rot="3496059">
            <a:off x="9636191" y="4198240"/>
            <a:ext cx="180141" cy="840433"/>
          </a:xfrm>
          <a:prstGeom prst="downArrow">
            <a:avLst>
              <a:gd name="adj1" fmla="val 55330"/>
              <a:gd name="adj2" fmla="val 5000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下 5">
            <a:extLst>
              <a:ext uri="{FF2B5EF4-FFF2-40B4-BE49-F238E27FC236}">
                <a16:creationId xmlns:a16="http://schemas.microsoft.com/office/drawing/2014/main" id="{443F0FC9-57A1-DEAE-25E8-6B29179BCF55}"/>
              </a:ext>
            </a:extLst>
          </p:cNvPr>
          <p:cNvSpPr/>
          <p:nvPr/>
        </p:nvSpPr>
        <p:spPr>
          <a:xfrm rot="4921617">
            <a:off x="9203454" y="3493977"/>
            <a:ext cx="236069" cy="1193627"/>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8E3F938-5034-A61F-DB87-DF902044AC56}"/>
              </a:ext>
            </a:extLst>
          </p:cNvPr>
          <p:cNvSpPr txBox="1"/>
          <p:nvPr/>
        </p:nvSpPr>
        <p:spPr>
          <a:xfrm>
            <a:off x="7295561" y="1111520"/>
            <a:ext cx="4797028" cy="369332"/>
          </a:xfrm>
          <a:prstGeom prst="rect">
            <a:avLst/>
          </a:prstGeom>
          <a:noFill/>
        </p:spPr>
        <p:txBody>
          <a:bodyPr wrap="square">
            <a:spAutoFit/>
          </a:bodyPr>
          <a:lstStyle/>
          <a:p>
            <a:r>
              <a:rPr lang="ja-JP" altLang="en-US" b="1" dirty="0">
                <a:solidFill>
                  <a:srgbClr val="C00000"/>
                </a:solidFill>
              </a:rPr>
              <a:t>エッジを辿る本数が少ない程、似ている文書</a:t>
            </a:r>
          </a:p>
        </p:txBody>
      </p:sp>
      <p:sp>
        <p:nvSpPr>
          <p:cNvPr id="19" name="テキスト ボックス 18">
            <a:extLst>
              <a:ext uri="{FF2B5EF4-FFF2-40B4-BE49-F238E27FC236}">
                <a16:creationId xmlns:a16="http://schemas.microsoft.com/office/drawing/2014/main" id="{5C815484-C3EC-818D-26AA-87D0BEF80095}"/>
              </a:ext>
            </a:extLst>
          </p:cNvPr>
          <p:cNvSpPr txBox="1"/>
          <p:nvPr/>
        </p:nvSpPr>
        <p:spPr>
          <a:xfrm>
            <a:off x="99410" y="105099"/>
            <a:ext cx="7831337" cy="461665"/>
          </a:xfrm>
          <a:prstGeom prst="rect">
            <a:avLst/>
          </a:prstGeom>
          <a:noFill/>
        </p:spPr>
        <p:txBody>
          <a:bodyPr wrap="square">
            <a:spAutoFit/>
          </a:bodyPr>
          <a:lstStyle/>
          <a:p>
            <a:r>
              <a:rPr kumimoji="1" lang="ja-JP" altLang="en-US" sz="2400" b="1" dirty="0"/>
              <a:t>線が短い場合と長い場合で類似度に関係があるのか？</a:t>
            </a:r>
            <a:endParaRPr kumimoji="1" lang="en-US" altLang="ja-JP" sz="2400" b="1" dirty="0"/>
          </a:p>
        </p:txBody>
      </p:sp>
    </p:spTree>
    <p:extLst>
      <p:ext uri="{BB962C8B-B14F-4D97-AF65-F5344CB8AC3E}">
        <p14:creationId xmlns:p14="http://schemas.microsoft.com/office/powerpoint/2010/main" val="4257234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F27AAD-E220-3AF7-FE9E-550F1C370BB1}"/>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BB13FED5-E447-D263-6AAB-6C84B122EE7C}"/>
              </a:ext>
            </a:extLst>
          </p:cNvPr>
          <p:cNvSpPr>
            <a:spLocks noGrp="1"/>
          </p:cNvSpPr>
          <p:nvPr>
            <p:ph idx="1"/>
          </p:nvPr>
        </p:nvSpPr>
        <p:spPr>
          <a:xfrm>
            <a:off x="755526" y="5313291"/>
            <a:ext cx="10515600" cy="1325563"/>
          </a:xfrm>
        </p:spPr>
        <p:txBody>
          <a:bodyPr/>
          <a:lstStyle/>
          <a:p>
            <a:pPr marL="0" indent="0" algn="ctr">
              <a:buNone/>
            </a:pPr>
            <a:r>
              <a:rPr kumimoji="1" lang="ja-JP" altLang="en-US" dirty="0"/>
              <a:t>左側から距離が近い駅順に並んでいるが、</a:t>
            </a:r>
            <a:endParaRPr kumimoji="1" lang="en-US" altLang="ja-JP" dirty="0"/>
          </a:p>
          <a:p>
            <a:pPr marL="0" indent="0" algn="ctr">
              <a:buNone/>
            </a:pPr>
            <a:r>
              <a:rPr lang="ja-JP" altLang="en-US" dirty="0"/>
              <a:t>距離自体は示されていない。</a:t>
            </a:r>
            <a:endParaRPr kumimoji="1" lang="ja-JP" altLang="en-US" dirty="0"/>
          </a:p>
        </p:txBody>
      </p:sp>
      <p:pic>
        <p:nvPicPr>
          <p:cNvPr id="5" name="図 4">
            <a:extLst>
              <a:ext uri="{FF2B5EF4-FFF2-40B4-BE49-F238E27FC236}">
                <a16:creationId xmlns:a16="http://schemas.microsoft.com/office/drawing/2014/main" id="{F6A5560D-BF49-1ACF-D9E2-C337F6C1D2CC}"/>
              </a:ext>
            </a:extLst>
          </p:cNvPr>
          <p:cNvPicPr>
            <a:picLocks noChangeAspect="1"/>
          </p:cNvPicPr>
          <p:nvPr/>
        </p:nvPicPr>
        <p:blipFill>
          <a:blip r:embed="rId3"/>
          <a:stretch>
            <a:fillRect/>
          </a:stretch>
        </p:blipFill>
        <p:spPr>
          <a:xfrm>
            <a:off x="615703" y="0"/>
            <a:ext cx="10795247" cy="5058123"/>
          </a:xfrm>
          <a:prstGeom prst="rect">
            <a:avLst/>
          </a:prstGeom>
        </p:spPr>
      </p:pic>
    </p:spTree>
    <p:extLst>
      <p:ext uri="{BB962C8B-B14F-4D97-AF65-F5344CB8AC3E}">
        <p14:creationId xmlns:p14="http://schemas.microsoft.com/office/powerpoint/2010/main" val="2569020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31C81-8053-3FC3-4EB7-E4A3300139B0}"/>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6036DC1E-69AD-A4A1-4120-BED2A7A733BF}"/>
              </a:ext>
            </a:extLst>
          </p:cNvPr>
          <p:cNvPicPr>
            <a:picLocks noChangeAspect="1"/>
          </p:cNvPicPr>
          <p:nvPr/>
        </p:nvPicPr>
        <p:blipFill>
          <a:blip r:embed="rId3"/>
          <a:stretch>
            <a:fillRect/>
          </a:stretch>
        </p:blipFill>
        <p:spPr>
          <a:xfrm>
            <a:off x="200738" y="538587"/>
            <a:ext cx="11891851" cy="6049088"/>
          </a:xfrm>
          <a:prstGeom prst="rect">
            <a:avLst/>
          </a:prstGeom>
        </p:spPr>
      </p:pic>
      <p:sp>
        <p:nvSpPr>
          <p:cNvPr id="15" name="矢印: 下 14">
            <a:extLst>
              <a:ext uri="{FF2B5EF4-FFF2-40B4-BE49-F238E27FC236}">
                <a16:creationId xmlns:a16="http://schemas.microsoft.com/office/drawing/2014/main" id="{55521593-8464-E98B-A78C-7A6EAAD683B5}"/>
              </a:ext>
            </a:extLst>
          </p:cNvPr>
          <p:cNvSpPr/>
          <p:nvPr/>
        </p:nvSpPr>
        <p:spPr>
          <a:xfrm rot="10514629">
            <a:off x="8262983" y="4605984"/>
            <a:ext cx="284415" cy="447247"/>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7FD475D-8F07-0153-A8CF-B9F2587E73F4}"/>
              </a:ext>
            </a:extLst>
          </p:cNvPr>
          <p:cNvSpPr txBox="1"/>
          <p:nvPr/>
        </p:nvSpPr>
        <p:spPr>
          <a:xfrm>
            <a:off x="7827068" y="5122688"/>
            <a:ext cx="1476766" cy="369332"/>
          </a:xfrm>
          <a:prstGeom prst="rect">
            <a:avLst/>
          </a:prstGeom>
          <a:noFill/>
        </p:spPr>
        <p:txBody>
          <a:bodyPr wrap="square">
            <a:spAutoFit/>
          </a:bodyPr>
          <a:lstStyle/>
          <a:p>
            <a:r>
              <a:rPr lang="ja-JP" altLang="en-US" dirty="0"/>
              <a:t>クエリ文書</a:t>
            </a:r>
          </a:p>
        </p:txBody>
      </p:sp>
      <p:sp>
        <p:nvSpPr>
          <p:cNvPr id="18" name="矢印: 下 17">
            <a:extLst>
              <a:ext uri="{FF2B5EF4-FFF2-40B4-BE49-F238E27FC236}">
                <a16:creationId xmlns:a16="http://schemas.microsoft.com/office/drawing/2014/main" id="{7F17641D-4B76-93C0-AA9A-78B68D9BA371}"/>
              </a:ext>
            </a:extLst>
          </p:cNvPr>
          <p:cNvSpPr/>
          <p:nvPr/>
        </p:nvSpPr>
        <p:spPr>
          <a:xfrm rot="3047882">
            <a:off x="9675381" y="4143568"/>
            <a:ext cx="219811" cy="40539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16DB917D-F574-139D-78A7-6001564B3373}"/>
              </a:ext>
            </a:extLst>
          </p:cNvPr>
          <p:cNvSpPr txBox="1"/>
          <p:nvPr/>
        </p:nvSpPr>
        <p:spPr>
          <a:xfrm>
            <a:off x="9933996" y="3807391"/>
            <a:ext cx="2258004" cy="646331"/>
          </a:xfrm>
          <a:prstGeom prst="rect">
            <a:avLst/>
          </a:prstGeom>
          <a:noFill/>
        </p:spPr>
        <p:txBody>
          <a:bodyPr wrap="square">
            <a:spAutoFit/>
          </a:bodyPr>
          <a:lstStyle/>
          <a:p>
            <a:pPr algn="ctr"/>
            <a:r>
              <a:rPr lang="ja-JP" altLang="en-US" dirty="0"/>
              <a:t>辿る本数が１個</a:t>
            </a:r>
            <a:endParaRPr lang="en-US" altLang="ja-JP" dirty="0"/>
          </a:p>
          <a:p>
            <a:pPr algn="ctr"/>
            <a:r>
              <a:rPr lang="ja-JP" altLang="en-US" dirty="0"/>
              <a:t>なので、似ている！</a:t>
            </a:r>
          </a:p>
        </p:txBody>
      </p:sp>
      <p:sp>
        <p:nvSpPr>
          <p:cNvPr id="21" name="矢印: 下 20">
            <a:extLst>
              <a:ext uri="{FF2B5EF4-FFF2-40B4-BE49-F238E27FC236}">
                <a16:creationId xmlns:a16="http://schemas.microsoft.com/office/drawing/2014/main" id="{7C25D28E-6C6D-BDE5-FD48-A6CAD7521155}"/>
              </a:ext>
            </a:extLst>
          </p:cNvPr>
          <p:cNvSpPr/>
          <p:nvPr/>
        </p:nvSpPr>
        <p:spPr>
          <a:xfrm rot="8549656">
            <a:off x="623945" y="3592226"/>
            <a:ext cx="165924" cy="722393"/>
          </a:xfrm>
          <a:prstGeom prst="down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A0159947-10EC-34B5-0B6F-367152B2701D}"/>
              </a:ext>
            </a:extLst>
          </p:cNvPr>
          <p:cNvSpPr txBox="1"/>
          <p:nvPr/>
        </p:nvSpPr>
        <p:spPr>
          <a:xfrm>
            <a:off x="302386" y="4323991"/>
            <a:ext cx="2377019" cy="646331"/>
          </a:xfrm>
          <a:prstGeom prst="rect">
            <a:avLst/>
          </a:prstGeom>
          <a:noFill/>
        </p:spPr>
        <p:txBody>
          <a:bodyPr wrap="square">
            <a:spAutoFit/>
          </a:bodyPr>
          <a:lstStyle/>
          <a:p>
            <a:pPr algn="ctr"/>
            <a:r>
              <a:rPr lang="ja-JP" altLang="en-US" dirty="0"/>
              <a:t>辿る本数が多いので、</a:t>
            </a:r>
            <a:endParaRPr lang="en-US" altLang="ja-JP" dirty="0"/>
          </a:p>
          <a:p>
            <a:pPr algn="ctr"/>
            <a:r>
              <a:rPr lang="ja-JP" altLang="en-US" dirty="0"/>
              <a:t>あまり似ていない</a:t>
            </a:r>
          </a:p>
        </p:txBody>
      </p:sp>
      <p:sp>
        <p:nvSpPr>
          <p:cNvPr id="4" name="矢印: 下 3">
            <a:extLst>
              <a:ext uri="{FF2B5EF4-FFF2-40B4-BE49-F238E27FC236}">
                <a16:creationId xmlns:a16="http://schemas.microsoft.com/office/drawing/2014/main" id="{D41967D8-1BEE-51B7-F647-E2A10720195F}"/>
              </a:ext>
            </a:extLst>
          </p:cNvPr>
          <p:cNvSpPr/>
          <p:nvPr/>
        </p:nvSpPr>
        <p:spPr>
          <a:xfrm rot="3496059">
            <a:off x="9636191" y="4198240"/>
            <a:ext cx="180141" cy="840433"/>
          </a:xfrm>
          <a:prstGeom prst="downArrow">
            <a:avLst>
              <a:gd name="adj1" fmla="val 55330"/>
              <a:gd name="adj2" fmla="val 5000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下 5">
            <a:extLst>
              <a:ext uri="{FF2B5EF4-FFF2-40B4-BE49-F238E27FC236}">
                <a16:creationId xmlns:a16="http://schemas.microsoft.com/office/drawing/2014/main" id="{76FC8918-FA37-A196-1D16-B3DA432EA16B}"/>
              </a:ext>
            </a:extLst>
          </p:cNvPr>
          <p:cNvSpPr/>
          <p:nvPr/>
        </p:nvSpPr>
        <p:spPr>
          <a:xfrm rot="4921617">
            <a:off x="9203454" y="3493977"/>
            <a:ext cx="236069" cy="1193627"/>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B05A171-052B-996D-A2A3-722ADAC7CD85}"/>
              </a:ext>
            </a:extLst>
          </p:cNvPr>
          <p:cNvSpPr txBox="1"/>
          <p:nvPr/>
        </p:nvSpPr>
        <p:spPr>
          <a:xfrm>
            <a:off x="7295561" y="1111520"/>
            <a:ext cx="4797028" cy="369332"/>
          </a:xfrm>
          <a:prstGeom prst="rect">
            <a:avLst/>
          </a:prstGeom>
          <a:noFill/>
        </p:spPr>
        <p:txBody>
          <a:bodyPr wrap="square">
            <a:spAutoFit/>
          </a:bodyPr>
          <a:lstStyle/>
          <a:p>
            <a:r>
              <a:rPr lang="ja-JP" altLang="en-US" b="1" dirty="0">
                <a:solidFill>
                  <a:srgbClr val="C00000"/>
                </a:solidFill>
              </a:rPr>
              <a:t>エッジを辿る本数が少ない程、似ている文書</a:t>
            </a:r>
          </a:p>
        </p:txBody>
      </p:sp>
      <p:sp>
        <p:nvSpPr>
          <p:cNvPr id="19" name="テキスト ボックス 18">
            <a:extLst>
              <a:ext uri="{FF2B5EF4-FFF2-40B4-BE49-F238E27FC236}">
                <a16:creationId xmlns:a16="http://schemas.microsoft.com/office/drawing/2014/main" id="{C700F1F8-ED21-6750-F8FB-461C3C98D84F}"/>
              </a:ext>
            </a:extLst>
          </p:cNvPr>
          <p:cNvSpPr txBox="1"/>
          <p:nvPr/>
        </p:nvSpPr>
        <p:spPr>
          <a:xfrm>
            <a:off x="99410" y="105099"/>
            <a:ext cx="7831337" cy="461665"/>
          </a:xfrm>
          <a:prstGeom prst="rect">
            <a:avLst/>
          </a:prstGeom>
          <a:noFill/>
        </p:spPr>
        <p:txBody>
          <a:bodyPr wrap="square">
            <a:spAutoFit/>
          </a:bodyPr>
          <a:lstStyle/>
          <a:p>
            <a:r>
              <a:rPr kumimoji="1" lang="ja-JP" altLang="en-US" sz="2400" b="1" dirty="0"/>
              <a:t>線が短い場合と長い場合で類似度に関係があるのか？</a:t>
            </a:r>
            <a:endParaRPr kumimoji="1" lang="en-US" altLang="ja-JP" sz="2400" b="1" dirty="0"/>
          </a:p>
        </p:txBody>
      </p:sp>
    </p:spTree>
    <p:extLst>
      <p:ext uri="{BB962C8B-B14F-4D97-AF65-F5344CB8AC3E}">
        <p14:creationId xmlns:p14="http://schemas.microsoft.com/office/powerpoint/2010/main" val="1164719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B6F64E-DB71-F0AE-346E-81FF8182EC2A}"/>
            </a:ext>
          </a:extLst>
        </p:cNvPr>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AC911F4F-A9E0-744F-6658-67943F4448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CA72D1D-B5B9-A937-2F49-AD6DDA1FCB3F}"/>
              </a:ext>
            </a:extLst>
          </p:cNvPr>
          <p:cNvSpPr>
            <a:spLocks noGrp="1"/>
          </p:cNvSpPr>
          <p:nvPr>
            <p:ph type="title"/>
          </p:nvPr>
        </p:nvSpPr>
        <p:spPr>
          <a:xfrm>
            <a:off x="793661" y="386930"/>
            <a:ext cx="10214857" cy="1298448"/>
          </a:xfrm>
        </p:spPr>
        <p:txBody>
          <a:bodyPr anchor="b">
            <a:normAutofit fontScale="90000"/>
          </a:bodyPr>
          <a:lstStyle/>
          <a:p>
            <a:r>
              <a:rPr kumimoji="1" lang="ja-JP" altLang="en-US" sz="4400" b="1" dirty="0"/>
              <a:t>同じ意味</a:t>
            </a:r>
            <a:r>
              <a:rPr lang="ja-JP" altLang="en-US" sz="4400" b="1" dirty="0"/>
              <a:t>の</a:t>
            </a:r>
            <a:r>
              <a:rPr kumimoji="1" lang="ja-JP" altLang="en-US" sz="4400" b="1" dirty="0"/>
              <a:t>単語</a:t>
            </a:r>
            <a:r>
              <a:rPr lang="ja-JP" altLang="en-US" b="1" dirty="0"/>
              <a:t>の表</a:t>
            </a:r>
            <a:r>
              <a:rPr lang="ja-JP" altLang="en-US" sz="4400" b="1" dirty="0"/>
              <a:t>記が異なって</a:t>
            </a:r>
            <a:r>
              <a:rPr kumimoji="1" lang="ja-JP" altLang="en-US" sz="4400" b="1" dirty="0"/>
              <a:t>もよいか？</a:t>
            </a:r>
            <a:endParaRPr kumimoji="1" lang="ja-JP" altLang="en-US" dirty="0"/>
          </a:p>
        </p:txBody>
      </p:sp>
      <p:sp>
        <p:nvSpPr>
          <p:cNvPr id="60" name="Rectangle 59">
            <a:extLst>
              <a:ext uri="{FF2B5EF4-FFF2-40B4-BE49-F238E27FC236}">
                <a16:creationId xmlns:a16="http://schemas.microsoft.com/office/drawing/2014/main" id="{C3687BD9-CEBB-CE4F-B7B0-F38800001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E95658E8-8C66-8B3D-B9A5-5A5CA365A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A8231C2-5E97-BFEB-95C9-7B0295872311}"/>
              </a:ext>
            </a:extLst>
          </p:cNvPr>
          <p:cNvSpPr>
            <a:spLocks noGrp="1"/>
          </p:cNvSpPr>
          <p:nvPr>
            <p:ph idx="1"/>
          </p:nvPr>
        </p:nvSpPr>
        <p:spPr>
          <a:xfrm>
            <a:off x="793661" y="2366272"/>
            <a:ext cx="4530898" cy="3872687"/>
          </a:xfrm>
        </p:spPr>
        <p:txBody>
          <a:bodyPr anchor="ctr">
            <a:normAutofit fontScale="85000" lnSpcReduction="20000"/>
          </a:bodyPr>
          <a:lstStyle/>
          <a:p>
            <a:pPr marL="0" indent="0">
              <a:buNone/>
            </a:pPr>
            <a:r>
              <a:rPr lang="ja-JP" altLang="en-US" sz="2000" b="1" dirty="0">
                <a:latin typeface="Courier New" panose="02070309020205020404" pitchFamily="49" charset="0"/>
              </a:rPr>
              <a:t>回答</a:t>
            </a:r>
            <a:endParaRPr lang="en-US" altLang="ja-JP" sz="2000" b="1" dirty="0">
              <a:latin typeface="Courier New" panose="02070309020205020404" pitchFamily="49" charset="0"/>
            </a:endParaRPr>
          </a:p>
          <a:p>
            <a:pPr marL="0" indent="0">
              <a:buNone/>
            </a:pPr>
            <a:r>
              <a:rPr lang="ja-JP" altLang="en-US" sz="2000" dirty="0">
                <a:latin typeface="Courier New" panose="02070309020205020404" pitchFamily="49" charset="0"/>
              </a:rPr>
              <a:t>多くのケースで決定的な問題でない</a:t>
            </a:r>
            <a:r>
              <a:rPr lang="en-US" altLang="ja-JP" sz="2000" dirty="0">
                <a:latin typeface="Courier New" panose="02070309020205020404" pitchFamily="49" charset="0"/>
              </a:rPr>
              <a:t>.</a:t>
            </a:r>
          </a:p>
          <a:p>
            <a:pPr marL="0" indent="0">
              <a:buNone/>
            </a:pPr>
            <a:endParaRPr lang="en-US" altLang="ja-JP" sz="2000" dirty="0">
              <a:latin typeface="Courier New" panose="02070309020205020404" pitchFamily="49" charset="0"/>
            </a:endParaRPr>
          </a:p>
          <a:p>
            <a:pPr marL="0" indent="0">
              <a:buNone/>
            </a:pPr>
            <a:r>
              <a:rPr lang="ja-JP" altLang="en-US" sz="2000" b="1" dirty="0">
                <a:latin typeface="Courier New" panose="02070309020205020404" pitchFamily="49" charset="0"/>
              </a:rPr>
              <a:t>実験設定</a:t>
            </a:r>
            <a:endParaRPr lang="en-US" altLang="ja-JP" sz="2000" dirty="0">
              <a:latin typeface="Courier New" panose="02070309020205020404" pitchFamily="49" charset="0"/>
            </a:endParaRPr>
          </a:p>
          <a:p>
            <a:pPr marL="0" indent="0">
              <a:buNone/>
            </a:pPr>
            <a:r>
              <a:rPr lang="ja-JP" altLang="en-US" sz="2000" b="0" dirty="0">
                <a:effectLst/>
                <a:latin typeface="Courier New" panose="02070309020205020404" pitchFamily="49" charset="0"/>
              </a:rPr>
              <a:t>「栗」と「くり」で表記の異なる</a:t>
            </a:r>
            <a:endParaRPr lang="en-US" altLang="ja-JP" sz="2000" b="0" dirty="0">
              <a:effectLst/>
              <a:latin typeface="Courier New" panose="02070309020205020404" pitchFamily="49" charset="0"/>
            </a:endParaRPr>
          </a:p>
          <a:p>
            <a:pPr marL="0" indent="0">
              <a:buNone/>
            </a:pPr>
            <a:r>
              <a:rPr lang="ja-JP" altLang="en-US" sz="2000" dirty="0">
                <a:latin typeface="Courier New" panose="02070309020205020404" pitchFamily="49" charset="0"/>
              </a:rPr>
              <a:t>それぞれの</a:t>
            </a:r>
            <a:r>
              <a:rPr lang="ja-JP" altLang="en-US" sz="2000" b="0" dirty="0">
                <a:effectLst/>
                <a:latin typeface="Courier New" panose="02070309020205020404" pitchFamily="49" charset="0"/>
              </a:rPr>
              <a:t>クエリでの検索結果を分析</a:t>
            </a:r>
            <a:r>
              <a:rPr lang="en-US" altLang="ja-JP" sz="2000" b="0" dirty="0">
                <a:effectLst/>
                <a:latin typeface="Courier New" panose="02070309020205020404" pitchFamily="49" charset="0"/>
              </a:rPr>
              <a:t>.</a:t>
            </a:r>
          </a:p>
          <a:p>
            <a:pPr marL="0" indent="0">
              <a:buNone/>
            </a:pPr>
            <a:r>
              <a:rPr lang="ja-JP" altLang="en-US" sz="2000" b="0" dirty="0">
                <a:effectLst/>
                <a:latin typeface="Courier New" panose="02070309020205020404" pitchFamily="49" charset="0"/>
              </a:rPr>
              <a:t>クエリで１００件の文書を検索</a:t>
            </a:r>
            <a:r>
              <a:rPr lang="en-US" altLang="ja-JP" sz="2000" b="0" dirty="0">
                <a:effectLst/>
                <a:latin typeface="Courier New" panose="02070309020205020404" pitchFamily="49" charset="0"/>
              </a:rPr>
              <a:t>.</a:t>
            </a:r>
          </a:p>
          <a:p>
            <a:endParaRPr lang="en-US" altLang="ja-JP" sz="2000" dirty="0">
              <a:latin typeface="Courier New" panose="02070309020205020404" pitchFamily="49" charset="0"/>
            </a:endParaRPr>
          </a:p>
          <a:p>
            <a:pPr marL="0" indent="0">
              <a:buNone/>
            </a:pPr>
            <a:r>
              <a:rPr lang="ja-JP" altLang="en-US" sz="2000" b="1" dirty="0">
                <a:effectLst/>
                <a:latin typeface="Courier New" panose="02070309020205020404" pitchFamily="49" charset="0"/>
              </a:rPr>
              <a:t>実験結果</a:t>
            </a:r>
            <a:endParaRPr lang="en-US" altLang="ja-JP" sz="2000" b="1" dirty="0">
              <a:effectLst/>
              <a:latin typeface="Courier New" panose="02070309020205020404" pitchFamily="49" charset="0"/>
            </a:endParaRPr>
          </a:p>
          <a:p>
            <a:pPr marL="0" indent="0">
              <a:buNone/>
            </a:pPr>
            <a:r>
              <a:rPr lang="ja-JP" altLang="en-US" sz="2000" dirty="0">
                <a:latin typeface="Courier New" panose="02070309020205020404" pitchFamily="49" charset="0"/>
              </a:rPr>
              <a:t>５８件の文書が一致</a:t>
            </a:r>
            <a:r>
              <a:rPr lang="en-US" altLang="ja-JP" sz="2000" dirty="0">
                <a:latin typeface="Courier New" panose="02070309020205020404" pitchFamily="49" charset="0"/>
              </a:rPr>
              <a:t>.</a:t>
            </a:r>
            <a:r>
              <a:rPr lang="ja-JP" altLang="en-US" sz="2000" dirty="0">
                <a:latin typeface="Courier New" panose="02070309020205020404" pitchFamily="49" charset="0"/>
              </a:rPr>
              <a:t>上位説明語も類似</a:t>
            </a:r>
            <a:r>
              <a:rPr lang="en-US" altLang="ja-JP" sz="2000" dirty="0">
                <a:latin typeface="Courier New" panose="02070309020205020404" pitchFamily="49" charset="0"/>
              </a:rPr>
              <a:t>.</a:t>
            </a:r>
          </a:p>
          <a:p>
            <a:pPr marL="0" indent="0">
              <a:buNone/>
            </a:pPr>
            <a:r>
              <a:rPr lang="ja-JP" altLang="en-US" sz="2000" b="0" dirty="0">
                <a:effectLst/>
                <a:latin typeface="Courier New" panose="02070309020205020404" pitchFamily="49" charset="0"/>
              </a:rPr>
              <a:t>「栗」でも「くり」でも、共起単語の</a:t>
            </a:r>
            <a:endParaRPr lang="en-US" altLang="ja-JP" sz="2000" b="0" dirty="0">
              <a:effectLst/>
              <a:latin typeface="Courier New" panose="02070309020205020404" pitchFamily="49" charset="0"/>
            </a:endParaRPr>
          </a:p>
          <a:p>
            <a:pPr marL="0" indent="0">
              <a:buNone/>
            </a:pPr>
            <a:r>
              <a:rPr lang="ja-JP" altLang="en-US" sz="2000" b="0" dirty="0">
                <a:effectLst/>
                <a:latin typeface="Courier New" panose="02070309020205020404" pitchFamily="49" charset="0"/>
              </a:rPr>
              <a:t>共通性は高い</a:t>
            </a:r>
            <a:r>
              <a:rPr lang="en-US" altLang="ja-JP" sz="2000" dirty="0">
                <a:latin typeface="Courier New" panose="02070309020205020404" pitchFamily="49" charset="0"/>
              </a:rPr>
              <a:t>.</a:t>
            </a:r>
          </a:p>
        </p:txBody>
      </p:sp>
      <p:sp>
        <p:nvSpPr>
          <p:cNvPr id="64" name="Rectangle 63">
            <a:extLst>
              <a:ext uri="{FF2B5EF4-FFF2-40B4-BE49-F238E27FC236}">
                <a16:creationId xmlns:a16="http://schemas.microsoft.com/office/drawing/2014/main" id="{CCD15392-4A5C-12DE-46DA-882C8C84BA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コンテンツ プレースホルダー 4">
            <a:extLst>
              <a:ext uri="{FF2B5EF4-FFF2-40B4-BE49-F238E27FC236}">
                <a16:creationId xmlns:a16="http://schemas.microsoft.com/office/drawing/2014/main" id="{EB5EA0F1-B7FF-E558-C4D9-3A45A16E4480}"/>
              </a:ext>
            </a:extLst>
          </p:cNvPr>
          <p:cNvGraphicFramePr>
            <a:graphicFrameLocks/>
          </p:cNvGraphicFramePr>
          <p:nvPr>
            <p:extLst>
              <p:ext uri="{D42A27DB-BD31-4B8C-83A1-F6EECF244321}">
                <p14:modId xmlns:p14="http://schemas.microsoft.com/office/powerpoint/2010/main" val="378767592"/>
              </p:ext>
            </p:extLst>
          </p:nvPr>
        </p:nvGraphicFramePr>
        <p:xfrm>
          <a:off x="6867443" y="2353334"/>
          <a:ext cx="3992358" cy="4023360"/>
        </p:xfrm>
        <a:graphic>
          <a:graphicData uri="http://schemas.openxmlformats.org/drawingml/2006/table">
            <a:tbl>
              <a:tblPr firstRow="1" bandRow="1">
                <a:tableStyleId>{5C22544A-7EE6-4342-B048-85BDC9FD1C3A}</a:tableStyleId>
              </a:tblPr>
              <a:tblGrid>
                <a:gridCol w="1330786">
                  <a:extLst>
                    <a:ext uri="{9D8B030D-6E8A-4147-A177-3AD203B41FA5}">
                      <a16:colId xmlns:a16="http://schemas.microsoft.com/office/drawing/2014/main" val="4095642478"/>
                    </a:ext>
                  </a:extLst>
                </a:gridCol>
                <a:gridCol w="1330786">
                  <a:extLst>
                    <a:ext uri="{9D8B030D-6E8A-4147-A177-3AD203B41FA5}">
                      <a16:colId xmlns:a16="http://schemas.microsoft.com/office/drawing/2014/main" val="1523859526"/>
                    </a:ext>
                  </a:extLst>
                </a:gridCol>
                <a:gridCol w="1330786">
                  <a:extLst>
                    <a:ext uri="{9D8B030D-6E8A-4147-A177-3AD203B41FA5}">
                      <a16:colId xmlns:a16="http://schemas.microsoft.com/office/drawing/2014/main" val="3961769052"/>
                    </a:ext>
                  </a:extLst>
                </a:gridCol>
              </a:tblGrid>
              <a:tr h="293300">
                <a:tc>
                  <a:txBody>
                    <a:bodyPr/>
                    <a:lstStyle/>
                    <a:p>
                      <a:pPr algn="ctr"/>
                      <a:r>
                        <a:rPr kumimoji="1" lang="ja-JP" altLang="en-US" dirty="0"/>
                        <a:t>順位</a:t>
                      </a:r>
                    </a:p>
                  </a:txBody>
                  <a:tcPr/>
                </a:tc>
                <a:tc>
                  <a:txBody>
                    <a:bodyPr/>
                    <a:lstStyle/>
                    <a:p>
                      <a:pPr algn="ctr"/>
                      <a:r>
                        <a:rPr kumimoji="1" lang="ja-JP" altLang="en-US" dirty="0"/>
                        <a:t>栗</a:t>
                      </a:r>
                    </a:p>
                  </a:txBody>
                  <a:tcPr/>
                </a:tc>
                <a:tc>
                  <a:txBody>
                    <a:bodyPr/>
                    <a:lstStyle/>
                    <a:p>
                      <a:pPr algn="ctr"/>
                      <a:r>
                        <a:rPr kumimoji="1" lang="ja-JP" altLang="en-US" dirty="0"/>
                        <a:t>くり</a:t>
                      </a:r>
                    </a:p>
                  </a:txBody>
                  <a:tcPr/>
                </a:tc>
                <a:extLst>
                  <a:ext uri="{0D108BD9-81ED-4DB2-BD59-A6C34878D82A}">
                    <a16:rowId xmlns:a16="http://schemas.microsoft.com/office/drawing/2014/main" val="2078499565"/>
                  </a:ext>
                </a:extLst>
              </a:tr>
              <a:tr h="293300">
                <a:tc>
                  <a:txBody>
                    <a:bodyPr/>
                    <a:lstStyle/>
                    <a:p>
                      <a:pPr algn="ctr"/>
                      <a:r>
                        <a:rPr kumimoji="1" lang="en-US" altLang="ja-JP" dirty="0"/>
                        <a:t>1</a:t>
                      </a:r>
                      <a:endParaRPr kumimoji="1" lang="ja-JP" altLang="en-US" dirty="0"/>
                    </a:p>
                  </a:txBody>
                  <a:tcPr/>
                </a:tc>
                <a:tc>
                  <a:txBody>
                    <a:bodyPr/>
                    <a:lstStyle/>
                    <a:p>
                      <a:pPr algn="ctr"/>
                      <a:r>
                        <a:rPr kumimoji="1" lang="ja-JP" altLang="en-US" dirty="0"/>
                        <a:t>栗</a:t>
                      </a:r>
                    </a:p>
                  </a:txBody>
                  <a:tcPr/>
                </a:tc>
                <a:tc>
                  <a:txBody>
                    <a:bodyPr/>
                    <a:lstStyle/>
                    <a:p>
                      <a:pPr algn="ctr"/>
                      <a:r>
                        <a:rPr kumimoji="1" lang="ja-JP" altLang="en-US" dirty="0"/>
                        <a:t>料理</a:t>
                      </a:r>
                    </a:p>
                  </a:txBody>
                  <a:tcPr/>
                </a:tc>
                <a:extLst>
                  <a:ext uri="{0D108BD9-81ED-4DB2-BD59-A6C34878D82A}">
                    <a16:rowId xmlns:a16="http://schemas.microsoft.com/office/drawing/2014/main" val="2597813302"/>
                  </a:ext>
                </a:extLst>
              </a:tr>
              <a:tr h="293300">
                <a:tc>
                  <a:txBody>
                    <a:bodyPr/>
                    <a:lstStyle/>
                    <a:p>
                      <a:pPr algn="ctr"/>
                      <a:r>
                        <a:rPr kumimoji="1" lang="en-US" altLang="ja-JP" dirty="0"/>
                        <a:t>2</a:t>
                      </a:r>
                    </a:p>
                  </a:txBody>
                  <a:tcPr/>
                </a:tc>
                <a:tc>
                  <a:txBody>
                    <a:bodyPr/>
                    <a:lstStyle/>
                    <a:p>
                      <a:pPr algn="ctr"/>
                      <a:r>
                        <a:rPr kumimoji="1" lang="ja-JP" altLang="en-US" dirty="0"/>
                        <a:t>料理</a:t>
                      </a:r>
                    </a:p>
                  </a:txBody>
                  <a:tcPr/>
                </a:tc>
                <a:tc>
                  <a:txBody>
                    <a:bodyPr/>
                    <a:lstStyle/>
                    <a:p>
                      <a:pPr algn="ctr"/>
                      <a:r>
                        <a:rPr kumimoji="1" lang="ja-JP" altLang="en-US" dirty="0"/>
                        <a:t>くり</a:t>
                      </a:r>
                    </a:p>
                  </a:txBody>
                  <a:tcPr/>
                </a:tc>
                <a:extLst>
                  <a:ext uri="{0D108BD9-81ED-4DB2-BD59-A6C34878D82A}">
                    <a16:rowId xmlns:a16="http://schemas.microsoft.com/office/drawing/2014/main" val="4048187340"/>
                  </a:ext>
                </a:extLst>
              </a:tr>
              <a:tr h="293300">
                <a:tc>
                  <a:txBody>
                    <a:bodyPr/>
                    <a:lstStyle/>
                    <a:p>
                      <a:pPr algn="ctr"/>
                      <a:r>
                        <a:rPr kumimoji="1" lang="en-US" altLang="ja-JP" dirty="0"/>
                        <a:t>3</a:t>
                      </a:r>
                      <a:endParaRPr kumimoji="1" lang="ja-JP" altLang="en-US" dirty="0"/>
                    </a:p>
                  </a:txBody>
                  <a:tcPr/>
                </a:tc>
                <a:tc>
                  <a:txBody>
                    <a:bodyPr/>
                    <a:lstStyle/>
                    <a:p>
                      <a:pPr algn="ctr"/>
                      <a:r>
                        <a:rPr kumimoji="1" lang="ja-JP" altLang="en-US" dirty="0"/>
                        <a:t>果物</a:t>
                      </a:r>
                    </a:p>
                  </a:txBody>
                  <a:tcPr/>
                </a:tc>
                <a:tc>
                  <a:txBody>
                    <a:bodyPr/>
                    <a:lstStyle/>
                    <a:p>
                      <a:pPr algn="ctr"/>
                      <a:r>
                        <a:rPr kumimoji="1" lang="ja-JP" altLang="en-US" dirty="0"/>
                        <a:t>果物</a:t>
                      </a:r>
                    </a:p>
                  </a:txBody>
                  <a:tcPr/>
                </a:tc>
                <a:extLst>
                  <a:ext uri="{0D108BD9-81ED-4DB2-BD59-A6C34878D82A}">
                    <a16:rowId xmlns:a16="http://schemas.microsoft.com/office/drawing/2014/main" val="3771076961"/>
                  </a:ext>
                </a:extLst>
              </a:tr>
              <a:tr h="293300">
                <a:tc>
                  <a:txBody>
                    <a:bodyPr/>
                    <a:lstStyle/>
                    <a:p>
                      <a:pPr algn="ctr"/>
                      <a:r>
                        <a:rPr kumimoji="1" lang="en-US" altLang="ja-JP" dirty="0"/>
                        <a:t>4</a:t>
                      </a:r>
                      <a:endParaRPr kumimoji="1" lang="ja-JP" altLang="en-US" dirty="0"/>
                    </a:p>
                  </a:txBody>
                  <a:tcPr/>
                </a:tc>
                <a:tc>
                  <a:txBody>
                    <a:bodyPr/>
                    <a:lstStyle/>
                    <a:p>
                      <a:pPr algn="ctr"/>
                      <a:r>
                        <a:rPr kumimoji="1" lang="ja-JP" altLang="en-US" dirty="0"/>
                        <a:t>秋</a:t>
                      </a:r>
                    </a:p>
                  </a:txBody>
                  <a:tcPr/>
                </a:tc>
                <a:tc>
                  <a:txBody>
                    <a:bodyPr/>
                    <a:lstStyle/>
                    <a:p>
                      <a:pPr algn="ctr"/>
                      <a:r>
                        <a:rPr kumimoji="1" lang="ja-JP" altLang="en-US" dirty="0"/>
                        <a:t>秋</a:t>
                      </a:r>
                    </a:p>
                  </a:txBody>
                  <a:tcPr/>
                </a:tc>
                <a:extLst>
                  <a:ext uri="{0D108BD9-81ED-4DB2-BD59-A6C34878D82A}">
                    <a16:rowId xmlns:a16="http://schemas.microsoft.com/office/drawing/2014/main" val="494250379"/>
                  </a:ext>
                </a:extLst>
              </a:tr>
              <a:tr h="293300">
                <a:tc>
                  <a:txBody>
                    <a:bodyPr/>
                    <a:lstStyle/>
                    <a:p>
                      <a:pPr algn="ctr"/>
                      <a:r>
                        <a:rPr kumimoji="1" lang="en-US" altLang="ja-JP" dirty="0"/>
                        <a:t>5</a:t>
                      </a:r>
                      <a:endParaRPr kumimoji="1" lang="ja-JP" altLang="en-US" dirty="0"/>
                    </a:p>
                  </a:txBody>
                  <a:tcPr/>
                </a:tc>
                <a:tc>
                  <a:txBody>
                    <a:bodyPr/>
                    <a:lstStyle/>
                    <a:p>
                      <a:pPr algn="ctr"/>
                      <a:r>
                        <a:rPr kumimoji="1" lang="ja-JP" altLang="en-US" dirty="0"/>
                        <a:t>食べる</a:t>
                      </a:r>
                    </a:p>
                  </a:txBody>
                  <a:tcPr/>
                </a:tc>
                <a:tc>
                  <a:txBody>
                    <a:bodyPr/>
                    <a:lstStyle/>
                    <a:p>
                      <a:pPr algn="ctr"/>
                      <a:r>
                        <a:rPr kumimoji="1" lang="ja-JP" altLang="en-US" dirty="0"/>
                        <a:t>健康</a:t>
                      </a:r>
                    </a:p>
                  </a:txBody>
                  <a:tcPr/>
                </a:tc>
                <a:extLst>
                  <a:ext uri="{0D108BD9-81ED-4DB2-BD59-A6C34878D82A}">
                    <a16:rowId xmlns:a16="http://schemas.microsoft.com/office/drawing/2014/main" val="3690259004"/>
                  </a:ext>
                </a:extLst>
              </a:tr>
              <a:tr h="293300">
                <a:tc>
                  <a:txBody>
                    <a:bodyPr/>
                    <a:lstStyle/>
                    <a:p>
                      <a:pPr algn="ctr"/>
                      <a:r>
                        <a:rPr kumimoji="1" lang="en-US" altLang="ja-JP" dirty="0"/>
                        <a:t>6</a:t>
                      </a:r>
                      <a:endParaRPr kumimoji="1" lang="ja-JP" altLang="en-US" dirty="0"/>
                    </a:p>
                  </a:txBody>
                  <a:tcPr/>
                </a:tc>
                <a:tc>
                  <a:txBody>
                    <a:bodyPr/>
                    <a:lstStyle/>
                    <a:p>
                      <a:pPr algn="ctr"/>
                      <a:r>
                        <a:rPr kumimoji="1" lang="ja-JP" altLang="en-US" dirty="0"/>
                        <a:t>健康</a:t>
                      </a:r>
                    </a:p>
                  </a:txBody>
                  <a:tcPr/>
                </a:tc>
                <a:tc>
                  <a:txBody>
                    <a:bodyPr/>
                    <a:lstStyle/>
                    <a:p>
                      <a:pPr algn="ctr"/>
                      <a:r>
                        <a:rPr kumimoji="1" lang="ja-JP" altLang="en-US" dirty="0"/>
                        <a:t>食べる</a:t>
                      </a:r>
                    </a:p>
                  </a:txBody>
                  <a:tcPr/>
                </a:tc>
                <a:extLst>
                  <a:ext uri="{0D108BD9-81ED-4DB2-BD59-A6C34878D82A}">
                    <a16:rowId xmlns:a16="http://schemas.microsoft.com/office/drawing/2014/main" val="1426876685"/>
                  </a:ext>
                </a:extLst>
              </a:tr>
              <a:tr h="293300">
                <a:tc>
                  <a:txBody>
                    <a:bodyPr/>
                    <a:lstStyle/>
                    <a:p>
                      <a:pPr algn="ctr"/>
                      <a:r>
                        <a:rPr kumimoji="1" lang="en-US" altLang="ja-JP" dirty="0"/>
                        <a:t>7</a:t>
                      </a:r>
                      <a:endParaRPr kumimoji="1" lang="ja-JP" altLang="en-US" dirty="0"/>
                    </a:p>
                  </a:txBody>
                  <a:tcPr/>
                </a:tc>
                <a:tc>
                  <a:txBody>
                    <a:bodyPr/>
                    <a:lstStyle/>
                    <a:p>
                      <a:pPr algn="ctr"/>
                      <a:r>
                        <a:rPr kumimoji="1" lang="ja-JP" altLang="en-US" dirty="0"/>
                        <a:t>収穫</a:t>
                      </a:r>
                    </a:p>
                  </a:txBody>
                  <a:tcPr/>
                </a:tc>
                <a:tc>
                  <a:txBody>
                    <a:bodyPr/>
                    <a:lstStyle/>
                    <a:p>
                      <a:pPr algn="ctr"/>
                      <a:r>
                        <a:rPr kumimoji="1" lang="ja-JP" altLang="en-US" dirty="0"/>
                        <a:t>ます</a:t>
                      </a:r>
                    </a:p>
                  </a:txBody>
                  <a:tcPr/>
                </a:tc>
                <a:extLst>
                  <a:ext uri="{0D108BD9-81ED-4DB2-BD59-A6C34878D82A}">
                    <a16:rowId xmlns:a16="http://schemas.microsoft.com/office/drawing/2014/main" val="4128583394"/>
                  </a:ext>
                </a:extLst>
              </a:tr>
              <a:tr h="293300">
                <a:tc>
                  <a:txBody>
                    <a:bodyPr/>
                    <a:lstStyle/>
                    <a:p>
                      <a:pPr algn="ctr"/>
                      <a:r>
                        <a:rPr kumimoji="1" lang="en-US" altLang="ja-JP" dirty="0"/>
                        <a:t>8</a:t>
                      </a:r>
                      <a:endParaRPr kumimoji="1" lang="ja-JP" altLang="en-US" dirty="0"/>
                    </a:p>
                  </a:txBody>
                  <a:tcPr/>
                </a:tc>
                <a:tc>
                  <a:txBody>
                    <a:bodyPr/>
                    <a:lstStyle/>
                    <a:p>
                      <a:pPr algn="ctr"/>
                      <a:r>
                        <a:rPr kumimoji="1" lang="ja-JP" altLang="en-US" dirty="0"/>
                        <a:t>風味</a:t>
                      </a:r>
                    </a:p>
                  </a:txBody>
                  <a:tcPr/>
                </a:tc>
                <a:tc>
                  <a:txBody>
                    <a:bodyPr/>
                    <a:lstStyle/>
                    <a:p>
                      <a:pPr algn="ctr"/>
                      <a:r>
                        <a:rPr kumimoji="1" lang="ja-JP" altLang="en-US" dirty="0"/>
                        <a:t>美味しい</a:t>
                      </a:r>
                    </a:p>
                  </a:txBody>
                  <a:tcPr/>
                </a:tc>
                <a:extLst>
                  <a:ext uri="{0D108BD9-81ED-4DB2-BD59-A6C34878D82A}">
                    <a16:rowId xmlns:a16="http://schemas.microsoft.com/office/drawing/2014/main" val="2536729466"/>
                  </a:ext>
                </a:extLst>
              </a:tr>
              <a:tr h="293300">
                <a:tc>
                  <a:txBody>
                    <a:bodyPr/>
                    <a:lstStyle/>
                    <a:p>
                      <a:pPr algn="ctr"/>
                      <a:r>
                        <a:rPr kumimoji="1" lang="en-US" altLang="ja-JP" dirty="0"/>
                        <a:t>9</a:t>
                      </a:r>
                      <a:endParaRPr kumimoji="1" lang="ja-JP" altLang="en-US" dirty="0"/>
                    </a:p>
                  </a:txBody>
                  <a:tcPr/>
                </a:tc>
                <a:tc>
                  <a:txBody>
                    <a:bodyPr/>
                    <a:lstStyle/>
                    <a:p>
                      <a:pPr algn="ctr"/>
                      <a:r>
                        <a:rPr kumimoji="1" lang="ja-JP" altLang="en-US" dirty="0"/>
                        <a:t>庭園</a:t>
                      </a:r>
                    </a:p>
                  </a:txBody>
                  <a:tcPr/>
                </a:tc>
                <a:tc>
                  <a:txBody>
                    <a:bodyPr/>
                    <a:lstStyle/>
                    <a:p>
                      <a:pPr algn="ctr"/>
                      <a:r>
                        <a:rPr kumimoji="1" lang="ja-JP" altLang="en-US" dirty="0"/>
                        <a:t>収穫</a:t>
                      </a:r>
                    </a:p>
                  </a:txBody>
                  <a:tcPr/>
                </a:tc>
                <a:extLst>
                  <a:ext uri="{0D108BD9-81ED-4DB2-BD59-A6C34878D82A}">
                    <a16:rowId xmlns:a16="http://schemas.microsoft.com/office/drawing/2014/main" val="2531454233"/>
                  </a:ext>
                </a:extLst>
              </a:tr>
              <a:tr h="293300">
                <a:tc>
                  <a:txBody>
                    <a:bodyPr/>
                    <a:lstStyle/>
                    <a:p>
                      <a:pPr algn="ctr"/>
                      <a:r>
                        <a:rPr kumimoji="1" lang="en-US" altLang="ja-JP" dirty="0"/>
                        <a:t>10</a:t>
                      </a:r>
                      <a:endParaRPr kumimoji="1" lang="ja-JP" altLang="en-US" dirty="0"/>
                    </a:p>
                  </a:txBody>
                  <a:tcPr/>
                </a:tc>
                <a:tc>
                  <a:txBody>
                    <a:bodyPr/>
                    <a:lstStyle/>
                    <a:p>
                      <a:pPr algn="ctr"/>
                      <a:r>
                        <a:rPr kumimoji="1" lang="ja-JP" altLang="en-US" dirty="0"/>
                        <a:t>ミネラル</a:t>
                      </a:r>
                    </a:p>
                  </a:txBody>
                  <a:tcPr/>
                </a:tc>
                <a:tc>
                  <a:txBody>
                    <a:bodyPr/>
                    <a:lstStyle/>
                    <a:p>
                      <a:pPr algn="ctr"/>
                      <a:r>
                        <a:rPr kumimoji="1" lang="ja-JP" altLang="en-US" dirty="0"/>
                        <a:t>落ち</a:t>
                      </a:r>
                    </a:p>
                  </a:txBody>
                  <a:tcPr/>
                </a:tc>
                <a:extLst>
                  <a:ext uri="{0D108BD9-81ED-4DB2-BD59-A6C34878D82A}">
                    <a16:rowId xmlns:a16="http://schemas.microsoft.com/office/drawing/2014/main" val="2422823877"/>
                  </a:ext>
                </a:extLst>
              </a:tr>
            </a:tbl>
          </a:graphicData>
        </a:graphic>
      </p:graphicFrame>
      <p:sp>
        <p:nvSpPr>
          <p:cNvPr id="6" name="正方形/長方形 5">
            <a:extLst>
              <a:ext uri="{FF2B5EF4-FFF2-40B4-BE49-F238E27FC236}">
                <a16:creationId xmlns:a16="http://schemas.microsoft.com/office/drawing/2014/main" id="{0D65BD43-D5A0-17E3-3602-4AB065A1C846}"/>
              </a:ext>
            </a:extLst>
          </p:cNvPr>
          <p:cNvSpPr/>
          <p:nvPr/>
        </p:nvSpPr>
        <p:spPr>
          <a:xfrm>
            <a:off x="4640961" y="4365014"/>
            <a:ext cx="1367193" cy="677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Courier New" panose="02070309020205020404" pitchFamily="49" charset="0"/>
              </a:rPr>
              <a:t>上位説明語</a:t>
            </a:r>
            <a:endParaRPr lang="ja-JP" altLang="en-US" b="1" dirty="0"/>
          </a:p>
        </p:txBody>
      </p:sp>
      <p:sp>
        <p:nvSpPr>
          <p:cNvPr id="7" name="矢印: 右 6">
            <a:extLst>
              <a:ext uri="{FF2B5EF4-FFF2-40B4-BE49-F238E27FC236}">
                <a16:creationId xmlns:a16="http://schemas.microsoft.com/office/drawing/2014/main" id="{59609F78-422B-B7A7-76DF-1409CF2D1CCA}"/>
              </a:ext>
            </a:extLst>
          </p:cNvPr>
          <p:cNvSpPr/>
          <p:nvPr/>
        </p:nvSpPr>
        <p:spPr>
          <a:xfrm rot="19116667">
            <a:off x="5065048" y="3225465"/>
            <a:ext cx="1672082" cy="5159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15281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C93808-5CF4-7AA5-F69A-D0732FB0E7C5}"/>
              </a:ext>
            </a:extLst>
          </p:cNvPr>
          <p:cNvSpPr>
            <a:spLocks noGrp="1"/>
          </p:cNvSpPr>
          <p:nvPr>
            <p:ph type="title"/>
          </p:nvPr>
        </p:nvSpPr>
        <p:spPr>
          <a:xfrm>
            <a:off x="349589" y="254776"/>
            <a:ext cx="10515600" cy="1325563"/>
          </a:xfrm>
        </p:spPr>
        <p:txBody>
          <a:bodyPr>
            <a:normAutofit/>
          </a:bodyPr>
          <a:lstStyle/>
          <a:p>
            <a:r>
              <a:rPr kumimoji="1" lang="ja-JP" altLang="en-US" sz="3600" b="1" dirty="0"/>
              <a:t>同じ意味を持つ単語が複数存在してもよいのか？</a:t>
            </a:r>
          </a:p>
        </p:txBody>
      </p:sp>
      <p:sp>
        <p:nvSpPr>
          <p:cNvPr id="3" name="コンテンツ プレースホルダー 2">
            <a:extLst>
              <a:ext uri="{FF2B5EF4-FFF2-40B4-BE49-F238E27FC236}">
                <a16:creationId xmlns:a16="http://schemas.microsoft.com/office/drawing/2014/main" id="{3F3638BA-CD6D-68B4-ED5D-6E45F1E8BEE8}"/>
              </a:ext>
            </a:extLst>
          </p:cNvPr>
          <p:cNvSpPr>
            <a:spLocks noGrp="1"/>
          </p:cNvSpPr>
          <p:nvPr>
            <p:ph idx="1"/>
          </p:nvPr>
        </p:nvSpPr>
        <p:spPr>
          <a:xfrm>
            <a:off x="838200" y="1542614"/>
            <a:ext cx="10515600" cy="5060610"/>
          </a:xfrm>
        </p:spPr>
        <p:txBody>
          <a:bodyPr>
            <a:noAutofit/>
          </a:bodyPr>
          <a:lstStyle/>
          <a:p>
            <a:pPr marL="0" indent="0">
              <a:buNone/>
            </a:pPr>
            <a:r>
              <a:rPr lang="ja-JP" altLang="en-US" b="0" dirty="0">
                <a:effectLst/>
                <a:latin typeface="Menlo"/>
              </a:rPr>
              <a:t>「栗」は、秋の季節に楽しむことができる美味しい果物で、</a:t>
            </a:r>
          </a:p>
          <a:p>
            <a:pPr marL="0" indent="0">
              <a:buNone/>
            </a:pPr>
            <a:r>
              <a:rPr lang="ja-JP" altLang="en-US" b="0" dirty="0">
                <a:effectLst/>
                <a:latin typeface="Menlo"/>
              </a:rPr>
              <a:t>日本を含むアジアの地域で広く栽培されています。</a:t>
            </a:r>
          </a:p>
          <a:p>
            <a:pPr marL="0" indent="0">
              <a:buNone/>
            </a:pPr>
            <a:r>
              <a:rPr lang="ja-JP" altLang="en-US" b="0" dirty="0">
                <a:effectLst/>
                <a:latin typeface="Menlo"/>
              </a:rPr>
              <a:t>「栗」の実は、硬い外皮に包まれた柔らかい内果皮が特徴で、</a:t>
            </a:r>
          </a:p>
          <a:p>
            <a:pPr marL="0" indent="0">
              <a:buNone/>
            </a:pPr>
            <a:r>
              <a:rPr lang="ja-JP" altLang="en-US" b="0" dirty="0">
                <a:effectLst/>
                <a:latin typeface="Menlo"/>
              </a:rPr>
              <a:t>秋になると実が地面に落ちて収穫されます。</a:t>
            </a:r>
          </a:p>
          <a:p>
            <a:pPr marL="0" indent="0">
              <a:buNone/>
            </a:pPr>
            <a:r>
              <a:rPr lang="ja-JP" altLang="en-US" b="0" dirty="0">
                <a:effectLst/>
                <a:latin typeface="Menlo"/>
              </a:rPr>
              <a:t>「栗」は煮物や「栗」ご飯、「栗」の渋皮煮など、</a:t>
            </a:r>
          </a:p>
          <a:p>
            <a:pPr marL="0" indent="0">
              <a:buNone/>
            </a:pPr>
            <a:r>
              <a:rPr lang="ja-JP" altLang="en-US" b="0" dirty="0">
                <a:effectLst/>
                <a:latin typeface="Menlo"/>
              </a:rPr>
              <a:t>さまざまな料理に利用されます。</a:t>
            </a:r>
          </a:p>
          <a:p>
            <a:pPr marL="0" indent="0">
              <a:buNone/>
            </a:pPr>
            <a:r>
              <a:rPr lang="ja-JP" altLang="en-US" b="0" dirty="0">
                <a:effectLst/>
                <a:latin typeface="Menlo"/>
              </a:rPr>
              <a:t>また、「栗」にはビタミンやミネラルが豊富に含まれており、</a:t>
            </a:r>
          </a:p>
          <a:p>
            <a:pPr marL="0" indent="0">
              <a:buNone/>
            </a:pPr>
            <a:r>
              <a:rPr lang="ja-JP" altLang="en-US" b="0" dirty="0">
                <a:effectLst/>
                <a:latin typeface="Menlo"/>
              </a:rPr>
              <a:t>健康にも良いとされています。</a:t>
            </a:r>
          </a:p>
          <a:p>
            <a:pPr marL="0" indent="0">
              <a:buNone/>
            </a:pPr>
            <a:r>
              <a:rPr lang="ja-JP" altLang="en-US" dirty="0">
                <a:latin typeface="Menlo"/>
              </a:rPr>
              <a:t>「</a:t>
            </a:r>
            <a:r>
              <a:rPr lang="ja-JP" altLang="en-US" b="0" dirty="0">
                <a:effectLst/>
                <a:latin typeface="Menlo"/>
              </a:rPr>
              <a:t>栗」の風味や甘みは、秋の味覚として多くの人々に</a:t>
            </a:r>
          </a:p>
          <a:p>
            <a:pPr marL="0" indent="0">
              <a:buNone/>
            </a:pPr>
            <a:r>
              <a:rPr lang="ja-JP" altLang="en-US" b="0" dirty="0">
                <a:effectLst/>
                <a:latin typeface="Menlo"/>
              </a:rPr>
              <a:t>愛されています。</a:t>
            </a:r>
            <a:br>
              <a:rPr lang="ja-JP" altLang="en-US" b="0" dirty="0">
                <a:effectLst/>
                <a:latin typeface="Menlo"/>
              </a:rPr>
            </a:br>
            <a:endParaRPr lang="ja-JP" altLang="en-US" b="0" dirty="0">
              <a:effectLst/>
              <a:latin typeface="Menlo"/>
            </a:endParaRPr>
          </a:p>
        </p:txBody>
      </p:sp>
    </p:spTree>
    <p:extLst>
      <p:ext uri="{BB962C8B-B14F-4D97-AF65-F5344CB8AC3E}">
        <p14:creationId xmlns:p14="http://schemas.microsoft.com/office/powerpoint/2010/main" val="529997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C93808-5CF4-7AA5-F69A-D0732FB0E7C5}"/>
              </a:ext>
            </a:extLst>
          </p:cNvPr>
          <p:cNvSpPr>
            <a:spLocks noGrp="1"/>
          </p:cNvSpPr>
          <p:nvPr>
            <p:ph type="title"/>
          </p:nvPr>
        </p:nvSpPr>
        <p:spPr>
          <a:xfrm>
            <a:off x="349589" y="254777"/>
            <a:ext cx="10515600" cy="1325563"/>
          </a:xfrm>
        </p:spPr>
        <p:txBody>
          <a:bodyPr>
            <a:normAutofit/>
          </a:bodyPr>
          <a:lstStyle/>
          <a:p>
            <a:r>
              <a:rPr kumimoji="1" lang="ja-JP" altLang="en-US" sz="3600" b="1" dirty="0"/>
              <a:t>同じ意味を持つ単語が複数存在してもよいのか？</a:t>
            </a:r>
          </a:p>
        </p:txBody>
      </p:sp>
      <p:sp>
        <p:nvSpPr>
          <p:cNvPr id="3" name="コンテンツ プレースホルダー 2">
            <a:extLst>
              <a:ext uri="{FF2B5EF4-FFF2-40B4-BE49-F238E27FC236}">
                <a16:creationId xmlns:a16="http://schemas.microsoft.com/office/drawing/2014/main" id="{3F3638BA-CD6D-68B4-ED5D-6E45F1E8BEE8}"/>
              </a:ext>
            </a:extLst>
          </p:cNvPr>
          <p:cNvSpPr>
            <a:spLocks noGrp="1"/>
          </p:cNvSpPr>
          <p:nvPr>
            <p:ph idx="1"/>
          </p:nvPr>
        </p:nvSpPr>
        <p:spPr>
          <a:xfrm>
            <a:off x="838200" y="1856720"/>
            <a:ext cx="10515600" cy="4746503"/>
          </a:xfrm>
        </p:spPr>
        <p:txBody>
          <a:bodyPr>
            <a:normAutofit lnSpcReduction="10000"/>
          </a:bodyPr>
          <a:lstStyle/>
          <a:p>
            <a:pPr marL="0" indent="0">
              <a:buNone/>
            </a:pPr>
            <a:r>
              <a:rPr lang="ja-JP" altLang="en-US" b="0" dirty="0">
                <a:effectLst/>
                <a:latin typeface="Menlo"/>
              </a:rPr>
              <a:t>「くり」は、秋の季節に楽しむことができる美味しい果物で、</a:t>
            </a:r>
          </a:p>
          <a:p>
            <a:pPr marL="0" indent="0">
              <a:buNone/>
            </a:pPr>
            <a:r>
              <a:rPr lang="ja-JP" altLang="en-US" b="0" dirty="0">
                <a:effectLst/>
                <a:latin typeface="Menlo"/>
              </a:rPr>
              <a:t>日本を含むアジアの地域で広く栽培されています。</a:t>
            </a:r>
          </a:p>
          <a:p>
            <a:pPr marL="0" indent="0">
              <a:buNone/>
            </a:pPr>
            <a:r>
              <a:rPr lang="ja-JP" altLang="en-US" b="0" dirty="0">
                <a:effectLst/>
                <a:latin typeface="Menlo"/>
              </a:rPr>
              <a:t>「くり」の実は、硬い外皮に包まれた柔らかい内果皮が特徴で、</a:t>
            </a:r>
            <a:endParaRPr lang="en-US" altLang="ja-JP" b="0" dirty="0">
              <a:effectLst/>
              <a:latin typeface="Menlo"/>
            </a:endParaRPr>
          </a:p>
          <a:p>
            <a:pPr marL="0" indent="0">
              <a:buNone/>
            </a:pPr>
            <a:r>
              <a:rPr lang="ja-JP" altLang="en-US" b="0" dirty="0">
                <a:effectLst/>
                <a:latin typeface="Menlo"/>
              </a:rPr>
              <a:t>秋になると実が地面に落ちて収穫されます。</a:t>
            </a:r>
          </a:p>
          <a:p>
            <a:pPr marL="0" indent="0">
              <a:buNone/>
            </a:pPr>
            <a:r>
              <a:rPr lang="ja-JP" altLang="en-US" b="0" dirty="0">
                <a:effectLst/>
                <a:latin typeface="Menlo"/>
              </a:rPr>
              <a:t>「くり」は煮物や「くり」ご飯、「くり」の渋皮煮など、</a:t>
            </a:r>
            <a:endParaRPr lang="en-US" altLang="ja-JP" b="0" dirty="0">
              <a:effectLst/>
              <a:latin typeface="Menlo"/>
            </a:endParaRPr>
          </a:p>
          <a:p>
            <a:pPr marL="0" indent="0">
              <a:buNone/>
            </a:pPr>
            <a:r>
              <a:rPr lang="ja-JP" altLang="en-US" b="0" dirty="0">
                <a:effectLst/>
                <a:latin typeface="Menlo"/>
              </a:rPr>
              <a:t>さまざまな料理に利用されます。</a:t>
            </a:r>
          </a:p>
          <a:p>
            <a:pPr marL="0" indent="0">
              <a:buNone/>
            </a:pPr>
            <a:r>
              <a:rPr lang="ja-JP" altLang="en-US" b="0" dirty="0">
                <a:effectLst/>
                <a:latin typeface="Menlo"/>
              </a:rPr>
              <a:t>また、「くり」にはビタミンやミネラルが豊富に含まれており、</a:t>
            </a:r>
            <a:endParaRPr lang="en-US" altLang="ja-JP" b="0" dirty="0">
              <a:effectLst/>
              <a:latin typeface="Menlo"/>
            </a:endParaRPr>
          </a:p>
          <a:p>
            <a:pPr marL="0" indent="0">
              <a:buNone/>
            </a:pPr>
            <a:r>
              <a:rPr lang="ja-JP" altLang="en-US" b="0" dirty="0">
                <a:effectLst/>
                <a:latin typeface="Menlo"/>
              </a:rPr>
              <a:t>健康にも良いとされています。</a:t>
            </a:r>
          </a:p>
          <a:p>
            <a:pPr marL="0" indent="0">
              <a:buNone/>
            </a:pPr>
            <a:r>
              <a:rPr lang="ja-JP" altLang="en-US" b="0" dirty="0">
                <a:effectLst/>
                <a:latin typeface="Menlo"/>
              </a:rPr>
              <a:t>「くり」の風味や甘みは、秋の味覚として多くの人々に</a:t>
            </a:r>
            <a:endParaRPr lang="en-US" altLang="ja-JP" b="0" dirty="0">
              <a:effectLst/>
              <a:latin typeface="Menlo"/>
            </a:endParaRPr>
          </a:p>
          <a:p>
            <a:pPr marL="0" indent="0">
              <a:buNone/>
            </a:pPr>
            <a:r>
              <a:rPr lang="ja-JP" altLang="en-US" b="0" dirty="0">
                <a:effectLst/>
                <a:latin typeface="Menlo"/>
              </a:rPr>
              <a:t>愛されています。</a:t>
            </a:r>
          </a:p>
          <a:p>
            <a:endParaRPr kumimoji="1" lang="ja-JP" altLang="en-US" dirty="0"/>
          </a:p>
        </p:txBody>
      </p:sp>
    </p:spTree>
    <p:extLst>
      <p:ext uri="{BB962C8B-B14F-4D97-AF65-F5344CB8AC3E}">
        <p14:creationId xmlns:p14="http://schemas.microsoft.com/office/powerpoint/2010/main" val="869011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ED2EBB-A66A-6691-F55B-7AA642433610}"/>
            </a:ext>
          </a:extLst>
        </p:cNvPr>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0A805718-0C12-D44D-FF59-0F7D501BB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0429160-0CE3-F793-E25A-A1482873DEC8}"/>
              </a:ext>
            </a:extLst>
          </p:cNvPr>
          <p:cNvSpPr>
            <a:spLocks noGrp="1"/>
          </p:cNvSpPr>
          <p:nvPr>
            <p:ph type="title"/>
          </p:nvPr>
        </p:nvSpPr>
        <p:spPr>
          <a:xfrm>
            <a:off x="793661" y="386930"/>
            <a:ext cx="10214857" cy="1298448"/>
          </a:xfrm>
        </p:spPr>
        <p:txBody>
          <a:bodyPr anchor="b">
            <a:normAutofit fontScale="90000"/>
          </a:bodyPr>
          <a:lstStyle/>
          <a:p>
            <a:r>
              <a:rPr kumimoji="1" lang="ja-JP" altLang="en-US" sz="4400" b="1" dirty="0"/>
              <a:t>同じ意味</a:t>
            </a:r>
            <a:r>
              <a:rPr lang="ja-JP" altLang="en-US" sz="4400" b="1" dirty="0"/>
              <a:t>の</a:t>
            </a:r>
            <a:r>
              <a:rPr kumimoji="1" lang="ja-JP" altLang="en-US" sz="4400" b="1" dirty="0"/>
              <a:t>単語</a:t>
            </a:r>
            <a:r>
              <a:rPr lang="ja-JP" altLang="en-US" b="1" dirty="0"/>
              <a:t>の表</a:t>
            </a:r>
            <a:r>
              <a:rPr lang="ja-JP" altLang="en-US" sz="4400" b="1" dirty="0"/>
              <a:t>記が異なって</a:t>
            </a:r>
            <a:r>
              <a:rPr kumimoji="1" lang="ja-JP" altLang="en-US" sz="4400" b="1" dirty="0"/>
              <a:t>もよいか？</a:t>
            </a:r>
            <a:endParaRPr kumimoji="1" lang="ja-JP" altLang="en-US" dirty="0"/>
          </a:p>
        </p:txBody>
      </p:sp>
      <p:sp>
        <p:nvSpPr>
          <p:cNvPr id="60" name="Rectangle 59">
            <a:extLst>
              <a:ext uri="{FF2B5EF4-FFF2-40B4-BE49-F238E27FC236}">
                <a16:creationId xmlns:a16="http://schemas.microsoft.com/office/drawing/2014/main" id="{C151316A-FE77-7548-4C46-18100B4A46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B21761A7-2356-DDF9-6ADA-D28B4B6B61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9432180C-D8ED-5171-2AB1-46F1250F8712}"/>
              </a:ext>
            </a:extLst>
          </p:cNvPr>
          <p:cNvSpPr>
            <a:spLocks noGrp="1"/>
          </p:cNvSpPr>
          <p:nvPr>
            <p:ph idx="1"/>
          </p:nvPr>
        </p:nvSpPr>
        <p:spPr>
          <a:xfrm>
            <a:off x="793661" y="2366272"/>
            <a:ext cx="4530898" cy="3872687"/>
          </a:xfrm>
        </p:spPr>
        <p:txBody>
          <a:bodyPr anchor="ctr">
            <a:normAutofit fontScale="85000" lnSpcReduction="20000"/>
          </a:bodyPr>
          <a:lstStyle/>
          <a:p>
            <a:pPr marL="0" indent="0">
              <a:buNone/>
            </a:pPr>
            <a:r>
              <a:rPr lang="ja-JP" altLang="en-US" sz="2000" b="1" dirty="0">
                <a:latin typeface="Courier New" panose="02070309020205020404" pitchFamily="49" charset="0"/>
              </a:rPr>
              <a:t>回答</a:t>
            </a:r>
            <a:endParaRPr lang="en-US" altLang="ja-JP" sz="2000" b="1" dirty="0">
              <a:latin typeface="Courier New" panose="02070309020205020404" pitchFamily="49" charset="0"/>
            </a:endParaRPr>
          </a:p>
          <a:p>
            <a:pPr marL="0" indent="0">
              <a:buNone/>
            </a:pPr>
            <a:r>
              <a:rPr lang="ja-JP" altLang="en-US" sz="2000" dirty="0">
                <a:latin typeface="Courier New" panose="02070309020205020404" pitchFamily="49" charset="0"/>
              </a:rPr>
              <a:t>多くのケースで決定的な問題でない</a:t>
            </a:r>
            <a:r>
              <a:rPr lang="en-US" altLang="ja-JP" sz="2000" dirty="0">
                <a:latin typeface="Courier New" panose="02070309020205020404" pitchFamily="49" charset="0"/>
              </a:rPr>
              <a:t>.</a:t>
            </a:r>
          </a:p>
          <a:p>
            <a:pPr marL="0" indent="0">
              <a:buNone/>
            </a:pPr>
            <a:endParaRPr lang="en-US" altLang="ja-JP" sz="2000" dirty="0">
              <a:latin typeface="Courier New" panose="02070309020205020404" pitchFamily="49" charset="0"/>
            </a:endParaRPr>
          </a:p>
          <a:p>
            <a:pPr marL="0" indent="0">
              <a:buNone/>
            </a:pPr>
            <a:r>
              <a:rPr lang="ja-JP" altLang="en-US" sz="2000" b="1" dirty="0">
                <a:latin typeface="Courier New" panose="02070309020205020404" pitchFamily="49" charset="0"/>
              </a:rPr>
              <a:t>実験設定</a:t>
            </a:r>
            <a:endParaRPr lang="en-US" altLang="ja-JP" sz="2000" dirty="0">
              <a:latin typeface="Courier New" panose="02070309020205020404" pitchFamily="49" charset="0"/>
            </a:endParaRPr>
          </a:p>
          <a:p>
            <a:pPr marL="0" indent="0">
              <a:buNone/>
            </a:pPr>
            <a:r>
              <a:rPr lang="ja-JP" altLang="en-US" sz="2000" b="0" dirty="0">
                <a:effectLst/>
                <a:latin typeface="Courier New" panose="02070309020205020404" pitchFamily="49" charset="0"/>
              </a:rPr>
              <a:t>「栗」と「くり」で表記の異なる</a:t>
            </a:r>
            <a:endParaRPr lang="en-US" altLang="ja-JP" sz="2000" b="0" dirty="0">
              <a:effectLst/>
              <a:latin typeface="Courier New" panose="02070309020205020404" pitchFamily="49" charset="0"/>
            </a:endParaRPr>
          </a:p>
          <a:p>
            <a:pPr marL="0" indent="0">
              <a:buNone/>
            </a:pPr>
            <a:r>
              <a:rPr lang="ja-JP" altLang="en-US" sz="2000" dirty="0">
                <a:latin typeface="Courier New" panose="02070309020205020404" pitchFamily="49" charset="0"/>
              </a:rPr>
              <a:t>それぞれの</a:t>
            </a:r>
            <a:r>
              <a:rPr lang="ja-JP" altLang="en-US" sz="2000" b="0" dirty="0">
                <a:effectLst/>
                <a:latin typeface="Courier New" panose="02070309020205020404" pitchFamily="49" charset="0"/>
              </a:rPr>
              <a:t>クエリでの検索結果を分析</a:t>
            </a:r>
            <a:r>
              <a:rPr lang="en-US" altLang="ja-JP" sz="2000" b="0" dirty="0">
                <a:effectLst/>
                <a:latin typeface="Courier New" panose="02070309020205020404" pitchFamily="49" charset="0"/>
              </a:rPr>
              <a:t>.</a:t>
            </a:r>
          </a:p>
          <a:p>
            <a:pPr marL="0" indent="0">
              <a:buNone/>
            </a:pPr>
            <a:r>
              <a:rPr lang="ja-JP" altLang="en-US" sz="2000" b="0" dirty="0">
                <a:effectLst/>
                <a:latin typeface="Courier New" panose="02070309020205020404" pitchFamily="49" charset="0"/>
              </a:rPr>
              <a:t>クエリで１００件の文書を検索</a:t>
            </a:r>
            <a:r>
              <a:rPr lang="en-US" altLang="ja-JP" sz="2000" b="0" dirty="0">
                <a:effectLst/>
                <a:latin typeface="Courier New" panose="02070309020205020404" pitchFamily="49" charset="0"/>
              </a:rPr>
              <a:t>.</a:t>
            </a:r>
          </a:p>
          <a:p>
            <a:endParaRPr lang="en-US" altLang="ja-JP" sz="2000" dirty="0">
              <a:latin typeface="Courier New" panose="02070309020205020404" pitchFamily="49" charset="0"/>
            </a:endParaRPr>
          </a:p>
          <a:p>
            <a:pPr marL="0" indent="0">
              <a:buNone/>
            </a:pPr>
            <a:r>
              <a:rPr lang="ja-JP" altLang="en-US" sz="2000" b="1" dirty="0">
                <a:effectLst/>
                <a:latin typeface="Courier New" panose="02070309020205020404" pitchFamily="49" charset="0"/>
              </a:rPr>
              <a:t>実験結果</a:t>
            </a:r>
            <a:endParaRPr lang="en-US" altLang="ja-JP" sz="2000" b="1" dirty="0">
              <a:effectLst/>
              <a:latin typeface="Courier New" panose="02070309020205020404" pitchFamily="49" charset="0"/>
            </a:endParaRPr>
          </a:p>
          <a:p>
            <a:pPr marL="0" indent="0">
              <a:buNone/>
            </a:pPr>
            <a:r>
              <a:rPr lang="ja-JP" altLang="en-US" sz="2000" dirty="0">
                <a:latin typeface="Courier New" panose="02070309020205020404" pitchFamily="49" charset="0"/>
              </a:rPr>
              <a:t>５８件の文書が一致</a:t>
            </a:r>
            <a:r>
              <a:rPr lang="en-US" altLang="ja-JP" sz="2000" dirty="0">
                <a:latin typeface="Courier New" panose="02070309020205020404" pitchFamily="49" charset="0"/>
              </a:rPr>
              <a:t>.</a:t>
            </a:r>
            <a:r>
              <a:rPr lang="ja-JP" altLang="en-US" sz="2000" dirty="0">
                <a:latin typeface="Courier New" panose="02070309020205020404" pitchFamily="49" charset="0"/>
              </a:rPr>
              <a:t>上位説明語も類似</a:t>
            </a:r>
            <a:r>
              <a:rPr lang="en-US" altLang="ja-JP" sz="2000" dirty="0">
                <a:latin typeface="Courier New" panose="02070309020205020404" pitchFamily="49" charset="0"/>
              </a:rPr>
              <a:t>.</a:t>
            </a:r>
          </a:p>
          <a:p>
            <a:pPr marL="0" indent="0">
              <a:buNone/>
            </a:pPr>
            <a:r>
              <a:rPr lang="ja-JP" altLang="en-US" sz="2000" b="0" dirty="0">
                <a:effectLst/>
                <a:latin typeface="Courier New" panose="02070309020205020404" pitchFamily="49" charset="0"/>
              </a:rPr>
              <a:t>「栗」でも「くり」でも、共起単語の</a:t>
            </a:r>
            <a:endParaRPr lang="en-US" altLang="ja-JP" sz="2000" b="0" dirty="0">
              <a:effectLst/>
              <a:latin typeface="Courier New" panose="02070309020205020404" pitchFamily="49" charset="0"/>
            </a:endParaRPr>
          </a:p>
          <a:p>
            <a:pPr marL="0" indent="0">
              <a:buNone/>
            </a:pPr>
            <a:r>
              <a:rPr lang="ja-JP" altLang="en-US" sz="2000" b="0" dirty="0">
                <a:effectLst/>
                <a:latin typeface="Courier New" panose="02070309020205020404" pitchFamily="49" charset="0"/>
              </a:rPr>
              <a:t>共通性は高い</a:t>
            </a:r>
            <a:r>
              <a:rPr lang="en-US" altLang="ja-JP" sz="2000" dirty="0">
                <a:latin typeface="Courier New" panose="02070309020205020404" pitchFamily="49" charset="0"/>
              </a:rPr>
              <a:t>.</a:t>
            </a:r>
          </a:p>
        </p:txBody>
      </p:sp>
      <p:sp>
        <p:nvSpPr>
          <p:cNvPr id="64" name="Rectangle 63">
            <a:extLst>
              <a:ext uri="{FF2B5EF4-FFF2-40B4-BE49-F238E27FC236}">
                <a16:creationId xmlns:a16="http://schemas.microsoft.com/office/drawing/2014/main" id="{EAFECF61-E2A1-B2B5-10F9-B565F42246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コンテンツ プレースホルダー 4">
            <a:extLst>
              <a:ext uri="{FF2B5EF4-FFF2-40B4-BE49-F238E27FC236}">
                <a16:creationId xmlns:a16="http://schemas.microsoft.com/office/drawing/2014/main" id="{E4F54599-7AEA-49E4-89C9-CC2AA4560008}"/>
              </a:ext>
            </a:extLst>
          </p:cNvPr>
          <p:cNvGraphicFramePr>
            <a:graphicFrameLocks/>
          </p:cNvGraphicFramePr>
          <p:nvPr/>
        </p:nvGraphicFramePr>
        <p:xfrm>
          <a:off x="6867443" y="2353334"/>
          <a:ext cx="3992358" cy="4023360"/>
        </p:xfrm>
        <a:graphic>
          <a:graphicData uri="http://schemas.openxmlformats.org/drawingml/2006/table">
            <a:tbl>
              <a:tblPr firstRow="1" bandRow="1">
                <a:tableStyleId>{5C22544A-7EE6-4342-B048-85BDC9FD1C3A}</a:tableStyleId>
              </a:tblPr>
              <a:tblGrid>
                <a:gridCol w="1330786">
                  <a:extLst>
                    <a:ext uri="{9D8B030D-6E8A-4147-A177-3AD203B41FA5}">
                      <a16:colId xmlns:a16="http://schemas.microsoft.com/office/drawing/2014/main" val="4095642478"/>
                    </a:ext>
                  </a:extLst>
                </a:gridCol>
                <a:gridCol w="1330786">
                  <a:extLst>
                    <a:ext uri="{9D8B030D-6E8A-4147-A177-3AD203B41FA5}">
                      <a16:colId xmlns:a16="http://schemas.microsoft.com/office/drawing/2014/main" val="1523859526"/>
                    </a:ext>
                  </a:extLst>
                </a:gridCol>
                <a:gridCol w="1330786">
                  <a:extLst>
                    <a:ext uri="{9D8B030D-6E8A-4147-A177-3AD203B41FA5}">
                      <a16:colId xmlns:a16="http://schemas.microsoft.com/office/drawing/2014/main" val="3961769052"/>
                    </a:ext>
                  </a:extLst>
                </a:gridCol>
              </a:tblGrid>
              <a:tr h="293300">
                <a:tc>
                  <a:txBody>
                    <a:bodyPr/>
                    <a:lstStyle/>
                    <a:p>
                      <a:pPr algn="ctr"/>
                      <a:r>
                        <a:rPr kumimoji="1" lang="ja-JP" altLang="en-US" dirty="0"/>
                        <a:t>順位</a:t>
                      </a:r>
                    </a:p>
                  </a:txBody>
                  <a:tcPr/>
                </a:tc>
                <a:tc>
                  <a:txBody>
                    <a:bodyPr/>
                    <a:lstStyle/>
                    <a:p>
                      <a:pPr algn="ctr"/>
                      <a:r>
                        <a:rPr kumimoji="1" lang="ja-JP" altLang="en-US" dirty="0"/>
                        <a:t>栗</a:t>
                      </a:r>
                    </a:p>
                  </a:txBody>
                  <a:tcPr/>
                </a:tc>
                <a:tc>
                  <a:txBody>
                    <a:bodyPr/>
                    <a:lstStyle/>
                    <a:p>
                      <a:pPr algn="ctr"/>
                      <a:r>
                        <a:rPr kumimoji="1" lang="ja-JP" altLang="en-US" dirty="0"/>
                        <a:t>くり</a:t>
                      </a:r>
                    </a:p>
                  </a:txBody>
                  <a:tcPr/>
                </a:tc>
                <a:extLst>
                  <a:ext uri="{0D108BD9-81ED-4DB2-BD59-A6C34878D82A}">
                    <a16:rowId xmlns:a16="http://schemas.microsoft.com/office/drawing/2014/main" val="2078499565"/>
                  </a:ext>
                </a:extLst>
              </a:tr>
              <a:tr h="293300">
                <a:tc>
                  <a:txBody>
                    <a:bodyPr/>
                    <a:lstStyle/>
                    <a:p>
                      <a:pPr algn="ctr"/>
                      <a:r>
                        <a:rPr kumimoji="1" lang="en-US" altLang="ja-JP" dirty="0"/>
                        <a:t>1</a:t>
                      </a:r>
                      <a:endParaRPr kumimoji="1" lang="ja-JP" altLang="en-US" dirty="0"/>
                    </a:p>
                  </a:txBody>
                  <a:tcPr/>
                </a:tc>
                <a:tc>
                  <a:txBody>
                    <a:bodyPr/>
                    <a:lstStyle/>
                    <a:p>
                      <a:pPr algn="ctr"/>
                      <a:r>
                        <a:rPr kumimoji="1" lang="ja-JP" altLang="en-US" dirty="0"/>
                        <a:t>栗</a:t>
                      </a:r>
                    </a:p>
                  </a:txBody>
                  <a:tcPr/>
                </a:tc>
                <a:tc>
                  <a:txBody>
                    <a:bodyPr/>
                    <a:lstStyle/>
                    <a:p>
                      <a:pPr algn="ctr"/>
                      <a:r>
                        <a:rPr kumimoji="1" lang="ja-JP" altLang="en-US" dirty="0"/>
                        <a:t>料理</a:t>
                      </a:r>
                    </a:p>
                  </a:txBody>
                  <a:tcPr/>
                </a:tc>
                <a:extLst>
                  <a:ext uri="{0D108BD9-81ED-4DB2-BD59-A6C34878D82A}">
                    <a16:rowId xmlns:a16="http://schemas.microsoft.com/office/drawing/2014/main" val="2597813302"/>
                  </a:ext>
                </a:extLst>
              </a:tr>
              <a:tr h="293300">
                <a:tc>
                  <a:txBody>
                    <a:bodyPr/>
                    <a:lstStyle/>
                    <a:p>
                      <a:pPr algn="ctr"/>
                      <a:r>
                        <a:rPr kumimoji="1" lang="en-US" altLang="ja-JP" dirty="0"/>
                        <a:t>2</a:t>
                      </a:r>
                    </a:p>
                  </a:txBody>
                  <a:tcPr/>
                </a:tc>
                <a:tc>
                  <a:txBody>
                    <a:bodyPr/>
                    <a:lstStyle/>
                    <a:p>
                      <a:pPr algn="ctr"/>
                      <a:r>
                        <a:rPr kumimoji="1" lang="ja-JP" altLang="en-US" dirty="0"/>
                        <a:t>料理</a:t>
                      </a:r>
                    </a:p>
                  </a:txBody>
                  <a:tcPr/>
                </a:tc>
                <a:tc>
                  <a:txBody>
                    <a:bodyPr/>
                    <a:lstStyle/>
                    <a:p>
                      <a:pPr algn="ctr"/>
                      <a:r>
                        <a:rPr kumimoji="1" lang="ja-JP" altLang="en-US" dirty="0"/>
                        <a:t>くり</a:t>
                      </a:r>
                    </a:p>
                  </a:txBody>
                  <a:tcPr/>
                </a:tc>
                <a:extLst>
                  <a:ext uri="{0D108BD9-81ED-4DB2-BD59-A6C34878D82A}">
                    <a16:rowId xmlns:a16="http://schemas.microsoft.com/office/drawing/2014/main" val="4048187340"/>
                  </a:ext>
                </a:extLst>
              </a:tr>
              <a:tr h="293300">
                <a:tc>
                  <a:txBody>
                    <a:bodyPr/>
                    <a:lstStyle/>
                    <a:p>
                      <a:pPr algn="ctr"/>
                      <a:r>
                        <a:rPr kumimoji="1" lang="en-US" altLang="ja-JP" dirty="0"/>
                        <a:t>3</a:t>
                      </a:r>
                      <a:endParaRPr kumimoji="1" lang="ja-JP" altLang="en-US" dirty="0"/>
                    </a:p>
                  </a:txBody>
                  <a:tcPr/>
                </a:tc>
                <a:tc>
                  <a:txBody>
                    <a:bodyPr/>
                    <a:lstStyle/>
                    <a:p>
                      <a:pPr algn="ctr"/>
                      <a:r>
                        <a:rPr kumimoji="1" lang="ja-JP" altLang="en-US" dirty="0"/>
                        <a:t>果物</a:t>
                      </a:r>
                    </a:p>
                  </a:txBody>
                  <a:tcPr/>
                </a:tc>
                <a:tc>
                  <a:txBody>
                    <a:bodyPr/>
                    <a:lstStyle/>
                    <a:p>
                      <a:pPr algn="ctr"/>
                      <a:r>
                        <a:rPr kumimoji="1" lang="ja-JP" altLang="en-US" dirty="0"/>
                        <a:t>果物</a:t>
                      </a:r>
                    </a:p>
                  </a:txBody>
                  <a:tcPr/>
                </a:tc>
                <a:extLst>
                  <a:ext uri="{0D108BD9-81ED-4DB2-BD59-A6C34878D82A}">
                    <a16:rowId xmlns:a16="http://schemas.microsoft.com/office/drawing/2014/main" val="3771076961"/>
                  </a:ext>
                </a:extLst>
              </a:tr>
              <a:tr h="293300">
                <a:tc>
                  <a:txBody>
                    <a:bodyPr/>
                    <a:lstStyle/>
                    <a:p>
                      <a:pPr algn="ctr"/>
                      <a:r>
                        <a:rPr kumimoji="1" lang="en-US" altLang="ja-JP" dirty="0"/>
                        <a:t>4</a:t>
                      </a:r>
                      <a:endParaRPr kumimoji="1" lang="ja-JP" altLang="en-US" dirty="0"/>
                    </a:p>
                  </a:txBody>
                  <a:tcPr/>
                </a:tc>
                <a:tc>
                  <a:txBody>
                    <a:bodyPr/>
                    <a:lstStyle/>
                    <a:p>
                      <a:pPr algn="ctr"/>
                      <a:r>
                        <a:rPr kumimoji="1" lang="ja-JP" altLang="en-US" dirty="0"/>
                        <a:t>秋</a:t>
                      </a:r>
                    </a:p>
                  </a:txBody>
                  <a:tcPr/>
                </a:tc>
                <a:tc>
                  <a:txBody>
                    <a:bodyPr/>
                    <a:lstStyle/>
                    <a:p>
                      <a:pPr algn="ctr"/>
                      <a:r>
                        <a:rPr kumimoji="1" lang="ja-JP" altLang="en-US" dirty="0"/>
                        <a:t>秋</a:t>
                      </a:r>
                    </a:p>
                  </a:txBody>
                  <a:tcPr/>
                </a:tc>
                <a:extLst>
                  <a:ext uri="{0D108BD9-81ED-4DB2-BD59-A6C34878D82A}">
                    <a16:rowId xmlns:a16="http://schemas.microsoft.com/office/drawing/2014/main" val="494250379"/>
                  </a:ext>
                </a:extLst>
              </a:tr>
              <a:tr h="293300">
                <a:tc>
                  <a:txBody>
                    <a:bodyPr/>
                    <a:lstStyle/>
                    <a:p>
                      <a:pPr algn="ctr"/>
                      <a:r>
                        <a:rPr kumimoji="1" lang="en-US" altLang="ja-JP" dirty="0"/>
                        <a:t>5</a:t>
                      </a:r>
                      <a:endParaRPr kumimoji="1" lang="ja-JP" altLang="en-US" dirty="0"/>
                    </a:p>
                  </a:txBody>
                  <a:tcPr/>
                </a:tc>
                <a:tc>
                  <a:txBody>
                    <a:bodyPr/>
                    <a:lstStyle/>
                    <a:p>
                      <a:pPr algn="ctr"/>
                      <a:r>
                        <a:rPr kumimoji="1" lang="ja-JP" altLang="en-US" dirty="0"/>
                        <a:t>食べる</a:t>
                      </a:r>
                    </a:p>
                  </a:txBody>
                  <a:tcPr/>
                </a:tc>
                <a:tc>
                  <a:txBody>
                    <a:bodyPr/>
                    <a:lstStyle/>
                    <a:p>
                      <a:pPr algn="ctr"/>
                      <a:r>
                        <a:rPr kumimoji="1" lang="ja-JP" altLang="en-US" dirty="0"/>
                        <a:t>健康</a:t>
                      </a:r>
                    </a:p>
                  </a:txBody>
                  <a:tcPr/>
                </a:tc>
                <a:extLst>
                  <a:ext uri="{0D108BD9-81ED-4DB2-BD59-A6C34878D82A}">
                    <a16:rowId xmlns:a16="http://schemas.microsoft.com/office/drawing/2014/main" val="3690259004"/>
                  </a:ext>
                </a:extLst>
              </a:tr>
              <a:tr h="293300">
                <a:tc>
                  <a:txBody>
                    <a:bodyPr/>
                    <a:lstStyle/>
                    <a:p>
                      <a:pPr algn="ctr"/>
                      <a:r>
                        <a:rPr kumimoji="1" lang="en-US" altLang="ja-JP" dirty="0"/>
                        <a:t>6</a:t>
                      </a:r>
                      <a:endParaRPr kumimoji="1" lang="ja-JP" altLang="en-US" dirty="0"/>
                    </a:p>
                  </a:txBody>
                  <a:tcPr/>
                </a:tc>
                <a:tc>
                  <a:txBody>
                    <a:bodyPr/>
                    <a:lstStyle/>
                    <a:p>
                      <a:pPr algn="ctr"/>
                      <a:r>
                        <a:rPr kumimoji="1" lang="ja-JP" altLang="en-US" dirty="0"/>
                        <a:t>健康</a:t>
                      </a:r>
                    </a:p>
                  </a:txBody>
                  <a:tcPr/>
                </a:tc>
                <a:tc>
                  <a:txBody>
                    <a:bodyPr/>
                    <a:lstStyle/>
                    <a:p>
                      <a:pPr algn="ctr"/>
                      <a:r>
                        <a:rPr kumimoji="1" lang="ja-JP" altLang="en-US" dirty="0"/>
                        <a:t>食べる</a:t>
                      </a:r>
                    </a:p>
                  </a:txBody>
                  <a:tcPr/>
                </a:tc>
                <a:extLst>
                  <a:ext uri="{0D108BD9-81ED-4DB2-BD59-A6C34878D82A}">
                    <a16:rowId xmlns:a16="http://schemas.microsoft.com/office/drawing/2014/main" val="1426876685"/>
                  </a:ext>
                </a:extLst>
              </a:tr>
              <a:tr h="293300">
                <a:tc>
                  <a:txBody>
                    <a:bodyPr/>
                    <a:lstStyle/>
                    <a:p>
                      <a:pPr algn="ctr"/>
                      <a:r>
                        <a:rPr kumimoji="1" lang="en-US" altLang="ja-JP" dirty="0"/>
                        <a:t>7</a:t>
                      </a:r>
                      <a:endParaRPr kumimoji="1" lang="ja-JP" altLang="en-US" dirty="0"/>
                    </a:p>
                  </a:txBody>
                  <a:tcPr/>
                </a:tc>
                <a:tc>
                  <a:txBody>
                    <a:bodyPr/>
                    <a:lstStyle/>
                    <a:p>
                      <a:pPr algn="ctr"/>
                      <a:r>
                        <a:rPr kumimoji="1" lang="ja-JP" altLang="en-US" dirty="0"/>
                        <a:t>収穫</a:t>
                      </a:r>
                    </a:p>
                  </a:txBody>
                  <a:tcPr/>
                </a:tc>
                <a:tc>
                  <a:txBody>
                    <a:bodyPr/>
                    <a:lstStyle/>
                    <a:p>
                      <a:pPr algn="ctr"/>
                      <a:r>
                        <a:rPr kumimoji="1" lang="ja-JP" altLang="en-US" dirty="0"/>
                        <a:t>ます</a:t>
                      </a:r>
                    </a:p>
                  </a:txBody>
                  <a:tcPr/>
                </a:tc>
                <a:extLst>
                  <a:ext uri="{0D108BD9-81ED-4DB2-BD59-A6C34878D82A}">
                    <a16:rowId xmlns:a16="http://schemas.microsoft.com/office/drawing/2014/main" val="4128583394"/>
                  </a:ext>
                </a:extLst>
              </a:tr>
              <a:tr h="293300">
                <a:tc>
                  <a:txBody>
                    <a:bodyPr/>
                    <a:lstStyle/>
                    <a:p>
                      <a:pPr algn="ctr"/>
                      <a:r>
                        <a:rPr kumimoji="1" lang="en-US" altLang="ja-JP" dirty="0"/>
                        <a:t>8</a:t>
                      </a:r>
                      <a:endParaRPr kumimoji="1" lang="ja-JP" altLang="en-US" dirty="0"/>
                    </a:p>
                  </a:txBody>
                  <a:tcPr/>
                </a:tc>
                <a:tc>
                  <a:txBody>
                    <a:bodyPr/>
                    <a:lstStyle/>
                    <a:p>
                      <a:pPr algn="ctr"/>
                      <a:r>
                        <a:rPr kumimoji="1" lang="ja-JP" altLang="en-US" dirty="0"/>
                        <a:t>風味</a:t>
                      </a:r>
                    </a:p>
                  </a:txBody>
                  <a:tcPr/>
                </a:tc>
                <a:tc>
                  <a:txBody>
                    <a:bodyPr/>
                    <a:lstStyle/>
                    <a:p>
                      <a:pPr algn="ctr"/>
                      <a:r>
                        <a:rPr kumimoji="1" lang="ja-JP" altLang="en-US" dirty="0"/>
                        <a:t>美味しい</a:t>
                      </a:r>
                    </a:p>
                  </a:txBody>
                  <a:tcPr/>
                </a:tc>
                <a:extLst>
                  <a:ext uri="{0D108BD9-81ED-4DB2-BD59-A6C34878D82A}">
                    <a16:rowId xmlns:a16="http://schemas.microsoft.com/office/drawing/2014/main" val="2536729466"/>
                  </a:ext>
                </a:extLst>
              </a:tr>
              <a:tr h="293300">
                <a:tc>
                  <a:txBody>
                    <a:bodyPr/>
                    <a:lstStyle/>
                    <a:p>
                      <a:pPr algn="ctr"/>
                      <a:r>
                        <a:rPr kumimoji="1" lang="en-US" altLang="ja-JP" dirty="0"/>
                        <a:t>9</a:t>
                      </a:r>
                      <a:endParaRPr kumimoji="1" lang="ja-JP" altLang="en-US" dirty="0"/>
                    </a:p>
                  </a:txBody>
                  <a:tcPr/>
                </a:tc>
                <a:tc>
                  <a:txBody>
                    <a:bodyPr/>
                    <a:lstStyle/>
                    <a:p>
                      <a:pPr algn="ctr"/>
                      <a:r>
                        <a:rPr kumimoji="1" lang="ja-JP" altLang="en-US" dirty="0"/>
                        <a:t>庭園</a:t>
                      </a:r>
                    </a:p>
                  </a:txBody>
                  <a:tcPr/>
                </a:tc>
                <a:tc>
                  <a:txBody>
                    <a:bodyPr/>
                    <a:lstStyle/>
                    <a:p>
                      <a:pPr algn="ctr"/>
                      <a:r>
                        <a:rPr kumimoji="1" lang="ja-JP" altLang="en-US" dirty="0"/>
                        <a:t>収穫</a:t>
                      </a:r>
                    </a:p>
                  </a:txBody>
                  <a:tcPr/>
                </a:tc>
                <a:extLst>
                  <a:ext uri="{0D108BD9-81ED-4DB2-BD59-A6C34878D82A}">
                    <a16:rowId xmlns:a16="http://schemas.microsoft.com/office/drawing/2014/main" val="2531454233"/>
                  </a:ext>
                </a:extLst>
              </a:tr>
              <a:tr h="293300">
                <a:tc>
                  <a:txBody>
                    <a:bodyPr/>
                    <a:lstStyle/>
                    <a:p>
                      <a:pPr algn="ctr"/>
                      <a:r>
                        <a:rPr kumimoji="1" lang="en-US" altLang="ja-JP" dirty="0"/>
                        <a:t>10</a:t>
                      </a:r>
                      <a:endParaRPr kumimoji="1" lang="ja-JP" altLang="en-US" dirty="0"/>
                    </a:p>
                  </a:txBody>
                  <a:tcPr/>
                </a:tc>
                <a:tc>
                  <a:txBody>
                    <a:bodyPr/>
                    <a:lstStyle/>
                    <a:p>
                      <a:pPr algn="ctr"/>
                      <a:r>
                        <a:rPr kumimoji="1" lang="ja-JP" altLang="en-US" dirty="0"/>
                        <a:t>ミネラル</a:t>
                      </a:r>
                    </a:p>
                  </a:txBody>
                  <a:tcPr/>
                </a:tc>
                <a:tc>
                  <a:txBody>
                    <a:bodyPr/>
                    <a:lstStyle/>
                    <a:p>
                      <a:pPr algn="ctr"/>
                      <a:r>
                        <a:rPr kumimoji="1" lang="ja-JP" altLang="en-US" dirty="0"/>
                        <a:t>落ち</a:t>
                      </a:r>
                    </a:p>
                  </a:txBody>
                  <a:tcPr/>
                </a:tc>
                <a:extLst>
                  <a:ext uri="{0D108BD9-81ED-4DB2-BD59-A6C34878D82A}">
                    <a16:rowId xmlns:a16="http://schemas.microsoft.com/office/drawing/2014/main" val="2422823877"/>
                  </a:ext>
                </a:extLst>
              </a:tr>
            </a:tbl>
          </a:graphicData>
        </a:graphic>
      </p:graphicFrame>
      <p:sp>
        <p:nvSpPr>
          <p:cNvPr id="6" name="正方形/長方形 5">
            <a:extLst>
              <a:ext uri="{FF2B5EF4-FFF2-40B4-BE49-F238E27FC236}">
                <a16:creationId xmlns:a16="http://schemas.microsoft.com/office/drawing/2014/main" id="{7B8ED05B-9313-CF3A-06C9-045D22A20286}"/>
              </a:ext>
            </a:extLst>
          </p:cNvPr>
          <p:cNvSpPr/>
          <p:nvPr/>
        </p:nvSpPr>
        <p:spPr>
          <a:xfrm>
            <a:off x="4640961" y="4365014"/>
            <a:ext cx="1367193" cy="677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Courier New" panose="02070309020205020404" pitchFamily="49" charset="0"/>
              </a:rPr>
              <a:t>上位説明語</a:t>
            </a:r>
            <a:endParaRPr lang="ja-JP" altLang="en-US" b="1" dirty="0"/>
          </a:p>
        </p:txBody>
      </p:sp>
      <p:sp>
        <p:nvSpPr>
          <p:cNvPr id="7" name="矢印: 右 6">
            <a:extLst>
              <a:ext uri="{FF2B5EF4-FFF2-40B4-BE49-F238E27FC236}">
                <a16:creationId xmlns:a16="http://schemas.microsoft.com/office/drawing/2014/main" id="{3AFD94DE-B7EE-01E8-8911-0F2F428FB643}"/>
              </a:ext>
            </a:extLst>
          </p:cNvPr>
          <p:cNvSpPr/>
          <p:nvPr/>
        </p:nvSpPr>
        <p:spPr>
          <a:xfrm rot="19116667">
            <a:off x="5065048" y="3225465"/>
            <a:ext cx="1672082" cy="5159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04449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7C2316-7376-C46C-A44E-4849F799B817}"/>
              </a:ext>
            </a:extLst>
          </p:cNvPr>
          <p:cNvSpPr>
            <a:spLocks noGrp="1"/>
          </p:cNvSpPr>
          <p:nvPr>
            <p:ph type="ctrTitle"/>
          </p:nvPr>
        </p:nvSpPr>
        <p:spPr>
          <a:xfrm>
            <a:off x="1524000" y="2887489"/>
            <a:ext cx="9144000" cy="1083022"/>
          </a:xfrm>
        </p:spPr>
        <p:txBody>
          <a:bodyPr>
            <a:normAutofit/>
          </a:bodyPr>
          <a:lstStyle/>
          <a:p>
            <a:r>
              <a:rPr kumimoji="1" lang="ja-JP" altLang="en-US" b="1" dirty="0"/>
              <a:t>可視化グラフの評価</a:t>
            </a:r>
          </a:p>
        </p:txBody>
      </p:sp>
    </p:spTree>
    <p:extLst>
      <p:ext uri="{BB962C8B-B14F-4D97-AF65-F5344CB8AC3E}">
        <p14:creationId xmlns:p14="http://schemas.microsoft.com/office/powerpoint/2010/main" val="3401762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CAD640-3AA2-BB99-B4D0-A8B0920CD30A}"/>
              </a:ext>
            </a:extLst>
          </p:cNvPr>
          <p:cNvSpPr>
            <a:spLocks noGrp="1"/>
          </p:cNvSpPr>
          <p:nvPr>
            <p:ph type="title"/>
          </p:nvPr>
        </p:nvSpPr>
        <p:spPr/>
        <p:txBody>
          <a:bodyPr/>
          <a:lstStyle/>
          <a:p>
            <a:r>
              <a:rPr kumimoji="1" lang="ja-JP" altLang="en-US" b="1" dirty="0"/>
              <a:t>代表的な可視化グラフの生成手法</a:t>
            </a:r>
          </a:p>
        </p:txBody>
      </p:sp>
      <p:graphicFrame>
        <p:nvGraphicFramePr>
          <p:cNvPr id="4" name="コンテンツ プレースホルダー 3">
            <a:extLst>
              <a:ext uri="{FF2B5EF4-FFF2-40B4-BE49-F238E27FC236}">
                <a16:creationId xmlns:a16="http://schemas.microsoft.com/office/drawing/2014/main" id="{C88C30D1-5208-4545-24FA-549898B997DE}"/>
              </a:ext>
            </a:extLst>
          </p:cNvPr>
          <p:cNvGraphicFramePr>
            <a:graphicFrameLocks noGrp="1"/>
          </p:cNvGraphicFramePr>
          <p:nvPr>
            <p:ph idx="1"/>
            <p:extLst>
              <p:ext uri="{D42A27DB-BD31-4B8C-83A1-F6EECF244321}">
                <p14:modId xmlns:p14="http://schemas.microsoft.com/office/powerpoint/2010/main" val="4000731268"/>
              </p:ext>
            </p:extLst>
          </p:nvPr>
        </p:nvGraphicFramePr>
        <p:xfrm>
          <a:off x="1071187" y="1795391"/>
          <a:ext cx="9872529" cy="3825780"/>
        </p:xfrm>
        <a:graphic>
          <a:graphicData uri="http://schemas.openxmlformats.org/drawingml/2006/table">
            <a:tbl>
              <a:tblPr firstRow="1" bandRow="1">
                <a:tableStyleId>{5C22544A-7EE6-4342-B048-85BDC9FD1C3A}</a:tableStyleId>
              </a:tblPr>
              <a:tblGrid>
                <a:gridCol w="4362768">
                  <a:extLst>
                    <a:ext uri="{9D8B030D-6E8A-4147-A177-3AD203B41FA5}">
                      <a16:colId xmlns:a16="http://schemas.microsoft.com/office/drawing/2014/main" val="4063388161"/>
                    </a:ext>
                  </a:extLst>
                </a:gridCol>
                <a:gridCol w="1135380">
                  <a:extLst>
                    <a:ext uri="{9D8B030D-6E8A-4147-A177-3AD203B41FA5}">
                      <a16:colId xmlns:a16="http://schemas.microsoft.com/office/drawing/2014/main" val="3465405556"/>
                    </a:ext>
                  </a:extLst>
                </a:gridCol>
                <a:gridCol w="2330768">
                  <a:extLst>
                    <a:ext uri="{9D8B030D-6E8A-4147-A177-3AD203B41FA5}">
                      <a16:colId xmlns:a16="http://schemas.microsoft.com/office/drawing/2014/main" val="352813069"/>
                    </a:ext>
                  </a:extLst>
                </a:gridCol>
                <a:gridCol w="2043613">
                  <a:extLst>
                    <a:ext uri="{9D8B030D-6E8A-4147-A177-3AD203B41FA5}">
                      <a16:colId xmlns:a16="http://schemas.microsoft.com/office/drawing/2014/main" val="2223847672"/>
                    </a:ext>
                  </a:extLst>
                </a:gridCol>
              </a:tblGrid>
              <a:tr h="765156">
                <a:tc>
                  <a:txBody>
                    <a:bodyPr/>
                    <a:lstStyle/>
                    <a:p>
                      <a:pPr algn="ctr"/>
                      <a:r>
                        <a:rPr kumimoji="1" lang="ja-JP" altLang="en-US" sz="3200" dirty="0"/>
                        <a:t>可視化法</a:t>
                      </a:r>
                    </a:p>
                  </a:txBody>
                  <a:tcPr/>
                </a:tc>
                <a:tc>
                  <a:txBody>
                    <a:bodyPr/>
                    <a:lstStyle/>
                    <a:p>
                      <a:pPr algn="ctr"/>
                      <a:r>
                        <a:rPr kumimoji="1" lang="ja-JP" altLang="en-US" sz="3200" dirty="0"/>
                        <a:t>表記</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dirty="0"/>
                        <a:t>入力データ</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dirty="0"/>
                        <a:t>目的関数</a:t>
                      </a:r>
                    </a:p>
                  </a:txBody>
                  <a:tcPr/>
                </a:tc>
                <a:extLst>
                  <a:ext uri="{0D108BD9-81ED-4DB2-BD59-A6C34878D82A}">
                    <a16:rowId xmlns:a16="http://schemas.microsoft.com/office/drawing/2014/main" val="4234731655"/>
                  </a:ext>
                </a:extLst>
              </a:tr>
              <a:tr h="765156">
                <a:tc>
                  <a:txBody>
                    <a:bodyPr/>
                    <a:lstStyle/>
                    <a:p>
                      <a:pPr algn="ctr"/>
                      <a:r>
                        <a:rPr kumimoji="1" lang="ja-JP" altLang="en-US" sz="3200" b="1" dirty="0"/>
                        <a:t>スペクトラル法</a:t>
                      </a:r>
                    </a:p>
                  </a:txBody>
                  <a:tcPr/>
                </a:tc>
                <a:tc>
                  <a:txBody>
                    <a:bodyPr/>
                    <a:lstStyle/>
                    <a:p>
                      <a:pPr algn="ctr"/>
                      <a:r>
                        <a:rPr kumimoji="1" lang="en-US" altLang="ja-JP" sz="3200" b="1" dirty="0"/>
                        <a:t>se</a:t>
                      </a:r>
                      <a:endParaRPr kumimoji="1" lang="ja-JP" altLang="en-US" sz="3200" b="1" dirty="0"/>
                    </a:p>
                  </a:txBody>
                  <a:tcPr/>
                </a:tc>
                <a:tc>
                  <a:txBody>
                    <a:bodyPr/>
                    <a:lstStyle/>
                    <a:p>
                      <a:pPr algn="ctr"/>
                      <a:r>
                        <a:rPr kumimoji="1" lang="ja-JP" altLang="en-US" sz="3200" b="1" dirty="0"/>
                        <a:t>隣接行列</a:t>
                      </a:r>
                    </a:p>
                  </a:txBody>
                  <a:tcPr/>
                </a:tc>
                <a:tc>
                  <a:txBody>
                    <a:bodyPr/>
                    <a:lstStyle/>
                    <a:p>
                      <a:pPr algn="ctr"/>
                      <a:r>
                        <a:rPr kumimoji="1" lang="ja-JP" altLang="en-US" sz="3200" b="1" dirty="0"/>
                        <a:t>線形</a:t>
                      </a:r>
                    </a:p>
                  </a:txBody>
                  <a:tcPr/>
                </a:tc>
                <a:extLst>
                  <a:ext uri="{0D108BD9-81ED-4DB2-BD59-A6C34878D82A}">
                    <a16:rowId xmlns:a16="http://schemas.microsoft.com/office/drawing/2014/main" val="3263739170"/>
                  </a:ext>
                </a:extLst>
              </a:tr>
              <a:tr h="765156">
                <a:tc>
                  <a:txBody>
                    <a:bodyPr/>
                    <a:lstStyle/>
                    <a:p>
                      <a:pPr algn="ctr"/>
                      <a:r>
                        <a:rPr kumimoji="1" lang="ja-JP" altLang="en-US" sz="3200" b="1" dirty="0"/>
                        <a:t>クロスエントロピー法</a:t>
                      </a:r>
                    </a:p>
                  </a:txBody>
                  <a:tcPr/>
                </a:tc>
                <a:tc>
                  <a:txBody>
                    <a:bodyPr/>
                    <a:lstStyle/>
                    <a:p>
                      <a:pPr algn="ctr"/>
                      <a:r>
                        <a:rPr kumimoji="1" lang="en-US" altLang="ja-JP" sz="3200" b="1" dirty="0" err="1"/>
                        <a:t>ce</a:t>
                      </a:r>
                      <a:endParaRPr kumimoji="1" lang="ja-JP" altLang="en-US" sz="3200" b="1" dirty="0"/>
                    </a:p>
                  </a:txBody>
                  <a:tcPr/>
                </a:tc>
                <a:tc>
                  <a:txBody>
                    <a:bodyPr/>
                    <a:lstStyle/>
                    <a:p>
                      <a:pPr algn="ctr"/>
                      <a:r>
                        <a:rPr kumimoji="1" lang="ja-JP" altLang="en-US" sz="3200" b="1" dirty="0"/>
                        <a:t>隣接行列</a:t>
                      </a:r>
                    </a:p>
                  </a:txBody>
                  <a:tcPr/>
                </a:tc>
                <a:tc>
                  <a:txBody>
                    <a:bodyPr/>
                    <a:lstStyle/>
                    <a:p>
                      <a:pPr algn="ctr"/>
                      <a:r>
                        <a:rPr kumimoji="1" lang="ja-JP" altLang="en-US" sz="3200" b="1" dirty="0"/>
                        <a:t>非線形</a:t>
                      </a:r>
                    </a:p>
                  </a:txBody>
                  <a:tcPr/>
                </a:tc>
                <a:extLst>
                  <a:ext uri="{0D108BD9-81ED-4DB2-BD59-A6C34878D82A}">
                    <a16:rowId xmlns:a16="http://schemas.microsoft.com/office/drawing/2014/main" val="2137821639"/>
                  </a:ext>
                </a:extLst>
              </a:tr>
              <a:tr h="765156">
                <a:tc>
                  <a:txBody>
                    <a:bodyPr/>
                    <a:lstStyle/>
                    <a:p>
                      <a:pPr algn="ctr"/>
                      <a:r>
                        <a:rPr kumimoji="1" lang="ja-JP" altLang="en-US" sz="3200" b="1" dirty="0"/>
                        <a:t>多次元尺度法</a:t>
                      </a:r>
                    </a:p>
                  </a:txBody>
                  <a:tcPr/>
                </a:tc>
                <a:tc>
                  <a:txBody>
                    <a:bodyPr/>
                    <a:lstStyle/>
                    <a:p>
                      <a:pPr algn="ctr"/>
                      <a:r>
                        <a:rPr kumimoji="1" lang="en-US" altLang="ja-JP" sz="3200" b="1" dirty="0" err="1"/>
                        <a:t>mds</a:t>
                      </a:r>
                      <a:endParaRPr kumimoji="1" lang="ja-JP" altLang="en-US" sz="3200" b="1" dirty="0"/>
                    </a:p>
                  </a:txBody>
                  <a:tcPr/>
                </a:tc>
                <a:tc>
                  <a:txBody>
                    <a:bodyPr/>
                    <a:lstStyle/>
                    <a:p>
                      <a:pPr algn="ctr"/>
                      <a:r>
                        <a:rPr kumimoji="1" lang="ja-JP" altLang="en-US" sz="3200" b="1" dirty="0"/>
                        <a:t>距離行列</a:t>
                      </a:r>
                    </a:p>
                  </a:txBody>
                  <a:tcPr/>
                </a:tc>
                <a:tc>
                  <a:txBody>
                    <a:bodyPr/>
                    <a:lstStyle/>
                    <a:p>
                      <a:pPr algn="ctr"/>
                      <a:r>
                        <a:rPr kumimoji="1" lang="ja-JP" altLang="en-US" sz="3200" b="1" dirty="0"/>
                        <a:t>線形</a:t>
                      </a:r>
                    </a:p>
                  </a:txBody>
                  <a:tcPr/>
                </a:tc>
                <a:extLst>
                  <a:ext uri="{0D108BD9-81ED-4DB2-BD59-A6C34878D82A}">
                    <a16:rowId xmlns:a16="http://schemas.microsoft.com/office/drawing/2014/main" val="2011154179"/>
                  </a:ext>
                </a:extLst>
              </a:tr>
              <a:tr h="765156">
                <a:tc>
                  <a:txBody>
                    <a:bodyPr/>
                    <a:lstStyle/>
                    <a:p>
                      <a:pPr algn="ctr"/>
                      <a:r>
                        <a:rPr kumimoji="1" lang="ja-JP" altLang="en-US" sz="3200" b="1" dirty="0">
                          <a:solidFill>
                            <a:schemeClr val="tx1"/>
                          </a:solidFill>
                        </a:rPr>
                        <a:t>ばねモデル法</a:t>
                      </a:r>
                    </a:p>
                  </a:txBody>
                  <a:tcPr/>
                </a:tc>
                <a:tc>
                  <a:txBody>
                    <a:bodyPr/>
                    <a:lstStyle/>
                    <a:p>
                      <a:pPr algn="ctr"/>
                      <a:r>
                        <a:rPr kumimoji="1" lang="en-US" altLang="ja-JP" sz="3200" b="1" dirty="0">
                          <a:solidFill>
                            <a:schemeClr val="tx1"/>
                          </a:solidFill>
                        </a:rPr>
                        <a:t>kk</a:t>
                      </a:r>
                      <a:endParaRPr kumimoji="1" lang="ja-JP" altLang="en-US" sz="3200" b="1" dirty="0">
                        <a:solidFill>
                          <a:schemeClr val="tx1"/>
                        </a:solidFill>
                      </a:endParaRPr>
                    </a:p>
                  </a:txBody>
                  <a:tcPr/>
                </a:tc>
                <a:tc>
                  <a:txBody>
                    <a:bodyPr/>
                    <a:lstStyle/>
                    <a:p>
                      <a:pPr algn="ctr"/>
                      <a:r>
                        <a:rPr kumimoji="1" lang="ja-JP" altLang="en-US" sz="3200" b="1" dirty="0">
                          <a:solidFill>
                            <a:schemeClr val="tx1"/>
                          </a:solidFill>
                        </a:rPr>
                        <a:t>距離行列</a:t>
                      </a:r>
                    </a:p>
                  </a:txBody>
                  <a:tcPr/>
                </a:tc>
                <a:tc>
                  <a:txBody>
                    <a:bodyPr/>
                    <a:lstStyle/>
                    <a:p>
                      <a:pPr algn="ctr"/>
                      <a:r>
                        <a:rPr kumimoji="1" lang="ja-JP" altLang="en-US" sz="3200" b="1" dirty="0">
                          <a:solidFill>
                            <a:schemeClr val="tx1"/>
                          </a:solidFill>
                        </a:rPr>
                        <a:t>非線形</a:t>
                      </a:r>
                    </a:p>
                  </a:txBody>
                  <a:tcPr/>
                </a:tc>
                <a:extLst>
                  <a:ext uri="{0D108BD9-81ED-4DB2-BD59-A6C34878D82A}">
                    <a16:rowId xmlns:a16="http://schemas.microsoft.com/office/drawing/2014/main" val="2657756370"/>
                  </a:ext>
                </a:extLst>
              </a:tr>
            </a:tbl>
          </a:graphicData>
        </a:graphic>
      </p:graphicFrame>
      <p:sp>
        <p:nvSpPr>
          <p:cNvPr id="5" name="テキスト ボックス 4">
            <a:extLst>
              <a:ext uri="{FF2B5EF4-FFF2-40B4-BE49-F238E27FC236}">
                <a16:creationId xmlns:a16="http://schemas.microsoft.com/office/drawing/2014/main" id="{9E6693A6-C547-482C-C4AB-B8DA10B9FE6B}"/>
              </a:ext>
            </a:extLst>
          </p:cNvPr>
          <p:cNvSpPr txBox="1"/>
          <p:nvPr/>
        </p:nvSpPr>
        <p:spPr>
          <a:xfrm>
            <a:off x="1248284" y="5912498"/>
            <a:ext cx="9695432" cy="646331"/>
          </a:xfrm>
          <a:prstGeom prst="rect">
            <a:avLst/>
          </a:prstGeom>
          <a:noFill/>
        </p:spPr>
        <p:txBody>
          <a:bodyPr wrap="square">
            <a:spAutoFit/>
          </a:bodyPr>
          <a:lstStyle/>
          <a:p>
            <a:pPr algn="ctr"/>
            <a:r>
              <a:rPr kumimoji="1" lang="ja-JP" altLang="en-US" sz="3600" b="1" dirty="0">
                <a:solidFill>
                  <a:srgbClr val="C00000"/>
                </a:solidFill>
              </a:rPr>
              <a:t>どの手法で生成するのが一番良いか評価する</a:t>
            </a:r>
            <a:r>
              <a:rPr kumimoji="1" lang="en-US" altLang="ja-JP" sz="3600" b="1" dirty="0">
                <a:solidFill>
                  <a:srgbClr val="C00000"/>
                </a:solidFill>
              </a:rPr>
              <a:t>.</a:t>
            </a:r>
            <a:endParaRPr kumimoji="1" lang="ja-JP" altLang="en-US" sz="3600" b="1" dirty="0">
              <a:solidFill>
                <a:srgbClr val="C00000"/>
              </a:solidFill>
            </a:endParaRPr>
          </a:p>
        </p:txBody>
      </p:sp>
    </p:spTree>
    <p:extLst>
      <p:ext uri="{BB962C8B-B14F-4D97-AF65-F5344CB8AC3E}">
        <p14:creationId xmlns:p14="http://schemas.microsoft.com/office/powerpoint/2010/main" val="3336964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18D383-309A-E7D2-38A3-09064B5775FB}"/>
            </a:ext>
          </a:extLst>
        </p:cNvPr>
        <p:cNvGrpSpPr/>
        <p:nvPr/>
      </p:nvGrpSpPr>
      <p:grpSpPr>
        <a:xfrm>
          <a:off x="0" y="0"/>
          <a:ext cx="0" cy="0"/>
          <a:chOff x="0" y="0"/>
          <a:chExt cx="0" cy="0"/>
        </a:xfrm>
      </p:grpSpPr>
      <p:pic>
        <p:nvPicPr>
          <p:cNvPr id="38" name="図 37">
            <a:extLst>
              <a:ext uri="{FF2B5EF4-FFF2-40B4-BE49-F238E27FC236}">
                <a16:creationId xmlns:a16="http://schemas.microsoft.com/office/drawing/2014/main" id="{F743F62A-406C-6D24-A14B-4645197C0AEB}"/>
              </a:ext>
            </a:extLst>
          </p:cNvPr>
          <p:cNvPicPr>
            <a:picLocks noChangeAspect="1"/>
          </p:cNvPicPr>
          <p:nvPr/>
        </p:nvPicPr>
        <p:blipFill>
          <a:blip r:embed="rId3"/>
          <a:stretch>
            <a:fillRect/>
          </a:stretch>
        </p:blipFill>
        <p:spPr>
          <a:xfrm>
            <a:off x="6208400" y="3766748"/>
            <a:ext cx="5942338" cy="2768200"/>
          </a:xfrm>
          <a:prstGeom prst="rect">
            <a:avLst/>
          </a:prstGeom>
        </p:spPr>
      </p:pic>
      <p:pic>
        <p:nvPicPr>
          <p:cNvPr id="32" name="図 31">
            <a:extLst>
              <a:ext uri="{FF2B5EF4-FFF2-40B4-BE49-F238E27FC236}">
                <a16:creationId xmlns:a16="http://schemas.microsoft.com/office/drawing/2014/main" id="{E8140804-5578-9E5C-3DCD-FD09F54327E3}"/>
              </a:ext>
            </a:extLst>
          </p:cNvPr>
          <p:cNvPicPr>
            <a:picLocks noChangeAspect="1"/>
          </p:cNvPicPr>
          <p:nvPr/>
        </p:nvPicPr>
        <p:blipFill>
          <a:blip r:embed="rId4"/>
          <a:stretch>
            <a:fillRect/>
          </a:stretch>
        </p:blipFill>
        <p:spPr>
          <a:xfrm>
            <a:off x="6390679" y="545429"/>
            <a:ext cx="5594723" cy="2602571"/>
          </a:xfrm>
          <a:prstGeom prst="rect">
            <a:avLst/>
          </a:prstGeom>
        </p:spPr>
      </p:pic>
      <p:pic>
        <p:nvPicPr>
          <p:cNvPr id="18" name="図 17">
            <a:extLst>
              <a:ext uri="{FF2B5EF4-FFF2-40B4-BE49-F238E27FC236}">
                <a16:creationId xmlns:a16="http://schemas.microsoft.com/office/drawing/2014/main" id="{02F516AC-AE44-1BC4-99A8-98CEF11CA200}"/>
              </a:ext>
            </a:extLst>
          </p:cNvPr>
          <p:cNvPicPr>
            <a:picLocks noChangeAspect="1"/>
          </p:cNvPicPr>
          <p:nvPr/>
        </p:nvPicPr>
        <p:blipFill>
          <a:blip r:embed="rId5"/>
          <a:stretch>
            <a:fillRect/>
          </a:stretch>
        </p:blipFill>
        <p:spPr>
          <a:xfrm>
            <a:off x="41262" y="3795535"/>
            <a:ext cx="5961711" cy="2768200"/>
          </a:xfrm>
          <a:prstGeom prst="rect">
            <a:avLst/>
          </a:prstGeom>
        </p:spPr>
      </p:pic>
      <p:pic>
        <p:nvPicPr>
          <p:cNvPr id="8" name="図 7">
            <a:extLst>
              <a:ext uri="{FF2B5EF4-FFF2-40B4-BE49-F238E27FC236}">
                <a16:creationId xmlns:a16="http://schemas.microsoft.com/office/drawing/2014/main" id="{121F7450-48E1-A8C4-A64C-EF8E66FAA9EB}"/>
              </a:ext>
            </a:extLst>
          </p:cNvPr>
          <p:cNvPicPr>
            <a:picLocks noChangeAspect="1"/>
          </p:cNvPicPr>
          <p:nvPr/>
        </p:nvPicPr>
        <p:blipFill>
          <a:blip r:embed="rId6"/>
          <a:stretch>
            <a:fillRect/>
          </a:stretch>
        </p:blipFill>
        <p:spPr>
          <a:xfrm>
            <a:off x="172854" y="545429"/>
            <a:ext cx="5686163" cy="2683963"/>
          </a:xfrm>
          <a:prstGeom prst="rect">
            <a:avLst/>
          </a:prstGeom>
        </p:spPr>
      </p:pic>
      <p:sp>
        <p:nvSpPr>
          <p:cNvPr id="15" name="Rectangle 14">
            <a:extLst>
              <a:ext uri="{FF2B5EF4-FFF2-40B4-BE49-F238E27FC236}">
                <a16:creationId xmlns:a16="http://schemas.microsoft.com/office/drawing/2014/main" id="{B44C7B66-41B6-666D-18D2-4808D7AB16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4D2E227-4E20-E6F1-8F14-867B6C66B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398A6ED-B84F-9660-A2EB-0A3E75E52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552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テキスト ボックス 11">
            <a:extLst>
              <a:ext uri="{FF2B5EF4-FFF2-40B4-BE49-F238E27FC236}">
                <a16:creationId xmlns:a16="http://schemas.microsoft.com/office/drawing/2014/main" id="{2A19623B-36F7-138E-0235-728076A7CE1B}"/>
              </a:ext>
            </a:extLst>
          </p:cNvPr>
          <p:cNvSpPr txBox="1"/>
          <p:nvPr/>
        </p:nvSpPr>
        <p:spPr>
          <a:xfrm>
            <a:off x="172855" y="193417"/>
            <a:ext cx="2394293" cy="369332"/>
          </a:xfrm>
          <a:prstGeom prst="rect">
            <a:avLst/>
          </a:prstGeom>
          <a:noFill/>
        </p:spPr>
        <p:txBody>
          <a:bodyPr wrap="square">
            <a:spAutoFit/>
          </a:bodyPr>
          <a:lstStyle/>
          <a:p>
            <a:r>
              <a:rPr lang="ja-JP" altLang="en-US" b="1" dirty="0"/>
              <a:t>スペクトラル法</a:t>
            </a:r>
            <a:r>
              <a:rPr lang="en-US" altLang="ja-JP" b="1" dirty="0"/>
              <a:t>(se)</a:t>
            </a:r>
            <a:endParaRPr lang="ja-JP" altLang="en-US" b="1" dirty="0"/>
          </a:p>
        </p:txBody>
      </p:sp>
      <p:sp>
        <p:nvSpPr>
          <p:cNvPr id="14" name="テキスト ボックス 13">
            <a:extLst>
              <a:ext uri="{FF2B5EF4-FFF2-40B4-BE49-F238E27FC236}">
                <a16:creationId xmlns:a16="http://schemas.microsoft.com/office/drawing/2014/main" id="{ECFA4F1D-E8DD-A25D-48E1-9804B300A216}"/>
              </a:ext>
            </a:extLst>
          </p:cNvPr>
          <p:cNvSpPr txBox="1"/>
          <p:nvPr/>
        </p:nvSpPr>
        <p:spPr>
          <a:xfrm>
            <a:off x="146219" y="6350282"/>
            <a:ext cx="2394293" cy="369332"/>
          </a:xfrm>
          <a:prstGeom prst="rect">
            <a:avLst/>
          </a:prstGeom>
          <a:noFill/>
        </p:spPr>
        <p:txBody>
          <a:bodyPr wrap="square">
            <a:spAutoFit/>
          </a:bodyPr>
          <a:lstStyle/>
          <a:p>
            <a:r>
              <a:rPr lang="ja-JP" altLang="en-US" b="1" dirty="0"/>
              <a:t>多次元尺度法</a:t>
            </a:r>
            <a:r>
              <a:rPr lang="en-US" altLang="ja-JP" b="1" dirty="0"/>
              <a:t>(</a:t>
            </a:r>
            <a:r>
              <a:rPr lang="en-US" altLang="ja-JP" b="1" dirty="0" err="1"/>
              <a:t>mds</a:t>
            </a:r>
            <a:r>
              <a:rPr lang="en-US" altLang="ja-JP" b="1" dirty="0"/>
              <a:t>)</a:t>
            </a:r>
            <a:endParaRPr lang="ja-JP" altLang="en-US" b="1" dirty="0"/>
          </a:p>
        </p:txBody>
      </p:sp>
      <p:sp>
        <p:nvSpPr>
          <p:cNvPr id="16" name="テキスト ボックス 15">
            <a:extLst>
              <a:ext uri="{FF2B5EF4-FFF2-40B4-BE49-F238E27FC236}">
                <a16:creationId xmlns:a16="http://schemas.microsoft.com/office/drawing/2014/main" id="{63369820-F381-1174-855A-DAF915B05AFA}"/>
              </a:ext>
            </a:extLst>
          </p:cNvPr>
          <p:cNvSpPr txBox="1"/>
          <p:nvPr/>
        </p:nvSpPr>
        <p:spPr>
          <a:xfrm>
            <a:off x="6483119" y="6379069"/>
            <a:ext cx="2029139" cy="369332"/>
          </a:xfrm>
          <a:prstGeom prst="rect">
            <a:avLst/>
          </a:prstGeom>
          <a:noFill/>
        </p:spPr>
        <p:txBody>
          <a:bodyPr wrap="square">
            <a:spAutoFit/>
          </a:bodyPr>
          <a:lstStyle/>
          <a:p>
            <a:r>
              <a:rPr lang="ja-JP" altLang="en-US" b="1" dirty="0"/>
              <a:t>ばねモデル法</a:t>
            </a:r>
            <a:r>
              <a:rPr lang="en-US" altLang="ja-JP" b="1" dirty="0"/>
              <a:t>(kk)</a:t>
            </a:r>
            <a:endParaRPr lang="ja-JP" altLang="en-US" b="1" dirty="0"/>
          </a:p>
        </p:txBody>
      </p:sp>
      <p:sp>
        <p:nvSpPr>
          <p:cNvPr id="20" name="テキスト ボックス 19">
            <a:extLst>
              <a:ext uri="{FF2B5EF4-FFF2-40B4-BE49-F238E27FC236}">
                <a16:creationId xmlns:a16="http://schemas.microsoft.com/office/drawing/2014/main" id="{033B0BA8-E49C-3FF2-D0E1-F42ABBAFFC81}"/>
              </a:ext>
            </a:extLst>
          </p:cNvPr>
          <p:cNvSpPr txBox="1"/>
          <p:nvPr/>
        </p:nvSpPr>
        <p:spPr>
          <a:xfrm>
            <a:off x="9959639" y="3525334"/>
            <a:ext cx="2025763" cy="369332"/>
          </a:xfrm>
          <a:prstGeom prst="rect">
            <a:avLst/>
          </a:prstGeom>
          <a:noFill/>
        </p:spPr>
        <p:txBody>
          <a:bodyPr wrap="square">
            <a:spAutoFit/>
          </a:bodyPr>
          <a:lstStyle/>
          <a:p>
            <a:r>
              <a:rPr lang="ja-JP" altLang="en-US" b="1" dirty="0">
                <a:solidFill>
                  <a:srgbClr val="C00000"/>
                </a:solidFill>
              </a:rPr>
              <a:t>全体的に見やすい</a:t>
            </a:r>
          </a:p>
        </p:txBody>
      </p:sp>
      <p:cxnSp>
        <p:nvCxnSpPr>
          <p:cNvPr id="22" name="直線矢印コネクタ 21">
            <a:extLst>
              <a:ext uri="{FF2B5EF4-FFF2-40B4-BE49-F238E27FC236}">
                <a16:creationId xmlns:a16="http://schemas.microsoft.com/office/drawing/2014/main" id="{4E44295A-9972-24E2-2047-5B93963F1F66}"/>
              </a:ext>
            </a:extLst>
          </p:cNvPr>
          <p:cNvCxnSpPr>
            <a:cxnSpLocks/>
            <a:stCxn id="26" idx="2"/>
          </p:cNvCxnSpPr>
          <p:nvPr/>
        </p:nvCxnSpPr>
        <p:spPr>
          <a:xfrm flipH="1">
            <a:off x="581247" y="4447360"/>
            <a:ext cx="358601" cy="73227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6" name="テキスト ボックス 25">
            <a:extLst>
              <a:ext uri="{FF2B5EF4-FFF2-40B4-BE49-F238E27FC236}">
                <a16:creationId xmlns:a16="http://schemas.microsoft.com/office/drawing/2014/main" id="{7ABC3C46-045F-AFE9-86D1-6CC7DB6CA851}"/>
              </a:ext>
            </a:extLst>
          </p:cNvPr>
          <p:cNvSpPr txBox="1"/>
          <p:nvPr/>
        </p:nvSpPr>
        <p:spPr>
          <a:xfrm>
            <a:off x="41262" y="4078028"/>
            <a:ext cx="1797171" cy="369332"/>
          </a:xfrm>
          <a:prstGeom prst="rect">
            <a:avLst/>
          </a:prstGeom>
          <a:noFill/>
        </p:spPr>
        <p:txBody>
          <a:bodyPr wrap="square">
            <a:spAutoFit/>
          </a:bodyPr>
          <a:lstStyle/>
          <a:p>
            <a:r>
              <a:rPr lang="ja-JP" altLang="en-US" dirty="0"/>
              <a:t>ノードが重なる</a:t>
            </a:r>
          </a:p>
        </p:txBody>
      </p:sp>
      <p:sp>
        <p:nvSpPr>
          <p:cNvPr id="30" name="テキスト ボックス 29">
            <a:extLst>
              <a:ext uri="{FF2B5EF4-FFF2-40B4-BE49-F238E27FC236}">
                <a16:creationId xmlns:a16="http://schemas.microsoft.com/office/drawing/2014/main" id="{8CB154BB-E9FD-3EF2-3C80-575638922DAD}"/>
              </a:ext>
            </a:extLst>
          </p:cNvPr>
          <p:cNvSpPr txBox="1"/>
          <p:nvPr/>
        </p:nvSpPr>
        <p:spPr>
          <a:xfrm>
            <a:off x="9131152" y="74651"/>
            <a:ext cx="1923334" cy="369332"/>
          </a:xfrm>
          <a:prstGeom prst="rect">
            <a:avLst/>
          </a:prstGeom>
          <a:noFill/>
        </p:spPr>
        <p:txBody>
          <a:bodyPr wrap="square">
            <a:spAutoFit/>
          </a:bodyPr>
          <a:lstStyle/>
          <a:p>
            <a:r>
              <a:rPr lang="ja-JP" altLang="en-US" dirty="0"/>
              <a:t>ノードが重なる</a:t>
            </a:r>
          </a:p>
        </p:txBody>
      </p:sp>
      <p:cxnSp>
        <p:nvCxnSpPr>
          <p:cNvPr id="31" name="直線矢印コネクタ 30">
            <a:extLst>
              <a:ext uri="{FF2B5EF4-FFF2-40B4-BE49-F238E27FC236}">
                <a16:creationId xmlns:a16="http://schemas.microsoft.com/office/drawing/2014/main" id="{FCF2C8E0-F666-A452-955E-E41E4F7643DE}"/>
              </a:ext>
            </a:extLst>
          </p:cNvPr>
          <p:cNvCxnSpPr>
            <a:cxnSpLocks/>
          </p:cNvCxnSpPr>
          <p:nvPr/>
        </p:nvCxnSpPr>
        <p:spPr>
          <a:xfrm flipH="1">
            <a:off x="7773117" y="417620"/>
            <a:ext cx="2088320" cy="13039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テキスト ボックス 33">
            <a:extLst>
              <a:ext uri="{FF2B5EF4-FFF2-40B4-BE49-F238E27FC236}">
                <a16:creationId xmlns:a16="http://schemas.microsoft.com/office/drawing/2014/main" id="{F4E546C9-3272-AC43-8EC4-696BAF3C7B0F}"/>
              </a:ext>
            </a:extLst>
          </p:cNvPr>
          <p:cNvSpPr txBox="1"/>
          <p:nvPr/>
        </p:nvSpPr>
        <p:spPr>
          <a:xfrm>
            <a:off x="2969357" y="336866"/>
            <a:ext cx="1814328" cy="369332"/>
          </a:xfrm>
          <a:prstGeom prst="rect">
            <a:avLst/>
          </a:prstGeom>
          <a:noFill/>
        </p:spPr>
        <p:txBody>
          <a:bodyPr wrap="square">
            <a:spAutoFit/>
          </a:bodyPr>
          <a:lstStyle/>
          <a:p>
            <a:r>
              <a:rPr lang="ja-JP" altLang="en-US" dirty="0"/>
              <a:t>ノードが重なる</a:t>
            </a:r>
          </a:p>
        </p:txBody>
      </p:sp>
      <p:cxnSp>
        <p:nvCxnSpPr>
          <p:cNvPr id="35" name="直線矢印コネクタ 34">
            <a:extLst>
              <a:ext uri="{FF2B5EF4-FFF2-40B4-BE49-F238E27FC236}">
                <a16:creationId xmlns:a16="http://schemas.microsoft.com/office/drawing/2014/main" id="{2B758E13-F835-5C2F-A6E6-A7E75038933E}"/>
              </a:ext>
            </a:extLst>
          </p:cNvPr>
          <p:cNvCxnSpPr>
            <a:cxnSpLocks/>
          </p:cNvCxnSpPr>
          <p:nvPr/>
        </p:nvCxnSpPr>
        <p:spPr>
          <a:xfrm>
            <a:off x="4307798" y="691383"/>
            <a:ext cx="951774" cy="428580"/>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42" name="テキスト ボックス 41">
            <a:extLst>
              <a:ext uri="{FF2B5EF4-FFF2-40B4-BE49-F238E27FC236}">
                <a16:creationId xmlns:a16="http://schemas.microsoft.com/office/drawing/2014/main" id="{911620C7-2B2D-D67B-B773-6C1A8940989E}"/>
              </a:ext>
            </a:extLst>
          </p:cNvPr>
          <p:cNvSpPr txBox="1"/>
          <p:nvPr/>
        </p:nvSpPr>
        <p:spPr>
          <a:xfrm>
            <a:off x="286583" y="2752057"/>
            <a:ext cx="2738557" cy="369332"/>
          </a:xfrm>
          <a:prstGeom prst="rect">
            <a:avLst/>
          </a:prstGeom>
          <a:noFill/>
        </p:spPr>
        <p:txBody>
          <a:bodyPr wrap="square">
            <a:spAutoFit/>
          </a:bodyPr>
          <a:lstStyle/>
          <a:p>
            <a:r>
              <a:rPr lang="ja-JP" altLang="en-US" dirty="0"/>
              <a:t>ノード間の距離が不自然</a:t>
            </a:r>
          </a:p>
        </p:txBody>
      </p:sp>
      <p:cxnSp>
        <p:nvCxnSpPr>
          <p:cNvPr id="43" name="直線矢印コネクタ 42">
            <a:extLst>
              <a:ext uri="{FF2B5EF4-FFF2-40B4-BE49-F238E27FC236}">
                <a16:creationId xmlns:a16="http://schemas.microsoft.com/office/drawing/2014/main" id="{87E8C6AB-C54F-A225-1BF3-F086588B712C}"/>
              </a:ext>
            </a:extLst>
          </p:cNvPr>
          <p:cNvCxnSpPr>
            <a:cxnSpLocks/>
          </p:cNvCxnSpPr>
          <p:nvPr/>
        </p:nvCxnSpPr>
        <p:spPr>
          <a:xfrm flipV="1">
            <a:off x="2142199" y="2282857"/>
            <a:ext cx="849896" cy="42361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テキスト ボックス 27">
            <a:extLst>
              <a:ext uri="{FF2B5EF4-FFF2-40B4-BE49-F238E27FC236}">
                <a16:creationId xmlns:a16="http://schemas.microsoft.com/office/drawing/2014/main" id="{FAB3E91A-278F-179D-5628-1559E68509BC}"/>
              </a:ext>
            </a:extLst>
          </p:cNvPr>
          <p:cNvSpPr txBox="1"/>
          <p:nvPr/>
        </p:nvSpPr>
        <p:spPr>
          <a:xfrm>
            <a:off x="6179361" y="189151"/>
            <a:ext cx="2971039" cy="369332"/>
          </a:xfrm>
          <a:prstGeom prst="rect">
            <a:avLst/>
          </a:prstGeom>
          <a:noFill/>
        </p:spPr>
        <p:txBody>
          <a:bodyPr wrap="square">
            <a:spAutoFit/>
          </a:bodyPr>
          <a:lstStyle/>
          <a:p>
            <a:r>
              <a:rPr lang="ja-JP" altLang="en-US" b="1" dirty="0"/>
              <a:t>クロスエントロピー法</a:t>
            </a:r>
            <a:r>
              <a:rPr lang="en-US" altLang="ja-JP" b="1" dirty="0"/>
              <a:t>(</a:t>
            </a:r>
            <a:r>
              <a:rPr lang="en-US" altLang="ja-JP" b="1" dirty="0" err="1"/>
              <a:t>ce</a:t>
            </a:r>
            <a:r>
              <a:rPr lang="en-US" altLang="ja-JP" b="1" dirty="0"/>
              <a:t>)</a:t>
            </a:r>
            <a:endParaRPr lang="ja-JP" altLang="en-US" b="1" dirty="0"/>
          </a:p>
        </p:txBody>
      </p:sp>
    </p:spTree>
    <p:extLst>
      <p:ext uri="{BB962C8B-B14F-4D97-AF65-F5344CB8AC3E}">
        <p14:creationId xmlns:p14="http://schemas.microsoft.com/office/powerpoint/2010/main" val="3908445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FC92A7-9208-8EEA-7367-3065699423E2}"/>
              </a:ext>
            </a:extLst>
          </p:cNvPr>
          <p:cNvSpPr>
            <a:spLocks noGrp="1"/>
          </p:cNvSpPr>
          <p:nvPr>
            <p:ph type="title"/>
          </p:nvPr>
        </p:nvSpPr>
        <p:spPr>
          <a:xfrm>
            <a:off x="557540" y="134780"/>
            <a:ext cx="9820493" cy="1325563"/>
          </a:xfrm>
        </p:spPr>
        <p:txBody>
          <a:bodyPr/>
          <a:lstStyle/>
          <a:p>
            <a:r>
              <a:rPr kumimoji="1" lang="ja-JP" altLang="en-US" sz="4400" b="1" dirty="0"/>
              <a:t>可視化結果の良さを定量評価可能か？</a:t>
            </a:r>
            <a:endParaRPr kumimoji="1" lang="en-US" altLang="ja-JP" sz="4400" b="1" dirty="0"/>
          </a:p>
        </p:txBody>
      </p:sp>
      <p:sp>
        <p:nvSpPr>
          <p:cNvPr id="3" name="コンテンツ プレースホルダー 2">
            <a:extLst>
              <a:ext uri="{FF2B5EF4-FFF2-40B4-BE49-F238E27FC236}">
                <a16:creationId xmlns:a16="http://schemas.microsoft.com/office/drawing/2014/main" id="{1A015582-8602-F4DE-4C15-F647037CDE8B}"/>
              </a:ext>
            </a:extLst>
          </p:cNvPr>
          <p:cNvSpPr>
            <a:spLocks noGrp="1"/>
          </p:cNvSpPr>
          <p:nvPr>
            <p:ph idx="1"/>
          </p:nvPr>
        </p:nvSpPr>
        <p:spPr>
          <a:xfrm>
            <a:off x="838200" y="2278098"/>
            <a:ext cx="10515600" cy="3556073"/>
          </a:xfrm>
        </p:spPr>
        <p:txBody>
          <a:bodyPr>
            <a:normAutofit/>
          </a:bodyPr>
          <a:lstStyle/>
          <a:p>
            <a:pPr marL="0" indent="0">
              <a:buNone/>
            </a:pPr>
            <a:r>
              <a:rPr lang="ja-JP" altLang="en-US" b="1" dirty="0">
                <a:solidFill>
                  <a:srgbClr val="000000"/>
                </a:solidFill>
                <a:latin typeface="Courier New" panose="02070309020205020404" pitchFamily="49" charset="0"/>
              </a:rPr>
              <a:t>質問</a:t>
            </a:r>
            <a:endParaRPr lang="en-US" altLang="ja-JP" b="1" dirty="0">
              <a:solidFill>
                <a:srgbClr val="000000"/>
              </a:solidFill>
              <a:latin typeface="Courier New" panose="02070309020205020404" pitchFamily="49" charset="0"/>
            </a:endParaRPr>
          </a:p>
          <a:p>
            <a:pPr marL="0" indent="0" algn="l">
              <a:buNone/>
            </a:pPr>
            <a:r>
              <a:rPr lang="ja-JP" altLang="en-US" b="1" i="0" dirty="0">
                <a:solidFill>
                  <a:srgbClr val="212121"/>
                </a:solidFill>
                <a:effectLst/>
                <a:latin typeface="Roboto" panose="02000000000000000000" pitchFamily="2" charset="0"/>
              </a:rPr>
              <a:t>主観的に見れば、</a:t>
            </a:r>
            <a:r>
              <a:rPr lang="ja-JP" altLang="en-US" b="1" dirty="0">
                <a:solidFill>
                  <a:srgbClr val="212121"/>
                </a:solidFill>
                <a:latin typeface="Roboto" panose="02000000000000000000" pitchFamily="2" charset="0"/>
              </a:rPr>
              <a:t>ばね</a:t>
            </a:r>
            <a:r>
              <a:rPr lang="ja-JP" altLang="en-US" b="1" i="0" dirty="0">
                <a:solidFill>
                  <a:srgbClr val="212121"/>
                </a:solidFill>
                <a:effectLst/>
                <a:latin typeface="Roboto" panose="02000000000000000000" pitchFamily="2" charset="0"/>
              </a:rPr>
              <a:t>モデル法が見やすいように思える</a:t>
            </a:r>
            <a:r>
              <a:rPr lang="ja-JP" altLang="en-US" b="0" i="0" dirty="0">
                <a:solidFill>
                  <a:srgbClr val="212121"/>
                </a:solidFill>
                <a:effectLst/>
                <a:latin typeface="Roboto" panose="02000000000000000000" pitchFamily="2" charset="0"/>
              </a:rPr>
              <a:t>が、</a:t>
            </a:r>
            <a:endParaRPr lang="en-US" altLang="ja-JP" b="0" i="0" dirty="0">
              <a:solidFill>
                <a:srgbClr val="212121"/>
              </a:solidFill>
              <a:effectLst/>
              <a:latin typeface="Roboto" panose="02000000000000000000" pitchFamily="2" charset="0"/>
            </a:endParaRPr>
          </a:p>
          <a:p>
            <a:pPr marL="0" indent="0" algn="l">
              <a:buNone/>
            </a:pPr>
            <a:r>
              <a:rPr lang="ja-JP" altLang="en-US" b="0" i="0" dirty="0">
                <a:solidFill>
                  <a:srgbClr val="212121"/>
                </a:solidFill>
                <a:effectLst/>
                <a:latin typeface="Roboto" panose="02000000000000000000" pitchFamily="2" charset="0"/>
              </a:rPr>
              <a:t>これら可視化グラフの良し悪しは</a:t>
            </a:r>
            <a:r>
              <a:rPr lang="ja-JP" altLang="en-US" b="1" i="0" dirty="0">
                <a:solidFill>
                  <a:srgbClr val="212121"/>
                </a:solidFill>
                <a:effectLst/>
                <a:latin typeface="Roboto" panose="02000000000000000000" pitchFamily="2" charset="0"/>
              </a:rPr>
              <a:t>客観的に評価できない？</a:t>
            </a:r>
            <a:endParaRPr lang="en-US" altLang="ja-JP" b="1" i="0" dirty="0">
              <a:solidFill>
                <a:srgbClr val="212121"/>
              </a:solidFill>
              <a:effectLst/>
              <a:latin typeface="Roboto" panose="02000000000000000000" pitchFamily="2" charset="0"/>
            </a:endParaRPr>
          </a:p>
          <a:p>
            <a:pPr marL="0" indent="0" algn="l">
              <a:buNone/>
            </a:pPr>
            <a:endParaRPr lang="en-US" altLang="ja-JP" b="1" dirty="0"/>
          </a:p>
          <a:p>
            <a:pPr marL="0" indent="0">
              <a:buNone/>
            </a:pPr>
            <a:r>
              <a:rPr lang="ja-JP" altLang="en-US" b="1" dirty="0"/>
              <a:t>回答</a:t>
            </a:r>
            <a:endParaRPr lang="en-US" altLang="ja-JP" b="1" dirty="0"/>
          </a:p>
          <a:p>
            <a:pPr marL="0" indent="0" algn="l">
              <a:buNone/>
            </a:pPr>
            <a:r>
              <a:rPr lang="ja-JP" altLang="en-US" b="0" i="0" dirty="0">
                <a:solidFill>
                  <a:srgbClr val="212121"/>
                </a:solidFill>
                <a:effectLst/>
                <a:latin typeface="Roboto" panose="02000000000000000000" pitchFamily="2" charset="0"/>
              </a:rPr>
              <a:t>各種可視化法を用いて生成した可視化グラフは、</a:t>
            </a:r>
            <a:r>
              <a:rPr lang="ja-JP" altLang="en-US" i="0" dirty="0">
                <a:effectLst/>
                <a:latin typeface="Roboto" panose="02000000000000000000" pitchFamily="2" charset="0"/>
              </a:rPr>
              <a:t>変動係数を用い</a:t>
            </a:r>
            <a:endParaRPr lang="en-US" altLang="ja-JP" i="0" dirty="0">
              <a:effectLst/>
              <a:latin typeface="Roboto" panose="02000000000000000000" pitchFamily="2" charset="0"/>
            </a:endParaRPr>
          </a:p>
          <a:p>
            <a:pPr marL="0" indent="0" algn="l">
              <a:buNone/>
            </a:pPr>
            <a:r>
              <a:rPr lang="ja-JP" altLang="en-US" i="0" dirty="0">
                <a:effectLst/>
                <a:latin typeface="Roboto" panose="02000000000000000000" pitchFamily="2" charset="0"/>
              </a:rPr>
              <a:t>て</a:t>
            </a:r>
            <a:r>
              <a:rPr lang="ja-JP" altLang="en-US" b="1" i="0" dirty="0">
                <a:solidFill>
                  <a:srgbClr val="C00000"/>
                </a:solidFill>
                <a:effectLst/>
                <a:latin typeface="Roboto" panose="02000000000000000000" pitchFamily="2" charset="0"/>
              </a:rPr>
              <a:t>定量評価</a:t>
            </a:r>
            <a:r>
              <a:rPr lang="ja-JP" altLang="en-US" b="0" i="0" dirty="0">
                <a:solidFill>
                  <a:srgbClr val="212121"/>
                </a:solidFill>
                <a:effectLst/>
                <a:latin typeface="Roboto" panose="02000000000000000000" pitchFamily="2" charset="0"/>
              </a:rPr>
              <a:t>できた</a:t>
            </a:r>
            <a:r>
              <a:rPr lang="en-US" altLang="ja-JP" b="0" i="0" dirty="0">
                <a:solidFill>
                  <a:srgbClr val="212121"/>
                </a:solidFill>
                <a:effectLst/>
                <a:latin typeface="Roboto" panose="02000000000000000000" pitchFamily="2" charset="0"/>
              </a:rPr>
              <a:t>.</a:t>
            </a:r>
            <a:endParaRPr lang="ja-JP" altLang="en-US" b="0" i="0" dirty="0">
              <a:solidFill>
                <a:srgbClr val="212121"/>
              </a:solidFill>
              <a:effectLst/>
              <a:latin typeface="Roboto" panose="02000000000000000000" pitchFamily="2" charset="0"/>
            </a:endParaRPr>
          </a:p>
          <a:p>
            <a:pPr marL="0" indent="0">
              <a:buNone/>
            </a:pPr>
            <a:endParaRPr lang="en-US" altLang="ja-JP" b="0" dirty="0">
              <a:solidFill>
                <a:srgbClr val="000000"/>
              </a:solidFill>
              <a:effectLst/>
              <a:latin typeface="Courier New" panose="02070309020205020404" pitchFamily="49" charset="0"/>
            </a:endParaRPr>
          </a:p>
          <a:p>
            <a:pPr marL="0" indent="0">
              <a:buNone/>
            </a:pPr>
            <a:endParaRPr kumimoji="1" lang="ja-JP" altLang="en-US" dirty="0"/>
          </a:p>
        </p:txBody>
      </p:sp>
    </p:spTree>
    <p:extLst>
      <p:ext uri="{BB962C8B-B14F-4D97-AF65-F5344CB8AC3E}">
        <p14:creationId xmlns:p14="http://schemas.microsoft.com/office/powerpoint/2010/main" val="14363675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0B95D7-07AB-287F-5C25-02CCF796B14C}"/>
              </a:ext>
            </a:extLst>
          </p:cNvPr>
          <p:cNvSpPr>
            <a:spLocks noGrp="1"/>
          </p:cNvSpPr>
          <p:nvPr>
            <p:ph type="title"/>
          </p:nvPr>
        </p:nvSpPr>
        <p:spPr/>
        <p:txBody>
          <a:bodyPr/>
          <a:lstStyle/>
          <a:p>
            <a:r>
              <a:rPr kumimoji="1" lang="ja-JP" altLang="en-US" b="1" dirty="0"/>
              <a:t>良い可視化グラフの基準</a:t>
            </a:r>
          </a:p>
        </p:txBody>
      </p:sp>
      <p:sp>
        <p:nvSpPr>
          <p:cNvPr id="3" name="コンテンツ プレースホルダー 2">
            <a:extLst>
              <a:ext uri="{FF2B5EF4-FFF2-40B4-BE49-F238E27FC236}">
                <a16:creationId xmlns:a16="http://schemas.microsoft.com/office/drawing/2014/main" id="{BA73629A-F621-2FE3-81A7-B40AB8407DF5}"/>
              </a:ext>
            </a:extLst>
          </p:cNvPr>
          <p:cNvSpPr>
            <a:spLocks noGrp="1"/>
          </p:cNvSpPr>
          <p:nvPr>
            <p:ph idx="1"/>
          </p:nvPr>
        </p:nvSpPr>
        <p:spPr/>
        <p:txBody>
          <a:bodyPr>
            <a:normAutofit/>
          </a:bodyPr>
          <a:lstStyle/>
          <a:p>
            <a:pPr marL="514350" indent="-514350">
              <a:buFont typeface="+mj-lt"/>
              <a:buAutoNum type="arabicPeriod"/>
            </a:pPr>
            <a:endParaRPr lang="en-US" altLang="ja-JP" dirty="0"/>
          </a:p>
          <a:p>
            <a:pPr marL="514350" indent="-514350">
              <a:buAutoNum type="arabicPeriod"/>
            </a:pPr>
            <a:r>
              <a:rPr lang="ja-JP" altLang="en-US" sz="3200" b="1" dirty="0"/>
              <a:t>隣接ノードが離れすぎずに描画される</a:t>
            </a:r>
            <a:endParaRPr lang="en-US" altLang="ja-JP" sz="3200" b="1" dirty="0"/>
          </a:p>
          <a:p>
            <a:pPr marL="0" indent="0">
              <a:buNone/>
            </a:pPr>
            <a:endParaRPr lang="en-US" altLang="ja-JP" sz="3200" b="1" dirty="0"/>
          </a:p>
          <a:p>
            <a:pPr marL="0" indent="0">
              <a:buNone/>
            </a:pPr>
            <a:r>
              <a:rPr lang="en-US" altLang="ja-JP" sz="3200" b="1" dirty="0"/>
              <a:t>2. </a:t>
            </a:r>
            <a:r>
              <a:rPr lang="ja-JP" altLang="en-US" sz="3200" b="1" dirty="0"/>
              <a:t>重なっているノードが存在しない</a:t>
            </a:r>
            <a:endParaRPr lang="en-US" altLang="ja-JP" sz="3200" b="1" dirty="0"/>
          </a:p>
          <a:p>
            <a:pPr marL="0" indent="0">
              <a:buNone/>
            </a:pPr>
            <a:endParaRPr kumimoji="1" lang="en-US" altLang="ja-JP" dirty="0"/>
          </a:p>
          <a:p>
            <a:pPr marL="0" indent="0">
              <a:buNone/>
            </a:pPr>
            <a:r>
              <a:rPr lang="ja-JP" altLang="en-US" b="1" dirty="0"/>
              <a:t>前提</a:t>
            </a:r>
            <a:endParaRPr lang="en-US" altLang="ja-JP" b="1" dirty="0"/>
          </a:p>
          <a:p>
            <a:pPr marL="0" indent="0">
              <a:buNone/>
            </a:pPr>
            <a:r>
              <a:rPr lang="ja-JP" altLang="en-US" dirty="0"/>
              <a:t>任意のノードをホバーすることで</a:t>
            </a:r>
            <a:r>
              <a:rPr lang="en-US" altLang="ja-JP" dirty="0"/>
              <a:t>, </a:t>
            </a:r>
            <a:r>
              <a:rPr lang="ja-JP" altLang="en-US" dirty="0"/>
              <a:t>文書詳細を閲覧できる機能を</a:t>
            </a:r>
            <a:endParaRPr lang="en-US" altLang="ja-JP" dirty="0"/>
          </a:p>
          <a:p>
            <a:pPr marL="0" indent="0">
              <a:buNone/>
            </a:pPr>
            <a:r>
              <a:rPr lang="ja-JP" altLang="en-US" dirty="0"/>
              <a:t>もつ可視化グラフを想定</a:t>
            </a:r>
            <a:r>
              <a:rPr lang="en-US" altLang="ja-JP" dirty="0"/>
              <a:t>.</a:t>
            </a:r>
          </a:p>
          <a:p>
            <a:pPr marL="0" indent="0">
              <a:buNone/>
            </a:pPr>
            <a:endParaRPr kumimoji="1" lang="ja-JP" altLang="en-US" dirty="0"/>
          </a:p>
        </p:txBody>
      </p:sp>
    </p:spTree>
    <p:extLst>
      <p:ext uri="{BB962C8B-B14F-4D97-AF65-F5344CB8AC3E}">
        <p14:creationId xmlns:p14="http://schemas.microsoft.com/office/powerpoint/2010/main" val="3572573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6B1416-CDCF-3B80-BE25-BEA250B6D2FE}"/>
              </a:ext>
            </a:extLst>
          </p:cNvPr>
          <p:cNvSpPr>
            <a:spLocks noGrp="1"/>
          </p:cNvSpPr>
          <p:nvPr>
            <p:ph type="title"/>
          </p:nvPr>
        </p:nvSpPr>
        <p:spPr/>
        <p:txBody>
          <a:bodyPr/>
          <a:lstStyle/>
          <a:p>
            <a:r>
              <a:rPr lang="en-US" altLang="ja-JP" b="1" dirty="0"/>
              <a:t>1. </a:t>
            </a:r>
            <a:r>
              <a:rPr lang="ja-JP" altLang="en-US" b="1" dirty="0"/>
              <a:t>隣接ノードが離れすぎずに描画される</a:t>
            </a:r>
            <a:endParaRPr kumimoji="1" lang="ja-JP" altLang="en-US" b="1" dirty="0"/>
          </a:p>
        </p:txBody>
      </p:sp>
      <p:sp>
        <p:nvSpPr>
          <p:cNvPr id="3" name="コンテンツ プレースホルダー 2">
            <a:extLst>
              <a:ext uri="{FF2B5EF4-FFF2-40B4-BE49-F238E27FC236}">
                <a16:creationId xmlns:a16="http://schemas.microsoft.com/office/drawing/2014/main" id="{747175F0-92A6-3675-8455-86C103E0FF1E}"/>
              </a:ext>
            </a:extLst>
          </p:cNvPr>
          <p:cNvSpPr>
            <a:spLocks noGrp="1"/>
          </p:cNvSpPr>
          <p:nvPr>
            <p:ph idx="1"/>
          </p:nvPr>
        </p:nvSpPr>
        <p:spPr/>
        <p:txBody>
          <a:bodyPr/>
          <a:lstStyle/>
          <a:p>
            <a:pPr marL="0" indent="0">
              <a:buNone/>
            </a:pPr>
            <a:endParaRPr kumimoji="1" lang="en-US" altLang="ja-JP" dirty="0"/>
          </a:p>
          <a:p>
            <a:pPr marL="0" indent="0">
              <a:buNone/>
            </a:pPr>
            <a:endParaRPr kumimoji="1" lang="ja-JP" altLang="en-US" dirty="0"/>
          </a:p>
        </p:txBody>
      </p:sp>
      <p:sp>
        <p:nvSpPr>
          <p:cNvPr id="4" name="楕円 3">
            <a:extLst>
              <a:ext uri="{FF2B5EF4-FFF2-40B4-BE49-F238E27FC236}">
                <a16:creationId xmlns:a16="http://schemas.microsoft.com/office/drawing/2014/main" id="{D99AFCA7-A9A9-CDE2-6AEA-15835D3E8BEF}"/>
              </a:ext>
            </a:extLst>
          </p:cNvPr>
          <p:cNvSpPr/>
          <p:nvPr/>
        </p:nvSpPr>
        <p:spPr>
          <a:xfrm>
            <a:off x="1128713" y="1515508"/>
            <a:ext cx="1071562" cy="106441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X</a:t>
            </a:r>
            <a:endParaRPr kumimoji="1" lang="ja-JP" altLang="en-US" dirty="0"/>
          </a:p>
        </p:txBody>
      </p:sp>
      <p:sp>
        <p:nvSpPr>
          <p:cNvPr id="5" name="楕円 4">
            <a:extLst>
              <a:ext uri="{FF2B5EF4-FFF2-40B4-BE49-F238E27FC236}">
                <a16:creationId xmlns:a16="http://schemas.microsoft.com/office/drawing/2014/main" id="{4E7EC8D4-E437-242D-0F3F-CF3BDF4EADA7}"/>
              </a:ext>
            </a:extLst>
          </p:cNvPr>
          <p:cNvSpPr/>
          <p:nvPr/>
        </p:nvSpPr>
        <p:spPr>
          <a:xfrm>
            <a:off x="8678466" y="1468111"/>
            <a:ext cx="1071562" cy="106441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Y1</a:t>
            </a:r>
            <a:endParaRPr kumimoji="1" lang="ja-JP" altLang="en-US" dirty="0"/>
          </a:p>
        </p:txBody>
      </p:sp>
      <p:sp>
        <p:nvSpPr>
          <p:cNvPr id="6" name="楕円 5">
            <a:extLst>
              <a:ext uri="{FF2B5EF4-FFF2-40B4-BE49-F238E27FC236}">
                <a16:creationId xmlns:a16="http://schemas.microsoft.com/office/drawing/2014/main" id="{FF662D0B-0735-D8C6-6792-CCCA0A6C3AAB}"/>
              </a:ext>
            </a:extLst>
          </p:cNvPr>
          <p:cNvSpPr/>
          <p:nvPr/>
        </p:nvSpPr>
        <p:spPr>
          <a:xfrm>
            <a:off x="10357247" y="2200913"/>
            <a:ext cx="1071562" cy="106441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Y2</a:t>
            </a:r>
            <a:endParaRPr kumimoji="1" lang="ja-JP" altLang="en-US" dirty="0"/>
          </a:p>
        </p:txBody>
      </p:sp>
      <p:cxnSp>
        <p:nvCxnSpPr>
          <p:cNvPr id="8" name="直線コネクタ 7">
            <a:extLst>
              <a:ext uri="{FF2B5EF4-FFF2-40B4-BE49-F238E27FC236}">
                <a16:creationId xmlns:a16="http://schemas.microsoft.com/office/drawing/2014/main" id="{DA6D1D52-D2B1-5DE2-4395-9AB09BDEAEF2}"/>
              </a:ext>
            </a:extLst>
          </p:cNvPr>
          <p:cNvCxnSpPr>
            <a:stCxn id="4" idx="6"/>
            <a:endCxn id="5" idx="2"/>
          </p:cNvCxnSpPr>
          <p:nvPr/>
        </p:nvCxnSpPr>
        <p:spPr>
          <a:xfrm flipV="1">
            <a:off x="2200275" y="2000321"/>
            <a:ext cx="6478191" cy="47397"/>
          </a:xfrm>
          <a:prstGeom prst="line">
            <a:avLst/>
          </a:prstGeom>
        </p:spPr>
        <p:style>
          <a:lnRef idx="3">
            <a:schemeClr val="dk1"/>
          </a:lnRef>
          <a:fillRef idx="0">
            <a:schemeClr val="dk1"/>
          </a:fillRef>
          <a:effectRef idx="2">
            <a:schemeClr val="dk1"/>
          </a:effectRef>
          <a:fontRef idx="minor">
            <a:schemeClr val="tx1"/>
          </a:fontRef>
        </p:style>
      </p:cxnSp>
      <p:cxnSp>
        <p:nvCxnSpPr>
          <p:cNvPr id="12" name="直線コネクタ 11">
            <a:extLst>
              <a:ext uri="{FF2B5EF4-FFF2-40B4-BE49-F238E27FC236}">
                <a16:creationId xmlns:a16="http://schemas.microsoft.com/office/drawing/2014/main" id="{9B24EC48-D82E-6DEE-A165-6115A8AE5DD6}"/>
              </a:ext>
            </a:extLst>
          </p:cNvPr>
          <p:cNvCxnSpPr>
            <a:stCxn id="4" idx="6"/>
            <a:endCxn id="6" idx="2"/>
          </p:cNvCxnSpPr>
          <p:nvPr/>
        </p:nvCxnSpPr>
        <p:spPr>
          <a:xfrm>
            <a:off x="2200275" y="2047718"/>
            <a:ext cx="8156972" cy="685405"/>
          </a:xfrm>
          <a:prstGeom prst="line">
            <a:avLst/>
          </a:prstGeom>
        </p:spPr>
        <p:style>
          <a:lnRef idx="3">
            <a:schemeClr val="dk1"/>
          </a:lnRef>
          <a:fillRef idx="0">
            <a:schemeClr val="dk1"/>
          </a:fillRef>
          <a:effectRef idx="2">
            <a:schemeClr val="dk1"/>
          </a:effectRef>
          <a:fontRef idx="minor">
            <a:schemeClr val="tx1"/>
          </a:fontRef>
        </p:style>
      </p:cxnSp>
      <p:sp>
        <p:nvSpPr>
          <p:cNvPr id="18" name="楕円 17">
            <a:extLst>
              <a:ext uri="{FF2B5EF4-FFF2-40B4-BE49-F238E27FC236}">
                <a16:creationId xmlns:a16="http://schemas.microsoft.com/office/drawing/2014/main" id="{91AB2354-96A3-C545-71AB-B9314BD590C2}"/>
              </a:ext>
            </a:extLst>
          </p:cNvPr>
          <p:cNvSpPr/>
          <p:nvPr/>
        </p:nvSpPr>
        <p:spPr>
          <a:xfrm>
            <a:off x="4182070" y="4991179"/>
            <a:ext cx="1071562" cy="106441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X</a:t>
            </a:r>
            <a:endParaRPr kumimoji="1" lang="ja-JP" altLang="en-US" dirty="0"/>
          </a:p>
        </p:txBody>
      </p:sp>
      <p:sp>
        <p:nvSpPr>
          <p:cNvPr id="20" name="楕円 19">
            <a:extLst>
              <a:ext uri="{FF2B5EF4-FFF2-40B4-BE49-F238E27FC236}">
                <a16:creationId xmlns:a16="http://schemas.microsoft.com/office/drawing/2014/main" id="{B543610A-D31B-EC60-A154-7892791DB467}"/>
              </a:ext>
            </a:extLst>
          </p:cNvPr>
          <p:cNvSpPr/>
          <p:nvPr/>
        </p:nvSpPr>
        <p:spPr>
          <a:xfrm>
            <a:off x="5207199" y="3594265"/>
            <a:ext cx="1071562" cy="106441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Y1</a:t>
            </a:r>
            <a:endParaRPr kumimoji="1" lang="ja-JP" altLang="en-US" dirty="0"/>
          </a:p>
        </p:txBody>
      </p:sp>
      <p:sp>
        <p:nvSpPr>
          <p:cNvPr id="21" name="楕円 20">
            <a:extLst>
              <a:ext uri="{FF2B5EF4-FFF2-40B4-BE49-F238E27FC236}">
                <a16:creationId xmlns:a16="http://schemas.microsoft.com/office/drawing/2014/main" id="{6EFC5A11-C41E-21C4-F8F2-D513C40AACDC}"/>
              </a:ext>
            </a:extLst>
          </p:cNvPr>
          <p:cNvSpPr/>
          <p:nvPr/>
        </p:nvSpPr>
        <p:spPr>
          <a:xfrm>
            <a:off x="6575227" y="4991179"/>
            <a:ext cx="1071562" cy="1064419"/>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Y2</a:t>
            </a:r>
            <a:endParaRPr kumimoji="1" lang="ja-JP" altLang="en-US" dirty="0"/>
          </a:p>
        </p:txBody>
      </p:sp>
      <p:cxnSp>
        <p:nvCxnSpPr>
          <p:cNvPr id="23" name="直線コネクタ 22">
            <a:extLst>
              <a:ext uri="{FF2B5EF4-FFF2-40B4-BE49-F238E27FC236}">
                <a16:creationId xmlns:a16="http://schemas.microsoft.com/office/drawing/2014/main" id="{87F7A9D9-7CAB-FF2B-3D83-8A79A80A1E04}"/>
              </a:ext>
            </a:extLst>
          </p:cNvPr>
          <p:cNvCxnSpPr>
            <a:stCxn id="18" idx="6"/>
            <a:endCxn id="21" idx="2"/>
          </p:cNvCxnSpPr>
          <p:nvPr/>
        </p:nvCxnSpPr>
        <p:spPr>
          <a:xfrm>
            <a:off x="5253632" y="5523389"/>
            <a:ext cx="1321595" cy="0"/>
          </a:xfrm>
          <a:prstGeom prst="line">
            <a:avLst/>
          </a:prstGeom>
        </p:spPr>
        <p:style>
          <a:lnRef idx="3">
            <a:schemeClr val="dk1"/>
          </a:lnRef>
          <a:fillRef idx="0">
            <a:schemeClr val="dk1"/>
          </a:fillRef>
          <a:effectRef idx="2">
            <a:schemeClr val="dk1"/>
          </a:effectRef>
          <a:fontRef idx="minor">
            <a:schemeClr val="tx1"/>
          </a:fontRef>
        </p:style>
      </p:cxnSp>
      <p:cxnSp>
        <p:nvCxnSpPr>
          <p:cNvPr id="25" name="直線コネクタ 24">
            <a:extLst>
              <a:ext uri="{FF2B5EF4-FFF2-40B4-BE49-F238E27FC236}">
                <a16:creationId xmlns:a16="http://schemas.microsoft.com/office/drawing/2014/main" id="{A0F20AA6-92C4-0863-F171-BF0E57ED4249}"/>
              </a:ext>
            </a:extLst>
          </p:cNvPr>
          <p:cNvCxnSpPr>
            <a:cxnSpLocks/>
            <a:stCxn id="18" idx="0"/>
            <a:endCxn id="20" idx="2"/>
          </p:cNvCxnSpPr>
          <p:nvPr/>
        </p:nvCxnSpPr>
        <p:spPr>
          <a:xfrm flipV="1">
            <a:off x="4717851" y="4126475"/>
            <a:ext cx="489348" cy="864704"/>
          </a:xfrm>
          <a:prstGeom prst="line">
            <a:avLst/>
          </a:prstGeom>
        </p:spPr>
        <p:style>
          <a:lnRef idx="3">
            <a:schemeClr val="dk1"/>
          </a:lnRef>
          <a:fillRef idx="0">
            <a:schemeClr val="dk1"/>
          </a:fillRef>
          <a:effectRef idx="2">
            <a:schemeClr val="dk1"/>
          </a:effectRef>
          <a:fontRef idx="minor">
            <a:schemeClr val="tx1"/>
          </a:fontRef>
        </p:style>
      </p:cxnSp>
      <p:cxnSp>
        <p:nvCxnSpPr>
          <p:cNvPr id="27" name="直線コネクタ 26">
            <a:extLst>
              <a:ext uri="{FF2B5EF4-FFF2-40B4-BE49-F238E27FC236}">
                <a16:creationId xmlns:a16="http://schemas.microsoft.com/office/drawing/2014/main" id="{188B50C8-EF84-5CC8-05AD-0692E70CDBD7}"/>
              </a:ext>
            </a:extLst>
          </p:cNvPr>
          <p:cNvCxnSpPr>
            <a:stCxn id="20" idx="6"/>
            <a:endCxn id="21" idx="0"/>
          </p:cNvCxnSpPr>
          <p:nvPr/>
        </p:nvCxnSpPr>
        <p:spPr>
          <a:xfrm>
            <a:off x="6278761" y="4126475"/>
            <a:ext cx="832247" cy="864704"/>
          </a:xfrm>
          <a:prstGeom prst="line">
            <a:avLst/>
          </a:prstGeom>
        </p:spPr>
        <p:style>
          <a:lnRef idx="3">
            <a:schemeClr val="dk1"/>
          </a:lnRef>
          <a:fillRef idx="0">
            <a:schemeClr val="dk1"/>
          </a:fillRef>
          <a:effectRef idx="2">
            <a:schemeClr val="dk1"/>
          </a:effectRef>
          <a:fontRef idx="minor">
            <a:schemeClr val="tx1"/>
          </a:fontRef>
        </p:style>
      </p:cxnSp>
      <p:sp>
        <p:nvSpPr>
          <p:cNvPr id="34" name="テキスト ボックス 33">
            <a:extLst>
              <a:ext uri="{FF2B5EF4-FFF2-40B4-BE49-F238E27FC236}">
                <a16:creationId xmlns:a16="http://schemas.microsoft.com/office/drawing/2014/main" id="{813DFFA4-281E-80EE-E6A0-518FAF07A441}"/>
              </a:ext>
            </a:extLst>
          </p:cNvPr>
          <p:cNvSpPr txBox="1"/>
          <p:nvPr/>
        </p:nvSpPr>
        <p:spPr>
          <a:xfrm>
            <a:off x="1128713" y="2928594"/>
            <a:ext cx="9318426" cy="461665"/>
          </a:xfrm>
          <a:prstGeom prst="rect">
            <a:avLst/>
          </a:prstGeom>
          <a:noFill/>
        </p:spPr>
        <p:txBody>
          <a:bodyPr wrap="square">
            <a:spAutoFit/>
          </a:bodyPr>
          <a:lstStyle/>
          <a:p>
            <a:r>
              <a:rPr lang="ja-JP" altLang="en-US" sz="2400" dirty="0"/>
              <a:t>離れすぎてるとマウスを動かす距離が長くなり、ホバーしづらい</a:t>
            </a:r>
            <a:r>
              <a:rPr lang="en-US" altLang="ja-JP" sz="2400" dirty="0"/>
              <a:t>.</a:t>
            </a:r>
            <a:endParaRPr lang="ja-JP" altLang="en-US" sz="2400" dirty="0"/>
          </a:p>
        </p:txBody>
      </p:sp>
      <p:sp>
        <p:nvSpPr>
          <p:cNvPr id="36" name="テキスト ボックス 35">
            <a:extLst>
              <a:ext uri="{FF2B5EF4-FFF2-40B4-BE49-F238E27FC236}">
                <a16:creationId xmlns:a16="http://schemas.microsoft.com/office/drawing/2014/main" id="{6DBDBE94-702B-6431-6308-55A2E59AC158}"/>
              </a:ext>
            </a:extLst>
          </p:cNvPr>
          <p:cNvSpPr txBox="1"/>
          <p:nvPr/>
        </p:nvSpPr>
        <p:spPr>
          <a:xfrm>
            <a:off x="3337322" y="6195290"/>
            <a:ext cx="5637609" cy="461665"/>
          </a:xfrm>
          <a:prstGeom prst="rect">
            <a:avLst/>
          </a:prstGeom>
          <a:noFill/>
        </p:spPr>
        <p:txBody>
          <a:bodyPr wrap="square">
            <a:spAutoFit/>
          </a:bodyPr>
          <a:lstStyle/>
          <a:p>
            <a:r>
              <a:rPr lang="ja-JP" altLang="en-US" sz="2400" b="1" dirty="0">
                <a:solidFill>
                  <a:srgbClr val="C00000"/>
                </a:solidFill>
              </a:rPr>
              <a:t>一定距離にプロットするのが望ましい</a:t>
            </a:r>
            <a:r>
              <a:rPr lang="en-US" altLang="ja-JP" sz="2400" b="1" dirty="0">
                <a:solidFill>
                  <a:srgbClr val="C00000"/>
                </a:solidFill>
              </a:rPr>
              <a:t>.</a:t>
            </a:r>
            <a:endParaRPr lang="ja-JP" altLang="en-US" sz="2400" b="1" dirty="0">
              <a:solidFill>
                <a:srgbClr val="C00000"/>
              </a:solidFill>
            </a:endParaRPr>
          </a:p>
        </p:txBody>
      </p:sp>
    </p:spTree>
    <p:extLst>
      <p:ext uri="{BB962C8B-B14F-4D97-AF65-F5344CB8AC3E}">
        <p14:creationId xmlns:p14="http://schemas.microsoft.com/office/powerpoint/2010/main" val="4102727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11E1A1-1F5E-6A40-68E3-C9289C0EA108}"/>
              </a:ext>
            </a:extLst>
          </p:cNvPr>
          <p:cNvSpPr>
            <a:spLocks noGrp="1"/>
          </p:cNvSpPr>
          <p:nvPr>
            <p:ph type="title"/>
          </p:nvPr>
        </p:nvSpPr>
        <p:spPr/>
        <p:txBody>
          <a:bodyPr/>
          <a:lstStyle/>
          <a:p>
            <a:r>
              <a:rPr kumimoji="1" lang="en-US" altLang="ja-JP" b="1" dirty="0"/>
              <a:t>2. </a:t>
            </a:r>
            <a:r>
              <a:rPr lang="ja-JP" altLang="en-US" b="1" dirty="0"/>
              <a:t>重なっているノードが存在しない</a:t>
            </a:r>
            <a:endParaRPr kumimoji="1" lang="ja-JP" altLang="en-US" b="1" dirty="0"/>
          </a:p>
        </p:txBody>
      </p:sp>
      <p:sp>
        <p:nvSpPr>
          <p:cNvPr id="5" name="楕円 4">
            <a:extLst>
              <a:ext uri="{FF2B5EF4-FFF2-40B4-BE49-F238E27FC236}">
                <a16:creationId xmlns:a16="http://schemas.microsoft.com/office/drawing/2014/main" id="{3CEBBE16-1751-B3AB-8B6A-97AF48A4E6E2}"/>
              </a:ext>
            </a:extLst>
          </p:cNvPr>
          <p:cNvSpPr/>
          <p:nvPr/>
        </p:nvSpPr>
        <p:spPr>
          <a:xfrm>
            <a:off x="8932068" y="1969294"/>
            <a:ext cx="1071562" cy="1064419"/>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Y</a:t>
            </a:r>
            <a:endParaRPr kumimoji="1" lang="ja-JP" altLang="en-US" dirty="0"/>
          </a:p>
        </p:txBody>
      </p:sp>
      <p:sp>
        <p:nvSpPr>
          <p:cNvPr id="4" name="楕円 3">
            <a:extLst>
              <a:ext uri="{FF2B5EF4-FFF2-40B4-BE49-F238E27FC236}">
                <a16:creationId xmlns:a16="http://schemas.microsoft.com/office/drawing/2014/main" id="{C336EB8F-8C1F-272D-E8E7-B02D3F184974}"/>
              </a:ext>
            </a:extLst>
          </p:cNvPr>
          <p:cNvSpPr/>
          <p:nvPr/>
        </p:nvSpPr>
        <p:spPr>
          <a:xfrm>
            <a:off x="8753475" y="1915717"/>
            <a:ext cx="1071562" cy="106441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X</a:t>
            </a:r>
            <a:endParaRPr kumimoji="1" lang="ja-JP" altLang="en-US" dirty="0"/>
          </a:p>
        </p:txBody>
      </p:sp>
      <p:sp>
        <p:nvSpPr>
          <p:cNvPr id="7" name="楕円 6">
            <a:extLst>
              <a:ext uri="{FF2B5EF4-FFF2-40B4-BE49-F238E27FC236}">
                <a16:creationId xmlns:a16="http://schemas.microsoft.com/office/drawing/2014/main" id="{47AD9815-47D5-76CA-BEC5-15AC9FD61541}"/>
              </a:ext>
            </a:extLst>
          </p:cNvPr>
          <p:cNvSpPr/>
          <p:nvPr/>
        </p:nvSpPr>
        <p:spPr>
          <a:xfrm>
            <a:off x="9617869" y="4040983"/>
            <a:ext cx="1071562" cy="1064419"/>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Y</a:t>
            </a:r>
            <a:endParaRPr kumimoji="1" lang="ja-JP" altLang="en-US" dirty="0"/>
          </a:p>
        </p:txBody>
      </p:sp>
      <p:sp>
        <p:nvSpPr>
          <p:cNvPr id="8" name="楕円 7">
            <a:extLst>
              <a:ext uri="{FF2B5EF4-FFF2-40B4-BE49-F238E27FC236}">
                <a16:creationId xmlns:a16="http://schemas.microsoft.com/office/drawing/2014/main" id="{94688D65-6E56-5B50-B6BC-011447242F22}"/>
              </a:ext>
            </a:extLst>
          </p:cNvPr>
          <p:cNvSpPr/>
          <p:nvPr/>
        </p:nvSpPr>
        <p:spPr>
          <a:xfrm>
            <a:off x="8217694" y="4040983"/>
            <a:ext cx="1071562" cy="106441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X</a:t>
            </a:r>
            <a:endParaRPr kumimoji="1" lang="ja-JP" altLang="en-US" dirty="0"/>
          </a:p>
        </p:txBody>
      </p:sp>
      <p:sp>
        <p:nvSpPr>
          <p:cNvPr id="10" name="テキスト ボックス 9">
            <a:extLst>
              <a:ext uri="{FF2B5EF4-FFF2-40B4-BE49-F238E27FC236}">
                <a16:creationId xmlns:a16="http://schemas.microsoft.com/office/drawing/2014/main" id="{DF0C21A3-3FCB-1CD1-743C-68C09D88BE13}"/>
              </a:ext>
            </a:extLst>
          </p:cNvPr>
          <p:cNvSpPr txBox="1"/>
          <p:nvPr/>
        </p:nvSpPr>
        <p:spPr>
          <a:xfrm>
            <a:off x="8753476" y="5384008"/>
            <a:ext cx="1636812" cy="369332"/>
          </a:xfrm>
          <a:prstGeom prst="rect">
            <a:avLst/>
          </a:prstGeom>
          <a:noFill/>
        </p:spPr>
        <p:txBody>
          <a:bodyPr wrap="square">
            <a:spAutoFit/>
          </a:bodyPr>
          <a:lstStyle/>
          <a:p>
            <a:r>
              <a:rPr lang="en-US" altLang="ja-JP" b="1" dirty="0"/>
              <a:t>2r</a:t>
            </a:r>
            <a:r>
              <a:rPr lang="ja-JP" altLang="en-US" b="1" dirty="0"/>
              <a:t>より大きい</a:t>
            </a:r>
          </a:p>
        </p:txBody>
      </p:sp>
      <p:sp>
        <p:nvSpPr>
          <p:cNvPr id="12" name="テキスト ボックス 11">
            <a:extLst>
              <a:ext uri="{FF2B5EF4-FFF2-40B4-BE49-F238E27FC236}">
                <a16:creationId xmlns:a16="http://schemas.microsoft.com/office/drawing/2014/main" id="{4B40A183-1B4F-7FCF-5F6E-20040CCF920C}"/>
              </a:ext>
            </a:extLst>
          </p:cNvPr>
          <p:cNvSpPr txBox="1"/>
          <p:nvPr/>
        </p:nvSpPr>
        <p:spPr>
          <a:xfrm>
            <a:off x="9008270" y="3299105"/>
            <a:ext cx="885526" cy="369332"/>
          </a:xfrm>
          <a:prstGeom prst="rect">
            <a:avLst/>
          </a:prstGeom>
          <a:noFill/>
        </p:spPr>
        <p:txBody>
          <a:bodyPr wrap="square">
            <a:spAutoFit/>
          </a:bodyPr>
          <a:lstStyle/>
          <a:p>
            <a:r>
              <a:rPr lang="en-US" altLang="ja-JP" b="1" dirty="0"/>
              <a:t>2r</a:t>
            </a:r>
            <a:r>
              <a:rPr lang="ja-JP" altLang="en-US" b="1" dirty="0"/>
              <a:t>以下</a:t>
            </a:r>
          </a:p>
        </p:txBody>
      </p:sp>
      <p:sp>
        <p:nvSpPr>
          <p:cNvPr id="13" name="コンテンツ プレースホルダー 2">
            <a:extLst>
              <a:ext uri="{FF2B5EF4-FFF2-40B4-BE49-F238E27FC236}">
                <a16:creationId xmlns:a16="http://schemas.microsoft.com/office/drawing/2014/main" id="{0D883C8E-AA18-0E38-BE15-2C2C3F28AB89}"/>
              </a:ext>
            </a:extLst>
          </p:cNvPr>
          <p:cNvSpPr>
            <a:spLocks noGrp="1"/>
          </p:cNvSpPr>
          <p:nvPr>
            <p:ph idx="1"/>
          </p:nvPr>
        </p:nvSpPr>
        <p:spPr>
          <a:xfrm>
            <a:off x="838200" y="1825625"/>
            <a:ext cx="10515600" cy="4351338"/>
          </a:xfrm>
        </p:spPr>
        <p:txBody>
          <a:bodyPr/>
          <a:lstStyle/>
          <a:p>
            <a:pPr marL="0" indent="0">
              <a:buNone/>
            </a:pPr>
            <a:endParaRPr lang="en-US" altLang="ja-JP" dirty="0"/>
          </a:p>
          <a:p>
            <a:pPr marL="0" indent="0">
              <a:buNone/>
            </a:pPr>
            <a:r>
              <a:rPr lang="en-US" altLang="ja-JP" dirty="0"/>
              <a:t>     X,Y</a:t>
            </a:r>
            <a:r>
              <a:rPr lang="ja-JP" altLang="en-US" dirty="0"/>
              <a:t>の座標間の距離が </a:t>
            </a:r>
            <a:r>
              <a:rPr kumimoji="1" lang="en-US" altLang="ja-JP" dirty="0"/>
              <a:t>2r </a:t>
            </a:r>
            <a:r>
              <a:rPr lang="ja-JP" altLang="en-US" dirty="0"/>
              <a:t>以下</a:t>
            </a:r>
            <a:r>
              <a:rPr kumimoji="1" lang="ja-JP" altLang="en-US" dirty="0"/>
              <a:t>だと重なる</a:t>
            </a:r>
            <a:r>
              <a:rPr kumimoji="1" lang="en-US" altLang="ja-JP" dirty="0"/>
              <a:t>.</a:t>
            </a:r>
          </a:p>
          <a:p>
            <a:pPr marL="0" indent="0">
              <a:buNone/>
            </a:pPr>
            <a:endParaRPr lang="en-US" altLang="ja-JP" dirty="0"/>
          </a:p>
          <a:p>
            <a:pPr marL="0" indent="0">
              <a:buNone/>
            </a:pPr>
            <a:endParaRPr kumimoji="1" lang="en-US" altLang="ja-JP" dirty="0"/>
          </a:p>
          <a:p>
            <a:pPr marL="0" indent="0">
              <a:buNone/>
            </a:pPr>
            <a:r>
              <a:rPr lang="ja-JP" altLang="en-US" dirty="0"/>
              <a:t>                ホバーやクリックが困難</a:t>
            </a:r>
            <a:r>
              <a:rPr lang="en-US" altLang="ja-JP" dirty="0"/>
              <a:t>.</a:t>
            </a:r>
          </a:p>
          <a:p>
            <a:pPr marL="0" indent="0">
              <a:buNone/>
            </a:pPr>
            <a:endParaRPr kumimoji="1" lang="en-US" altLang="ja-JP" dirty="0"/>
          </a:p>
          <a:p>
            <a:pPr marL="0" indent="0">
              <a:buNone/>
            </a:pPr>
            <a:endParaRPr lang="en-US" altLang="ja-JP" dirty="0"/>
          </a:p>
          <a:p>
            <a:pPr marL="0" indent="0">
              <a:buNone/>
            </a:pPr>
            <a:r>
              <a:rPr lang="ja-JP" altLang="en-US" dirty="0"/>
              <a:t>座標間の距離が </a:t>
            </a:r>
            <a:r>
              <a:rPr lang="en-US" altLang="ja-JP" b="1" dirty="0">
                <a:solidFill>
                  <a:srgbClr val="C00000"/>
                </a:solidFill>
              </a:rPr>
              <a:t>2r </a:t>
            </a:r>
            <a:r>
              <a:rPr lang="ja-JP" altLang="en-US" b="1" dirty="0"/>
              <a:t>より大きい</a:t>
            </a:r>
            <a:r>
              <a:rPr lang="ja-JP" altLang="en-US" dirty="0"/>
              <a:t>方が望ましい</a:t>
            </a:r>
            <a:r>
              <a:rPr lang="en-US" altLang="ja-JP" dirty="0"/>
              <a:t>.</a:t>
            </a:r>
            <a:endParaRPr kumimoji="1" lang="ja-JP" altLang="en-US" dirty="0"/>
          </a:p>
        </p:txBody>
      </p:sp>
      <p:sp>
        <p:nvSpPr>
          <p:cNvPr id="14" name="矢印: 下 13">
            <a:extLst>
              <a:ext uri="{FF2B5EF4-FFF2-40B4-BE49-F238E27FC236}">
                <a16:creationId xmlns:a16="http://schemas.microsoft.com/office/drawing/2014/main" id="{1AFE612E-FB38-85D2-3429-235FF2C2AB9B}"/>
              </a:ext>
            </a:extLst>
          </p:cNvPr>
          <p:cNvSpPr/>
          <p:nvPr/>
        </p:nvSpPr>
        <p:spPr>
          <a:xfrm>
            <a:off x="4038601" y="2928938"/>
            <a:ext cx="678656" cy="86439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矢印: 下 2">
            <a:extLst>
              <a:ext uri="{FF2B5EF4-FFF2-40B4-BE49-F238E27FC236}">
                <a16:creationId xmlns:a16="http://schemas.microsoft.com/office/drawing/2014/main" id="{CC153337-6171-EC78-36A9-DC3BC327D2AE}"/>
              </a:ext>
            </a:extLst>
          </p:cNvPr>
          <p:cNvSpPr/>
          <p:nvPr/>
        </p:nvSpPr>
        <p:spPr>
          <a:xfrm>
            <a:off x="4038601" y="4464448"/>
            <a:ext cx="678656" cy="86439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738DFC6F-5328-ABFB-3BE6-CBC072B67AA8}"/>
              </a:ext>
            </a:extLst>
          </p:cNvPr>
          <p:cNvSpPr/>
          <p:nvPr/>
        </p:nvSpPr>
        <p:spPr>
          <a:xfrm>
            <a:off x="611683" y="3340896"/>
            <a:ext cx="1071562" cy="1064419"/>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9" name="直線矢印コネクタ 8">
            <a:extLst>
              <a:ext uri="{FF2B5EF4-FFF2-40B4-BE49-F238E27FC236}">
                <a16:creationId xmlns:a16="http://schemas.microsoft.com/office/drawing/2014/main" id="{5F74DC52-E015-2B47-4D64-05E1A3781122}"/>
              </a:ext>
            </a:extLst>
          </p:cNvPr>
          <p:cNvCxnSpPr>
            <a:cxnSpLocks/>
          </p:cNvCxnSpPr>
          <p:nvPr/>
        </p:nvCxnSpPr>
        <p:spPr>
          <a:xfrm>
            <a:off x="1147464" y="3868341"/>
            <a:ext cx="53578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テキスト ボックス 15">
            <a:extLst>
              <a:ext uri="{FF2B5EF4-FFF2-40B4-BE49-F238E27FC236}">
                <a16:creationId xmlns:a16="http://schemas.microsoft.com/office/drawing/2014/main" id="{1AAE16A4-293F-8544-F10E-AF09DC219DC1}"/>
              </a:ext>
            </a:extLst>
          </p:cNvPr>
          <p:cNvSpPr txBox="1"/>
          <p:nvPr/>
        </p:nvSpPr>
        <p:spPr>
          <a:xfrm>
            <a:off x="992980" y="3429000"/>
            <a:ext cx="308968" cy="523220"/>
          </a:xfrm>
          <a:prstGeom prst="rect">
            <a:avLst/>
          </a:prstGeom>
          <a:noFill/>
        </p:spPr>
        <p:txBody>
          <a:bodyPr wrap="square">
            <a:spAutoFit/>
          </a:bodyPr>
          <a:lstStyle/>
          <a:p>
            <a:r>
              <a:rPr lang="en-US" altLang="ja-JP" sz="2800" b="1" dirty="0"/>
              <a:t>r</a:t>
            </a:r>
            <a:endParaRPr lang="ja-JP" altLang="en-US" sz="2800" b="1" dirty="0"/>
          </a:p>
        </p:txBody>
      </p:sp>
    </p:spTree>
    <p:extLst>
      <p:ext uri="{BB962C8B-B14F-4D97-AF65-F5344CB8AC3E}">
        <p14:creationId xmlns:p14="http://schemas.microsoft.com/office/powerpoint/2010/main" val="3368972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BBA00BC5-3CE7-D8D3-E992-4ADDDD23D1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488A3DE-B476-2FBF-A15D-B63E842EFE5E}"/>
              </a:ext>
            </a:extLst>
          </p:cNvPr>
          <p:cNvSpPr>
            <a:spLocks noGrp="1"/>
          </p:cNvSpPr>
          <p:nvPr>
            <p:ph type="title"/>
          </p:nvPr>
        </p:nvSpPr>
        <p:spPr/>
        <p:txBody>
          <a:bodyPr/>
          <a:lstStyle/>
          <a:p>
            <a:r>
              <a:rPr lang="ja-JP" altLang="en-US" b="1" dirty="0"/>
              <a:t>可視化グラフの定量評価法</a:t>
            </a:r>
            <a:endParaRPr kumimoji="1" lang="ja-JP" altLang="en-US" b="1"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A530270-31B5-00D5-DD75-FCB00FB41EDB}"/>
                  </a:ext>
                </a:extLst>
              </p:cNvPr>
              <p:cNvSpPr>
                <a:spLocks noGrp="1"/>
              </p:cNvSpPr>
              <p:nvPr>
                <p:ph idx="1"/>
              </p:nvPr>
            </p:nvSpPr>
            <p:spPr/>
            <p:txBody>
              <a:bodyPr/>
              <a:lstStyle/>
              <a:p>
                <a:pPr marL="0" indent="0">
                  <a:buNone/>
                </a:pPr>
                <a:endParaRPr lang="en-US" altLang="ja-JP" dirty="0"/>
              </a:p>
              <a:p>
                <a:pPr marL="0" indent="0">
                  <a:buNone/>
                </a:pPr>
                <a:r>
                  <a:rPr lang="ja-JP" altLang="en-US" b="1" dirty="0"/>
                  <a:t>定量評価法：評価尺度１</a:t>
                </a:r>
                <a:endParaRPr lang="en-US" altLang="ja-JP" b="1" dirty="0"/>
              </a:p>
              <a:p>
                <a:pPr marL="0" indent="0">
                  <a:buNone/>
                </a:pPr>
                <a:r>
                  <a:rPr lang="ja-JP" altLang="en-US" dirty="0"/>
                  <a:t>エッジ長の平均 </a:t>
                </a:r>
                <a:r>
                  <a:rPr lang="en-US" altLang="ja-JP" i="1" dirty="0"/>
                  <a:t>µ</a:t>
                </a:r>
                <a:r>
                  <a:rPr lang="en-US" altLang="ja-JP" dirty="0"/>
                  <a:t>, </a:t>
                </a:r>
                <a:r>
                  <a:rPr lang="ja-JP" altLang="en-US" dirty="0"/>
                  <a:t>標準偏差 </a:t>
                </a:r>
                <a:r>
                  <a:rPr lang="en-US" altLang="ja-JP" i="1" dirty="0"/>
                  <a:t>σ</a:t>
                </a:r>
                <a:r>
                  <a:rPr lang="en-US" altLang="ja-JP" dirty="0"/>
                  <a:t> </a:t>
                </a:r>
                <a:r>
                  <a:rPr lang="ja-JP" altLang="en-US" dirty="0"/>
                  <a:t>を求める</a:t>
                </a:r>
                <a:r>
                  <a:rPr lang="en-US" altLang="ja-JP" dirty="0"/>
                  <a:t>. </a:t>
                </a:r>
              </a:p>
              <a:p>
                <a:pPr marL="0" indent="0">
                  <a:buNone/>
                </a:pPr>
                <a:r>
                  <a:rPr lang="ja-JP" altLang="en-US" dirty="0"/>
                  <a:t>次に</a:t>
                </a:r>
                <a:r>
                  <a:rPr lang="en-US" altLang="ja-JP" dirty="0"/>
                  <a:t>, </a:t>
                </a:r>
                <a:r>
                  <a:rPr lang="ja-JP" altLang="en-US" dirty="0"/>
                  <a:t>変動係数を </a:t>
                </a:r>
                <a14:m>
                  <m:oMath xmlns:m="http://schemas.openxmlformats.org/officeDocument/2006/math">
                    <m:r>
                      <a:rPr kumimoji="1" lang="en-US" altLang="ja-JP" b="0" i="1" smtClean="0">
                        <a:latin typeface="Cambria Math" panose="02040503050406030204" pitchFamily="18" charset="0"/>
                      </a:rPr>
                      <m:t>𝑐𝑣</m:t>
                    </m:r>
                    <m:r>
                      <a:rPr kumimoji="1" lang="en-US" altLang="ja-JP" b="0" i="1" smtClean="0">
                        <a:latin typeface="Cambria Math" panose="02040503050406030204" pitchFamily="18" charset="0"/>
                      </a:rPr>
                      <m:t>=</m:t>
                    </m:r>
                    <m:f>
                      <m:fPr>
                        <m:ctrlPr>
                          <a:rPr kumimoji="1" lang="pt-BR" altLang="ja-JP" b="0" i="1" smtClean="0">
                            <a:latin typeface="Cambria Math" panose="02040503050406030204" pitchFamily="18" charset="0"/>
                          </a:rPr>
                        </m:ctrlPr>
                      </m:fPr>
                      <m:num>
                        <m:r>
                          <m:rPr>
                            <m:nor/>
                          </m:rPr>
                          <a:rPr lang="en-US" altLang="ja-JP" i="1" dirty="0"/>
                          <m:t>σ</m:t>
                        </m:r>
                      </m:num>
                      <m:den>
                        <m:r>
                          <m:rPr>
                            <m:nor/>
                          </m:rPr>
                          <a:rPr lang="en-US" altLang="ja-JP" i="1" dirty="0"/>
                          <m:t>µ</m:t>
                        </m:r>
                      </m:den>
                    </m:f>
                    <m:r>
                      <a:rPr kumimoji="1" lang="en-US" altLang="ja-JP" b="0" i="1" smtClean="0">
                        <a:latin typeface="Cambria Math" panose="02040503050406030204" pitchFamily="18" charset="0"/>
                      </a:rPr>
                      <m:t>∗100</m:t>
                    </m:r>
                  </m:oMath>
                </a14:m>
                <a:r>
                  <a:rPr kumimoji="1" lang="en-US" altLang="ja-JP" dirty="0"/>
                  <a:t> </a:t>
                </a:r>
                <a:r>
                  <a:rPr lang="ja-JP" altLang="en-US" dirty="0"/>
                  <a:t>で求める</a:t>
                </a:r>
                <a:r>
                  <a:rPr lang="en-US" altLang="ja-JP" dirty="0"/>
                  <a:t>.</a:t>
                </a:r>
              </a:p>
              <a:p>
                <a:pPr marL="0" indent="0">
                  <a:buNone/>
                </a:pPr>
                <a:endParaRPr lang="en-US" altLang="ja-JP" dirty="0"/>
              </a:p>
              <a:p>
                <a:pPr marL="0" indent="0">
                  <a:buNone/>
                </a:pPr>
                <a:r>
                  <a:rPr lang="ja-JP" altLang="en-US" b="1" dirty="0"/>
                  <a:t>定量評価法：評価尺度２</a:t>
                </a:r>
                <a:endParaRPr lang="en-US" altLang="ja-JP" b="1" dirty="0"/>
              </a:p>
              <a:p>
                <a:pPr marL="0" indent="0">
                  <a:buNone/>
                </a:pPr>
                <a:r>
                  <a:rPr lang="ja-JP" altLang="en-US" dirty="0"/>
                  <a:t>座標間の距離が </a:t>
                </a:r>
                <a:r>
                  <a:rPr lang="en-US" altLang="ja-JP" dirty="0"/>
                  <a:t>2r </a:t>
                </a:r>
                <a:r>
                  <a:rPr lang="ja-JP" altLang="en-US" dirty="0"/>
                  <a:t>未満のノードペア集合の要素数を求める</a:t>
                </a:r>
                <a:r>
                  <a:rPr lang="en-US" altLang="ja-JP" dirty="0"/>
                  <a:t>.</a:t>
                </a:r>
              </a:p>
              <a:p>
                <a:pPr marL="0" indent="0">
                  <a:buNone/>
                </a:pPr>
                <a:endParaRPr kumimoji="1" lang="en-US" altLang="ja-JP" dirty="0"/>
              </a:p>
              <a:p>
                <a:pPr marL="0" indent="0">
                  <a:buNone/>
                </a:pPr>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2A530270-31B5-00D5-DD75-FCB00FB41EDB}"/>
                  </a:ext>
                </a:extLst>
              </p:cNvPr>
              <p:cNvSpPr>
                <a:spLocks noGrp="1" noRot="1" noChangeAspect="1" noMove="1" noResize="1" noEditPoints="1" noAdjustHandles="1" noChangeArrowheads="1" noChangeShapeType="1" noTextEdit="1"/>
              </p:cNvSpPr>
              <p:nvPr>
                <p:ph idx="1"/>
              </p:nvPr>
            </p:nvSpPr>
            <p:spPr>
              <a:blipFill>
                <a:blip r:embed="rId4"/>
                <a:stretch>
                  <a:fillRect l="-1217"/>
                </a:stretch>
              </a:blipFill>
            </p:spPr>
            <p:txBody>
              <a:bodyPr/>
              <a:lstStyle/>
              <a:p>
                <a:r>
                  <a:rPr lang="ja-JP" altLang="en-US">
                    <a:noFill/>
                  </a:rPr>
                  <a:t> </a:t>
                </a:r>
              </a:p>
            </p:txBody>
          </p:sp>
        </mc:Fallback>
      </mc:AlternateContent>
      <p:sp>
        <p:nvSpPr>
          <p:cNvPr id="7" name="楕円 6">
            <a:extLst>
              <a:ext uri="{FF2B5EF4-FFF2-40B4-BE49-F238E27FC236}">
                <a16:creationId xmlns:a16="http://schemas.microsoft.com/office/drawing/2014/main" id="{0A5B5544-BD43-4DF5-58C5-0604F46F3BD9}"/>
              </a:ext>
            </a:extLst>
          </p:cNvPr>
          <p:cNvSpPr/>
          <p:nvPr/>
        </p:nvSpPr>
        <p:spPr>
          <a:xfrm>
            <a:off x="9234189" y="2364581"/>
            <a:ext cx="1071562" cy="1064419"/>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9" name="直線矢印コネクタ 8">
            <a:extLst>
              <a:ext uri="{FF2B5EF4-FFF2-40B4-BE49-F238E27FC236}">
                <a16:creationId xmlns:a16="http://schemas.microsoft.com/office/drawing/2014/main" id="{8D1233C3-1D25-270C-7E80-2E2FF5AC8655}"/>
              </a:ext>
            </a:extLst>
          </p:cNvPr>
          <p:cNvCxnSpPr>
            <a:cxnSpLocks/>
            <a:endCxn id="7" idx="6"/>
          </p:cNvCxnSpPr>
          <p:nvPr/>
        </p:nvCxnSpPr>
        <p:spPr>
          <a:xfrm>
            <a:off x="9769970" y="2896791"/>
            <a:ext cx="53578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テキスト ボックス 14">
            <a:extLst>
              <a:ext uri="{FF2B5EF4-FFF2-40B4-BE49-F238E27FC236}">
                <a16:creationId xmlns:a16="http://schemas.microsoft.com/office/drawing/2014/main" id="{C08AC4FE-9288-C50E-08CA-E2A86B82CD58}"/>
              </a:ext>
            </a:extLst>
          </p:cNvPr>
          <p:cNvSpPr txBox="1"/>
          <p:nvPr/>
        </p:nvSpPr>
        <p:spPr>
          <a:xfrm>
            <a:off x="9629774" y="2427241"/>
            <a:ext cx="280392" cy="523220"/>
          </a:xfrm>
          <a:prstGeom prst="rect">
            <a:avLst/>
          </a:prstGeom>
          <a:noFill/>
        </p:spPr>
        <p:txBody>
          <a:bodyPr wrap="square">
            <a:spAutoFit/>
          </a:bodyPr>
          <a:lstStyle/>
          <a:p>
            <a:r>
              <a:rPr lang="en-US" altLang="ja-JP" sz="2800" b="1" dirty="0"/>
              <a:t>r</a:t>
            </a:r>
            <a:endParaRPr lang="ja-JP" altLang="en-US" sz="2800" b="1" dirty="0"/>
          </a:p>
        </p:txBody>
      </p:sp>
      <p:sp>
        <p:nvSpPr>
          <p:cNvPr id="17" name="テキスト ボックス 16">
            <a:extLst>
              <a:ext uri="{FF2B5EF4-FFF2-40B4-BE49-F238E27FC236}">
                <a16:creationId xmlns:a16="http://schemas.microsoft.com/office/drawing/2014/main" id="{AFA28975-779F-CEAD-BF0D-E9BA3B5EFAEF}"/>
              </a:ext>
            </a:extLst>
          </p:cNvPr>
          <p:cNvSpPr txBox="1"/>
          <p:nvPr/>
        </p:nvSpPr>
        <p:spPr>
          <a:xfrm>
            <a:off x="8531869" y="3527349"/>
            <a:ext cx="2742306" cy="369332"/>
          </a:xfrm>
          <a:prstGeom prst="rect">
            <a:avLst/>
          </a:prstGeom>
          <a:noFill/>
        </p:spPr>
        <p:txBody>
          <a:bodyPr wrap="square">
            <a:spAutoFit/>
          </a:bodyPr>
          <a:lstStyle/>
          <a:p>
            <a:r>
              <a:rPr lang="ja-JP" altLang="en-US" b="1" dirty="0">
                <a:solidFill>
                  <a:srgbClr val="FF0000"/>
                </a:solidFill>
              </a:rPr>
              <a:t>半径 </a:t>
            </a:r>
            <a:r>
              <a:rPr lang="en-US" altLang="ja-JP" b="1" dirty="0">
                <a:solidFill>
                  <a:srgbClr val="FF0000"/>
                </a:solidFill>
              </a:rPr>
              <a:t>r</a:t>
            </a:r>
            <a:r>
              <a:rPr lang="en-US" altLang="ja-JP" b="1" dirty="0"/>
              <a:t> </a:t>
            </a:r>
            <a:r>
              <a:rPr lang="ja-JP" altLang="en-US" b="1" dirty="0"/>
              <a:t>の円で可視化する</a:t>
            </a:r>
            <a:r>
              <a:rPr lang="en-US" altLang="ja-JP" b="1" dirty="0"/>
              <a:t>.</a:t>
            </a:r>
            <a:endParaRPr lang="ja-JP" altLang="en-US" b="1" dirty="0"/>
          </a:p>
        </p:txBody>
      </p:sp>
    </p:spTree>
    <p:extLst>
      <p:ext uri="{BB962C8B-B14F-4D97-AF65-F5344CB8AC3E}">
        <p14:creationId xmlns:p14="http://schemas.microsoft.com/office/powerpoint/2010/main" val="3322327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86BAD6FB-E8A8-3DF5-2377-5BC789A79B7A}"/>
              </a:ext>
            </a:extLst>
          </p:cNvPr>
          <p:cNvPicPr>
            <a:picLocks noChangeAspect="1"/>
          </p:cNvPicPr>
          <p:nvPr/>
        </p:nvPicPr>
        <p:blipFill>
          <a:blip r:embed="rId4"/>
          <a:stretch>
            <a:fillRect/>
          </a:stretch>
        </p:blipFill>
        <p:spPr>
          <a:xfrm>
            <a:off x="6505177" y="1690688"/>
            <a:ext cx="5150115" cy="3962604"/>
          </a:xfrm>
          <a:prstGeom prst="rect">
            <a:avLst/>
          </a:prstGeom>
        </p:spPr>
      </p:pic>
      <p:sp>
        <p:nvSpPr>
          <p:cNvPr id="2" name="タイトル 1">
            <a:extLst>
              <a:ext uri="{FF2B5EF4-FFF2-40B4-BE49-F238E27FC236}">
                <a16:creationId xmlns:a16="http://schemas.microsoft.com/office/drawing/2014/main" id="{62364CEE-2056-8A70-E08B-F4CA1E59AE39}"/>
              </a:ext>
            </a:extLst>
          </p:cNvPr>
          <p:cNvSpPr>
            <a:spLocks noGrp="1"/>
          </p:cNvSpPr>
          <p:nvPr>
            <p:ph type="title"/>
          </p:nvPr>
        </p:nvSpPr>
        <p:spPr/>
        <p:txBody>
          <a:bodyPr/>
          <a:lstStyle/>
          <a:p>
            <a:r>
              <a:rPr lang="ja-JP" altLang="en-US" b="1" dirty="0"/>
              <a:t>可視化グラフの定量評価法</a:t>
            </a:r>
            <a:endParaRPr kumimoji="1" lang="ja-JP" altLang="en-US" dirty="0"/>
          </a:p>
        </p:txBody>
      </p:sp>
      <p:sp>
        <p:nvSpPr>
          <p:cNvPr id="3" name="コンテンツ プレースホルダー 2">
            <a:extLst>
              <a:ext uri="{FF2B5EF4-FFF2-40B4-BE49-F238E27FC236}">
                <a16:creationId xmlns:a16="http://schemas.microsoft.com/office/drawing/2014/main" id="{ECCC503F-5D63-FDBE-011C-448F14303994}"/>
              </a:ext>
            </a:extLst>
          </p:cNvPr>
          <p:cNvSpPr>
            <a:spLocks noGrp="1"/>
          </p:cNvSpPr>
          <p:nvPr>
            <p:ph idx="1"/>
          </p:nvPr>
        </p:nvSpPr>
        <p:spPr>
          <a:xfrm>
            <a:off x="838200" y="1656482"/>
            <a:ext cx="10515600" cy="5201518"/>
          </a:xfrm>
        </p:spPr>
        <p:txBody>
          <a:bodyPr>
            <a:normAutofit fontScale="92500" lnSpcReduction="10000"/>
          </a:bodyPr>
          <a:lstStyle/>
          <a:p>
            <a:pPr marL="0" indent="0">
              <a:buNone/>
            </a:pPr>
            <a:r>
              <a:rPr lang="ja-JP" altLang="en-US" dirty="0"/>
              <a:t>計３２の可視化グラフの評価値を</a:t>
            </a:r>
            <a:endParaRPr lang="en-US" altLang="ja-JP" dirty="0"/>
          </a:p>
          <a:p>
            <a:pPr marL="0" indent="0">
              <a:buNone/>
            </a:pPr>
            <a:r>
              <a:rPr lang="ja-JP" altLang="en-US" dirty="0"/>
              <a:t>散布図にプロット</a:t>
            </a:r>
            <a:r>
              <a:rPr lang="en-US" altLang="ja-JP" dirty="0"/>
              <a:t>.</a:t>
            </a:r>
          </a:p>
          <a:p>
            <a:pPr marL="0" indent="0">
              <a:buNone/>
            </a:pPr>
            <a:endParaRPr lang="en-US" altLang="ja-JP" dirty="0"/>
          </a:p>
          <a:p>
            <a:pPr marL="0" indent="0">
              <a:buNone/>
            </a:pPr>
            <a:r>
              <a:rPr lang="en-US" altLang="ja-JP" dirty="0"/>
              <a:t>X</a:t>
            </a:r>
            <a:r>
              <a:rPr kumimoji="1" lang="ja-JP" altLang="en-US" dirty="0"/>
              <a:t>軸</a:t>
            </a:r>
            <a:r>
              <a:rPr lang="ja-JP" altLang="en-US" dirty="0"/>
              <a:t>：</a:t>
            </a:r>
            <a:r>
              <a:rPr kumimoji="1" lang="ja-JP" altLang="en-US" dirty="0"/>
              <a:t>評価尺度１</a:t>
            </a:r>
            <a:endParaRPr kumimoji="1" lang="en-US" altLang="ja-JP" dirty="0"/>
          </a:p>
          <a:p>
            <a:pPr marL="0" indent="0">
              <a:buNone/>
            </a:pPr>
            <a:r>
              <a:rPr lang="en-US" altLang="ja-JP" dirty="0"/>
              <a:t>Y</a:t>
            </a:r>
            <a:r>
              <a:rPr lang="ja-JP" altLang="en-US" dirty="0"/>
              <a:t>軸：評価尺度２</a:t>
            </a:r>
            <a:endParaRPr lang="en-US" altLang="ja-JP" dirty="0"/>
          </a:p>
          <a:p>
            <a:pPr marL="0" indent="0">
              <a:buNone/>
            </a:pPr>
            <a:endParaRPr lang="en-US" altLang="ja-JP" dirty="0"/>
          </a:p>
          <a:p>
            <a:pPr marL="0" indent="0">
              <a:buNone/>
            </a:pPr>
            <a:r>
              <a:rPr lang="ja-JP" altLang="en-US" dirty="0"/>
              <a:t>各サークルの数値はクエリ文書の </a:t>
            </a:r>
            <a:endParaRPr lang="en-US" altLang="ja-JP" dirty="0"/>
          </a:p>
          <a:p>
            <a:pPr marL="0" indent="0">
              <a:buNone/>
            </a:pPr>
            <a:r>
              <a:rPr lang="en-US" altLang="ja-JP" dirty="0"/>
              <a:t>id </a:t>
            </a:r>
            <a:r>
              <a:rPr lang="ja-JP" altLang="en-US" dirty="0"/>
              <a:t>を示している</a:t>
            </a:r>
            <a:r>
              <a:rPr lang="en-US" altLang="ja-JP" dirty="0"/>
              <a:t>.</a:t>
            </a:r>
          </a:p>
          <a:p>
            <a:pPr marL="0" indent="0">
              <a:buNone/>
            </a:pPr>
            <a:endParaRPr lang="en-US" altLang="ja-JP" dirty="0"/>
          </a:p>
          <a:p>
            <a:pPr marL="0" indent="0">
              <a:buNone/>
            </a:pPr>
            <a:r>
              <a:rPr lang="ja-JP" altLang="en-US" b="1" dirty="0"/>
              <a:t>同番</a:t>
            </a:r>
            <a:r>
              <a:rPr lang="ja-JP" altLang="en-US" dirty="0"/>
              <a:t>のサークルは</a:t>
            </a:r>
            <a:r>
              <a:rPr lang="ja-JP" altLang="en-US" b="1" dirty="0"/>
              <a:t>同じクエリ文書</a:t>
            </a:r>
            <a:r>
              <a:rPr lang="en-US" altLang="ja-JP" dirty="0"/>
              <a:t>,</a:t>
            </a:r>
          </a:p>
          <a:p>
            <a:pPr marL="0" indent="0">
              <a:buNone/>
            </a:pPr>
            <a:r>
              <a:rPr lang="ja-JP" altLang="en-US" b="1" dirty="0"/>
              <a:t>同色</a:t>
            </a:r>
            <a:r>
              <a:rPr lang="ja-JP" altLang="en-US" dirty="0"/>
              <a:t>のサークルは</a:t>
            </a:r>
            <a:r>
              <a:rPr lang="ja-JP" altLang="en-US" b="1" dirty="0"/>
              <a:t>同じ可視化手法</a:t>
            </a:r>
            <a:endParaRPr lang="en-US" altLang="ja-JP" b="1" dirty="0"/>
          </a:p>
        </p:txBody>
      </p:sp>
      <p:sp>
        <p:nvSpPr>
          <p:cNvPr id="6" name="楕円 5">
            <a:extLst>
              <a:ext uri="{FF2B5EF4-FFF2-40B4-BE49-F238E27FC236}">
                <a16:creationId xmlns:a16="http://schemas.microsoft.com/office/drawing/2014/main" id="{0FE9EFF9-F42E-D22A-71F4-99EE63C580CA}"/>
              </a:ext>
            </a:extLst>
          </p:cNvPr>
          <p:cNvSpPr/>
          <p:nvPr/>
        </p:nvSpPr>
        <p:spPr>
          <a:xfrm>
            <a:off x="7062052" y="4837187"/>
            <a:ext cx="1803342" cy="364331"/>
          </a:xfrm>
          <a:prstGeom prst="ellipse">
            <a:avLst/>
          </a:prstGeom>
          <a:noFill/>
          <a:ln w="76200"/>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DE4335C-53B0-0FFE-A6F6-649D958B0CC0}"/>
              </a:ext>
            </a:extLst>
          </p:cNvPr>
          <p:cNvSpPr txBox="1"/>
          <p:nvPr/>
        </p:nvSpPr>
        <p:spPr>
          <a:xfrm>
            <a:off x="6006606" y="6298803"/>
            <a:ext cx="6147256" cy="461665"/>
          </a:xfrm>
          <a:prstGeom prst="rect">
            <a:avLst/>
          </a:prstGeom>
          <a:noFill/>
        </p:spPr>
        <p:txBody>
          <a:bodyPr wrap="square">
            <a:spAutoFit/>
          </a:bodyPr>
          <a:lstStyle/>
          <a:p>
            <a:r>
              <a:rPr lang="ja-JP" altLang="en-US" sz="2400" b="1" dirty="0">
                <a:solidFill>
                  <a:srgbClr val="C00000"/>
                </a:solidFill>
              </a:rPr>
              <a:t>バネモデル法は全てのグラフで良好の結果</a:t>
            </a:r>
            <a:r>
              <a:rPr lang="en-US" altLang="ja-JP" sz="2400" b="1" dirty="0">
                <a:solidFill>
                  <a:srgbClr val="C00000"/>
                </a:solidFill>
              </a:rPr>
              <a:t>.</a:t>
            </a:r>
            <a:endParaRPr lang="ja-JP" altLang="en-US" sz="2400" b="1" dirty="0">
              <a:solidFill>
                <a:srgbClr val="C00000"/>
              </a:solidFill>
            </a:endParaRPr>
          </a:p>
        </p:txBody>
      </p:sp>
      <p:sp>
        <p:nvSpPr>
          <p:cNvPr id="4" name="矢印: 右 3">
            <a:extLst>
              <a:ext uri="{FF2B5EF4-FFF2-40B4-BE49-F238E27FC236}">
                <a16:creationId xmlns:a16="http://schemas.microsoft.com/office/drawing/2014/main" id="{3654F063-27BA-FEA4-94B5-2E2BD344CD97}"/>
              </a:ext>
            </a:extLst>
          </p:cNvPr>
          <p:cNvSpPr/>
          <p:nvPr/>
        </p:nvSpPr>
        <p:spPr>
          <a:xfrm rot="16200000">
            <a:off x="7550268" y="5598765"/>
            <a:ext cx="826911" cy="4996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吹き出し: 角を丸めた四角形 6">
            <a:extLst>
              <a:ext uri="{FF2B5EF4-FFF2-40B4-BE49-F238E27FC236}">
                <a16:creationId xmlns:a16="http://schemas.microsoft.com/office/drawing/2014/main" id="{DE3D38EB-B723-CBFB-66F0-C8F592FAECAC}"/>
              </a:ext>
            </a:extLst>
          </p:cNvPr>
          <p:cNvSpPr/>
          <p:nvPr/>
        </p:nvSpPr>
        <p:spPr>
          <a:xfrm>
            <a:off x="8122443" y="559197"/>
            <a:ext cx="2714626" cy="1207293"/>
          </a:xfrm>
          <a:prstGeom prst="wedgeRoundRectCallou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dirty="0"/>
              <a:t>左下にプロットされるサークルが</a:t>
            </a:r>
            <a:r>
              <a:rPr kumimoji="1" lang="ja-JP" altLang="en-US" dirty="0">
                <a:solidFill>
                  <a:srgbClr val="C00000"/>
                </a:solidFill>
              </a:rPr>
              <a:t>高水準</a:t>
            </a:r>
          </a:p>
        </p:txBody>
      </p:sp>
    </p:spTree>
    <p:extLst>
      <p:ext uri="{BB962C8B-B14F-4D97-AF65-F5344CB8AC3E}">
        <p14:creationId xmlns:p14="http://schemas.microsoft.com/office/powerpoint/2010/main" val="33780002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DA172D6F-58E5-4DDE-5951-971450C0E7C6}"/>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A5D75116-524E-2DD2-3E1B-5EF6472D4D45}"/>
              </a:ext>
            </a:extLst>
          </p:cNvPr>
          <p:cNvPicPr>
            <a:picLocks noChangeAspect="1"/>
          </p:cNvPicPr>
          <p:nvPr/>
        </p:nvPicPr>
        <p:blipFill>
          <a:blip r:embed="rId4"/>
          <a:stretch>
            <a:fillRect/>
          </a:stretch>
        </p:blipFill>
        <p:spPr>
          <a:xfrm>
            <a:off x="6505177" y="1690688"/>
            <a:ext cx="5150115" cy="3962604"/>
          </a:xfrm>
          <a:prstGeom prst="rect">
            <a:avLst/>
          </a:prstGeom>
        </p:spPr>
      </p:pic>
      <p:sp>
        <p:nvSpPr>
          <p:cNvPr id="2" name="タイトル 1">
            <a:extLst>
              <a:ext uri="{FF2B5EF4-FFF2-40B4-BE49-F238E27FC236}">
                <a16:creationId xmlns:a16="http://schemas.microsoft.com/office/drawing/2014/main" id="{D0731D83-B425-B92D-09F0-64CC9D645729}"/>
              </a:ext>
            </a:extLst>
          </p:cNvPr>
          <p:cNvSpPr>
            <a:spLocks noGrp="1"/>
          </p:cNvSpPr>
          <p:nvPr>
            <p:ph type="title"/>
          </p:nvPr>
        </p:nvSpPr>
        <p:spPr/>
        <p:txBody>
          <a:bodyPr/>
          <a:lstStyle/>
          <a:p>
            <a:r>
              <a:rPr lang="ja-JP" altLang="en-US" b="1" dirty="0"/>
              <a:t>定量評価と定性評価の結果は一致する？</a:t>
            </a:r>
            <a:endParaRPr kumimoji="1" lang="ja-JP" altLang="en-US" dirty="0"/>
          </a:p>
        </p:txBody>
      </p:sp>
      <p:sp>
        <p:nvSpPr>
          <p:cNvPr id="3" name="コンテンツ プレースホルダー 2">
            <a:extLst>
              <a:ext uri="{FF2B5EF4-FFF2-40B4-BE49-F238E27FC236}">
                <a16:creationId xmlns:a16="http://schemas.microsoft.com/office/drawing/2014/main" id="{67331E53-E30E-9963-A2B6-B02E2B4C58A8}"/>
              </a:ext>
            </a:extLst>
          </p:cNvPr>
          <p:cNvSpPr>
            <a:spLocks noGrp="1"/>
          </p:cNvSpPr>
          <p:nvPr>
            <p:ph idx="1"/>
          </p:nvPr>
        </p:nvSpPr>
        <p:spPr>
          <a:xfrm>
            <a:off x="838200" y="1640336"/>
            <a:ext cx="10515600" cy="5144447"/>
          </a:xfrm>
        </p:spPr>
        <p:txBody>
          <a:bodyPr>
            <a:normAutofit fontScale="92500" lnSpcReduction="10000"/>
          </a:bodyPr>
          <a:lstStyle/>
          <a:p>
            <a:pPr marL="0" indent="0">
              <a:buNone/>
            </a:pPr>
            <a:r>
              <a:rPr lang="ja-JP" altLang="en-US" dirty="0"/>
              <a:t>計３２の可視化グラフの評価値を</a:t>
            </a:r>
            <a:endParaRPr lang="en-US" altLang="ja-JP" dirty="0"/>
          </a:p>
          <a:p>
            <a:pPr marL="0" indent="0">
              <a:buNone/>
            </a:pPr>
            <a:r>
              <a:rPr lang="ja-JP" altLang="en-US" dirty="0"/>
              <a:t>散布図にプロット</a:t>
            </a:r>
            <a:r>
              <a:rPr lang="en-US" altLang="ja-JP" dirty="0"/>
              <a:t>.</a:t>
            </a:r>
          </a:p>
          <a:p>
            <a:pPr marL="0" indent="0">
              <a:buNone/>
            </a:pPr>
            <a:endParaRPr lang="en-US" altLang="ja-JP" dirty="0"/>
          </a:p>
          <a:p>
            <a:pPr marL="0" indent="0">
              <a:buNone/>
            </a:pPr>
            <a:r>
              <a:rPr lang="en-US" altLang="ja-JP" dirty="0"/>
              <a:t>X</a:t>
            </a:r>
            <a:r>
              <a:rPr kumimoji="1" lang="ja-JP" altLang="en-US" dirty="0"/>
              <a:t>軸</a:t>
            </a:r>
            <a:r>
              <a:rPr lang="ja-JP" altLang="en-US" dirty="0"/>
              <a:t>：</a:t>
            </a:r>
            <a:r>
              <a:rPr kumimoji="1" lang="ja-JP" altLang="en-US" dirty="0"/>
              <a:t>評価尺度１</a:t>
            </a:r>
            <a:endParaRPr kumimoji="1" lang="en-US" altLang="ja-JP" dirty="0"/>
          </a:p>
          <a:p>
            <a:pPr marL="0" indent="0">
              <a:buNone/>
            </a:pPr>
            <a:r>
              <a:rPr lang="en-US" altLang="ja-JP" dirty="0"/>
              <a:t>Y</a:t>
            </a:r>
            <a:r>
              <a:rPr lang="ja-JP" altLang="en-US" dirty="0"/>
              <a:t>軸：評価尺度２</a:t>
            </a:r>
            <a:endParaRPr lang="en-US" altLang="ja-JP" dirty="0"/>
          </a:p>
          <a:p>
            <a:pPr marL="0" indent="0">
              <a:buNone/>
            </a:pPr>
            <a:endParaRPr lang="en-US" altLang="ja-JP" dirty="0"/>
          </a:p>
          <a:p>
            <a:pPr marL="0" indent="0">
              <a:buNone/>
            </a:pPr>
            <a:r>
              <a:rPr lang="ja-JP" altLang="en-US" dirty="0"/>
              <a:t>各サークルの数値はクエリ文書の </a:t>
            </a:r>
            <a:endParaRPr lang="en-US" altLang="ja-JP" dirty="0"/>
          </a:p>
          <a:p>
            <a:pPr marL="0" indent="0">
              <a:buNone/>
            </a:pPr>
            <a:r>
              <a:rPr lang="en-US" altLang="ja-JP" dirty="0"/>
              <a:t>id </a:t>
            </a:r>
            <a:r>
              <a:rPr lang="ja-JP" altLang="en-US" dirty="0"/>
              <a:t>を示している</a:t>
            </a:r>
            <a:r>
              <a:rPr lang="en-US" altLang="ja-JP" dirty="0"/>
              <a:t>.</a:t>
            </a:r>
          </a:p>
          <a:p>
            <a:pPr marL="0" indent="0">
              <a:buNone/>
            </a:pPr>
            <a:endParaRPr lang="en-US" altLang="ja-JP" dirty="0"/>
          </a:p>
          <a:p>
            <a:pPr marL="0" indent="0">
              <a:buNone/>
            </a:pPr>
            <a:r>
              <a:rPr lang="ja-JP" altLang="en-US" b="1" dirty="0"/>
              <a:t>同番</a:t>
            </a:r>
            <a:r>
              <a:rPr lang="ja-JP" altLang="en-US" dirty="0"/>
              <a:t>のサークルは</a:t>
            </a:r>
            <a:r>
              <a:rPr lang="ja-JP" altLang="en-US" b="1" dirty="0"/>
              <a:t>同じクエリ文書</a:t>
            </a:r>
            <a:r>
              <a:rPr lang="en-US" altLang="ja-JP" dirty="0"/>
              <a:t>,</a:t>
            </a:r>
          </a:p>
          <a:p>
            <a:pPr marL="0" indent="0">
              <a:buNone/>
            </a:pPr>
            <a:r>
              <a:rPr lang="ja-JP" altLang="en-US" b="1" dirty="0"/>
              <a:t>同色</a:t>
            </a:r>
            <a:r>
              <a:rPr lang="ja-JP" altLang="en-US" dirty="0"/>
              <a:t>のサークルは</a:t>
            </a:r>
            <a:r>
              <a:rPr lang="ja-JP" altLang="en-US" b="1" dirty="0"/>
              <a:t>同じ可視化手法</a:t>
            </a:r>
            <a:endParaRPr lang="en-US" altLang="ja-JP" b="1" dirty="0"/>
          </a:p>
          <a:p>
            <a:pPr marL="0" indent="0">
              <a:buNone/>
            </a:pPr>
            <a:endParaRPr kumimoji="1" lang="ja-JP" altLang="en-US" dirty="0"/>
          </a:p>
        </p:txBody>
      </p:sp>
      <p:sp>
        <p:nvSpPr>
          <p:cNvPr id="8" name="テキスト ボックス 7">
            <a:extLst>
              <a:ext uri="{FF2B5EF4-FFF2-40B4-BE49-F238E27FC236}">
                <a16:creationId xmlns:a16="http://schemas.microsoft.com/office/drawing/2014/main" id="{ED72B14A-3C7A-070B-6114-AC4328A823C4}"/>
              </a:ext>
            </a:extLst>
          </p:cNvPr>
          <p:cNvSpPr txBox="1"/>
          <p:nvPr/>
        </p:nvSpPr>
        <p:spPr>
          <a:xfrm>
            <a:off x="6474276" y="6298803"/>
            <a:ext cx="5211916" cy="461665"/>
          </a:xfrm>
          <a:prstGeom prst="rect">
            <a:avLst/>
          </a:prstGeom>
          <a:noFill/>
        </p:spPr>
        <p:txBody>
          <a:bodyPr wrap="square">
            <a:spAutoFit/>
          </a:bodyPr>
          <a:lstStyle/>
          <a:p>
            <a:r>
              <a:rPr lang="ja-JP" altLang="en-US" sz="2400" b="1" dirty="0">
                <a:solidFill>
                  <a:srgbClr val="C00000"/>
                </a:solidFill>
              </a:rPr>
              <a:t>クエリ文書６の可視化グラフを確認</a:t>
            </a:r>
            <a:r>
              <a:rPr lang="en-US" altLang="ja-JP" sz="2400" b="1" dirty="0">
                <a:solidFill>
                  <a:srgbClr val="C00000"/>
                </a:solidFill>
              </a:rPr>
              <a:t>.</a:t>
            </a:r>
            <a:endParaRPr lang="ja-JP" altLang="en-US" sz="2400" b="1" dirty="0">
              <a:solidFill>
                <a:srgbClr val="C00000"/>
              </a:solidFill>
            </a:endParaRPr>
          </a:p>
        </p:txBody>
      </p:sp>
      <p:sp>
        <p:nvSpPr>
          <p:cNvPr id="4" name="矢印: 右 3">
            <a:extLst>
              <a:ext uri="{FF2B5EF4-FFF2-40B4-BE49-F238E27FC236}">
                <a16:creationId xmlns:a16="http://schemas.microsoft.com/office/drawing/2014/main" id="{A57F6D8C-7DA8-322D-AAF2-1197BC469F8C}"/>
              </a:ext>
            </a:extLst>
          </p:cNvPr>
          <p:cNvSpPr/>
          <p:nvPr/>
        </p:nvSpPr>
        <p:spPr>
          <a:xfrm rot="16200000">
            <a:off x="7456070" y="5577569"/>
            <a:ext cx="785191" cy="47050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FBA73F70-35AF-98F9-C5C9-57269E1D551F}"/>
              </a:ext>
            </a:extLst>
          </p:cNvPr>
          <p:cNvSpPr/>
          <p:nvPr/>
        </p:nvSpPr>
        <p:spPr>
          <a:xfrm>
            <a:off x="9172575" y="2987085"/>
            <a:ext cx="307181" cy="307181"/>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A74FCC35-8C65-F06E-EE34-8B7E92FB7263}"/>
              </a:ext>
            </a:extLst>
          </p:cNvPr>
          <p:cNvSpPr/>
          <p:nvPr/>
        </p:nvSpPr>
        <p:spPr>
          <a:xfrm>
            <a:off x="9423150" y="4001294"/>
            <a:ext cx="307181" cy="307181"/>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11E3C7D3-C849-D134-BDBD-417BA78C4D89}"/>
              </a:ext>
            </a:extLst>
          </p:cNvPr>
          <p:cNvSpPr/>
          <p:nvPr/>
        </p:nvSpPr>
        <p:spPr>
          <a:xfrm>
            <a:off x="8667750" y="3754438"/>
            <a:ext cx="307181" cy="307181"/>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5A43D9A5-CEB5-6F59-7FF2-27538042A1DB}"/>
              </a:ext>
            </a:extLst>
          </p:cNvPr>
          <p:cNvSpPr/>
          <p:nvPr/>
        </p:nvSpPr>
        <p:spPr>
          <a:xfrm>
            <a:off x="7930329" y="4860131"/>
            <a:ext cx="307181" cy="307181"/>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ja-JP" altLang="en-US"/>
          </a:p>
        </p:txBody>
      </p:sp>
    </p:spTree>
    <p:extLst>
      <p:ext uri="{BB962C8B-B14F-4D97-AF65-F5344CB8AC3E}">
        <p14:creationId xmlns:p14="http://schemas.microsoft.com/office/powerpoint/2010/main" val="34129249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E62D6F-16EE-A2C9-996A-31A5023D1435}"/>
            </a:ext>
          </a:extLst>
        </p:cNvPr>
        <p:cNvGrpSpPr/>
        <p:nvPr/>
      </p:nvGrpSpPr>
      <p:grpSpPr>
        <a:xfrm>
          <a:off x="0" y="0"/>
          <a:ext cx="0" cy="0"/>
          <a:chOff x="0" y="0"/>
          <a:chExt cx="0" cy="0"/>
        </a:xfrm>
      </p:grpSpPr>
      <p:pic>
        <p:nvPicPr>
          <p:cNvPr id="18" name="図 17">
            <a:extLst>
              <a:ext uri="{FF2B5EF4-FFF2-40B4-BE49-F238E27FC236}">
                <a16:creationId xmlns:a16="http://schemas.microsoft.com/office/drawing/2014/main" id="{95498155-65FF-9D24-0259-EEB323026FA6}"/>
              </a:ext>
            </a:extLst>
          </p:cNvPr>
          <p:cNvPicPr>
            <a:picLocks noChangeAspect="1"/>
          </p:cNvPicPr>
          <p:nvPr/>
        </p:nvPicPr>
        <p:blipFill>
          <a:blip r:embed="rId3"/>
          <a:stretch>
            <a:fillRect/>
          </a:stretch>
        </p:blipFill>
        <p:spPr>
          <a:xfrm>
            <a:off x="6126480" y="3673250"/>
            <a:ext cx="5881822" cy="2985864"/>
          </a:xfrm>
          <a:prstGeom prst="rect">
            <a:avLst/>
          </a:prstGeom>
        </p:spPr>
      </p:pic>
      <p:pic>
        <p:nvPicPr>
          <p:cNvPr id="11" name="図 10">
            <a:extLst>
              <a:ext uri="{FF2B5EF4-FFF2-40B4-BE49-F238E27FC236}">
                <a16:creationId xmlns:a16="http://schemas.microsoft.com/office/drawing/2014/main" id="{FF3BE647-4951-CC09-F754-97B26A6CDDA7}"/>
              </a:ext>
            </a:extLst>
          </p:cNvPr>
          <p:cNvPicPr>
            <a:picLocks noChangeAspect="1"/>
          </p:cNvPicPr>
          <p:nvPr/>
        </p:nvPicPr>
        <p:blipFill>
          <a:blip r:embed="rId4"/>
          <a:stretch>
            <a:fillRect/>
          </a:stretch>
        </p:blipFill>
        <p:spPr>
          <a:xfrm>
            <a:off x="306550" y="304041"/>
            <a:ext cx="5592245" cy="3159435"/>
          </a:xfrm>
          <a:prstGeom prst="rect">
            <a:avLst/>
          </a:prstGeom>
        </p:spPr>
      </p:pic>
      <p:pic>
        <p:nvPicPr>
          <p:cNvPr id="7" name="図 6">
            <a:extLst>
              <a:ext uri="{FF2B5EF4-FFF2-40B4-BE49-F238E27FC236}">
                <a16:creationId xmlns:a16="http://schemas.microsoft.com/office/drawing/2014/main" id="{2509AB02-17D5-5E26-F374-DA9DEFDFE60D}"/>
              </a:ext>
            </a:extLst>
          </p:cNvPr>
          <p:cNvPicPr>
            <a:picLocks noChangeAspect="1"/>
          </p:cNvPicPr>
          <p:nvPr/>
        </p:nvPicPr>
        <p:blipFill>
          <a:blip r:embed="rId5"/>
          <a:stretch>
            <a:fillRect/>
          </a:stretch>
        </p:blipFill>
        <p:spPr>
          <a:xfrm>
            <a:off x="250206" y="3565629"/>
            <a:ext cx="5633760" cy="3201107"/>
          </a:xfrm>
          <a:prstGeom prst="rect">
            <a:avLst/>
          </a:prstGeom>
        </p:spPr>
      </p:pic>
      <p:pic>
        <p:nvPicPr>
          <p:cNvPr id="4" name="図 3">
            <a:extLst>
              <a:ext uri="{FF2B5EF4-FFF2-40B4-BE49-F238E27FC236}">
                <a16:creationId xmlns:a16="http://schemas.microsoft.com/office/drawing/2014/main" id="{34FFCF2A-4979-BD0F-9FBD-7C3854A767CE}"/>
              </a:ext>
            </a:extLst>
          </p:cNvPr>
          <p:cNvPicPr>
            <a:picLocks noChangeAspect="1"/>
          </p:cNvPicPr>
          <p:nvPr/>
        </p:nvPicPr>
        <p:blipFill>
          <a:blip r:embed="rId6"/>
          <a:stretch>
            <a:fillRect/>
          </a:stretch>
        </p:blipFill>
        <p:spPr>
          <a:xfrm>
            <a:off x="6293205" y="279180"/>
            <a:ext cx="5485256" cy="3095863"/>
          </a:xfrm>
          <a:prstGeom prst="rect">
            <a:avLst/>
          </a:prstGeom>
        </p:spPr>
      </p:pic>
      <p:sp>
        <p:nvSpPr>
          <p:cNvPr id="15" name="Rectangle 14">
            <a:extLst>
              <a:ext uri="{FF2B5EF4-FFF2-40B4-BE49-F238E27FC236}">
                <a16:creationId xmlns:a16="http://schemas.microsoft.com/office/drawing/2014/main" id="{10F9E1E6-C563-E606-6EB0-DA13CEAE9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48C0A42-FEA5-8E35-1189-B2C51C06C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D9B2B96-F7A1-FB3D-CD29-FA3074992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552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テキスト ボックス 11">
            <a:extLst>
              <a:ext uri="{FF2B5EF4-FFF2-40B4-BE49-F238E27FC236}">
                <a16:creationId xmlns:a16="http://schemas.microsoft.com/office/drawing/2014/main" id="{27BAD3BB-6AF4-46C3-D537-1031AF5DA7D6}"/>
              </a:ext>
            </a:extLst>
          </p:cNvPr>
          <p:cNvSpPr txBox="1"/>
          <p:nvPr/>
        </p:nvSpPr>
        <p:spPr>
          <a:xfrm>
            <a:off x="10226006" y="80294"/>
            <a:ext cx="1853768" cy="369332"/>
          </a:xfrm>
          <a:prstGeom prst="rect">
            <a:avLst/>
          </a:prstGeom>
          <a:noFill/>
        </p:spPr>
        <p:txBody>
          <a:bodyPr wrap="square">
            <a:spAutoFit/>
          </a:bodyPr>
          <a:lstStyle/>
          <a:p>
            <a:r>
              <a:rPr lang="ja-JP" altLang="en-US" b="1" dirty="0"/>
              <a:t>スペクトラル法</a:t>
            </a:r>
          </a:p>
        </p:txBody>
      </p:sp>
      <p:sp>
        <p:nvSpPr>
          <p:cNvPr id="14" name="テキスト ボックス 13">
            <a:extLst>
              <a:ext uri="{FF2B5EF4-FFF2-40B4-BE49-F238E27FC236}">
                <a16:creationId xmlns:a16="http://schemas.microsoft.com/office/drawing/2014/main" id="{EB257ADC-2E6C-9FB8-7885-1BE93C2C8697}"/>
              </a:ext>
            </a:extLst>
          </p:cNvPr>
          <p:cNvSpPr txBox="1"/>
          <p:nvPr/>
        </p:nvSpPr>
        <p:spPr>
          <a:xfrm>
            <a:off x="172854" y="6295251"/>
            <a:ext cx="2394293" cy="369332"/>
          </a:xfrm>
          <a:prstGeom prst="rect">
            <a:avLst/>
          </a:prstGeom>
          <a:noFill/>
        </p:spPr>
        <p:txBody>
          <a:bodyPr wrap="square">
            <a:spAutoFit/>
          </a:bodyPr>
          <a:lstStyle/>
          <a:p>
            <a:r>
              <a:rPr lang="ja-JP" altLang="en-US" b="1" dirty="0"/>
              <a:t>多次元尺度法</a:t>
            </a:r>
          </a:p>
        </p:txBody>
      </p:sp>
      <p:sp>
        <p:nvSpPr>
          <p:cNvPr id="16" name="テキスト ボックス 15">
            <a:extLst>
              <a:ext uri="{FF2B5EF4-FFF2-40B4-BE49-F238E27FC236}">
                <a16:creationId xmlns:a16="http://schemas.microsoft.com/office/drawing/2014/main" id="{D555CA65-D155-0619-A079-A644C1556C62}"/>
              </a:ext>
            </a:extLst>
          </p:cNvPr>
          <p:cNvSpPr txBox="1"/>
          <p:nvPr/>
        </p:nvSpPr>
        <p:spPr>
          <a:xfrm>
            <a:off x="10363987" y="6289782"/>
            <a:ext cx="1577807" cy="369332"/>
          </a:xfrm>
          <a:prstGeom prst="rect">
            <a:avLst/>
          </a:prstGeom>
          <a:noFill/>
        </p:spPr>
        <p:txBody>
          <a:bodyPr wrap="square">
            <a:spAutoFit/>
          </a:bodyPr>
          <a:lstStyle/>
          <a:p>
            <a:r>
              <a:rPr lang="ja-JP" altLang="en-US" b="1" dirty="0"/>
              <a:t>ばねモデル法</a:t>
            </a:r>
          </a:p>
        </p:txBody>
      </p:sp>
      <p:sp>
        <p:nvSpPr>
          <p:cNvPr id="28" name="テキスト ボックス 27">
            <a:extLst>
              <a:ext uri="{FF2B5EF4-FFF2-40B4-BE49-F238E27FC236}">
                <a16:creationId xmlns:a16="http://schemas.microsoft.com/office/drawing/2014/main" id="{01B5361D-A444-DFD1-010F-D79E48B97C13}"/>
              </a:ext>
            </a:extLst>
          </p:cNvPr>
          <p:cNvSpPr txBox="1"/>
          <p:nvPr/>
        </p:nvSpPr>
        <p:spPr>
          <a:xfrm>
            <a:off x="105720" y="108131"/>
            <a:ext cx="2528560" cy="369332"/>
          </a:xfrm>
          <a:prstGeom prst="rect">
            <a:avLst/>
          </a:prstGeom>
          <a:noFill/>
        </p:spPr>
        <p:txBody>
          <a:bodyPr wrap="square">
            <a:spAutoFit/>
          </a:bodyPr>
          <a:lstStyle/>
          <a:p>
            <a:r>
              <a:rPr lang="ja-JP" altLang="en-US" b="1" dirty="0"/>
              <a:t>クロスエントロピー法</a:t>
            </a:r>
          </a:p>
        </p:txBody>
      </p:sp>
    </p:spTree>
    <p:extLst>
      <p:ext uri="{BB962C8B-B14F-4D97-AF65-F5344CB8AC3E}">
        <p14:creationId xmlns:p14="http://schemas.microsoft.com/office/powerpoint/2010/main" val="2866795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DE5DC9-7D39-1F8D-15A3-34F6FADB15DB}"/>
              </a:ext>
            </a:extLst>
          </p:cNvPr>
          <p:cNvSpPr>
            <a:spLocks noGrp="1"/>
          </p:cNvSpPr>
          <p:nvPr>
            <p:ph type="title"/>
          </p:nvPr>
        </p:nvSpPr>
        <p:spPr/>
        <p:txBody>
          <a:bodyPr/>
          <a:lstStyle/>
          <a:p>
            <a:r>
              <a:rPr kumimoji="1" lang="ja-JP" altLang="en-US" b="1" dirty="0"/>
              <a:t>おわりに</a:t>
            </a:r>
          </a:p>
        </p:txBody>
      </p:sp>
      <p:sp>
        <p:nvSpPr>
          <p:cNvPr id="3" name="コンテンツ プレースホルダー 2">
            <a:extLst>
              <a:ext uri="{FF2B5EF4-FFF2-40B4-BE49-F238E27FC236}">
                <a16:creationId xmlns:a16="http://schemas.microsoft.com/office/drawing/2014/main" id="{5E147242-C1D1-FFFF-31C8-4AB42BC28422}"/>
              </a:ext>
            </a:extLst>
          </p:cNvPr>
          <p:cNvSpPr>
            <a:spLocks noGrp="1"/>
          </p:cNvSpPr>
          <p:nvPr>
            <p:ph idx="1"/>
          </p:nvPr>
        </p:nvSpPr>
        <p:spPr/>
        <p:txBody>
          <a:bodyPr>
            <a:normAutofit/>
          </a:bodyPr>
          <a:lstStyle/>
          <a:p>
            <a:r>
              <a:rPr lang="ja-JP" altLang="en-US" dirty="0"/>
              <a:t>検索結果文書がクエリに対し</a:t>
            </a:r>
            <a:r>
              <a:rPr lang="en-US" altLang="ja-JP" dirty="0"/>
              <a:t>, </a:t>
            </a:r>
            <a:r>
              <a:rPr lang="ja-JP" altLang="en-US" dirty="0"/>
              <a:t>どのような説明語で類似するかを付与するとともに</a:t>
            </a:r>
            <a:r>
              <a:rPr lang="en-US" altLang="ja-JP" dirty="0"/>
              <a:t>, </a:t>
            </a:r>
            <a:r>
              <a:rPr lang="ja-JP" altLang="en-US" dirty="0"/>
              <a:t>カテゴリ分けして配色する新手法を提案</a:t>
            </a:r>
            <a:r>
              <a:rPr lang="en-US" altLang="ja-JP" dirty="0"/>
              <a:t>.</a:t>
            </a:r>
          </a:p>
          <a:p>
            <a:endParaRPr kumimoji="1" lang="en-US" altLang="ja-JP" dirty="0"/>
          </a:p>
          <a:p>
            <a:r>
              <a:rPr lang="ja-JP" altLang="en-US" dirty="0"/>
              <a:t>既存の可視化グラフ生成アルゴリズムと今回の類似貢献度ベクトル構築法を組み合わせた可視化ブラウジングツールを開発</a:t>
            </a:r>
            <a:r>
              <a:rPr lang="en-US" altLang="ja-JP" dirty="0"/>
              <a:t>.</a:t>
            </a:r>
          </a:p>
          <a:p>
            <a:endParaRPr kumimoji="1" lang="en-US" altLang="ja-JP" dirty="0"/>
          </a:p>
          <a:p>
            <a:r>
              <a:rPr lang="ja-JP" altLang="en-US" dirty="0"/>
              <a:t>可視化グラフの評価では</a:t>
            </a:r>
            <a:r>
              <a:rPr lang="en-US" altLang="ja-JP" dirty="0"/>
              <a:t>, </a:t>
            </a:r>
            <a:r>
              <a:rPr lang="ja-JP" altLang="en-US" dirty="0"/>
              <a:t>変動係数を考慮した評価基準を設定し</a:t>
            </a:r>
            <a:r>
              <a:rPr lang="en-US" altLang="ja-JP" dirty="0"/>
              <a:t>, </a:t>
            </a:r>
            <a:r>
              <a:rPr lang="ja-JP" altLang="en-US" dirty="0"/>
              <a:t>定量評価と定性評価の結果が一致することを確認</a:t>
            </a:r>
            <a:r>
              <a:rPr lang="en-US" altLang="ja-JP" dirty="0"/>
              <a:t>.</a:t>
            </a:r>
            <a:endParaRPr kumimoji="1" lang="ja-JP" altLang="en-US" dirty="0"/>
          </a:p>
        </p:txBody>
      </p:sp>
    </p:spTree>
    <p:extLst>
      <p:ext uri="{BB962C8B-B14F-4D97-AF65-F5344CB8AC3E}">
        <p14:creationId xmlns:p14="http://schemas.microsoft.com/office/powerpoint/2010/main" val="6655399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85F7A3-56A6-72A4-F752-3D8761C3F9B0}"/>
              </a:ext>
            </a:extLst>
          </p:cNvPr>
          <p:cNvSpPr>
            <a:spLocks noGrp="1"/>
          </p:cNvSpPr>
          <p:nvPr>
            <p:ph type="title"/>
          </p:nvPr>
        </p:nvSpPr>
        <p:spPr/>
        <p:txBody>
          <a:bodyPr/>
          <a:lstStyle/>
          <a:p>
            <a:r>
              <a:rPr lang="ja-JP" altLang="en-US" b="1" dirty="0"/>
              <a:t>参考文献</a:t>
            </a:r>
            <a:endParaRPr kumimoji="1" lang="ja-JP" altLang="en-US" b="1" dirty="0"/>
          </a:p>
        </p:txBody>
      </p:sp>
      <p:sp>
        <p:nvSpPr>
          <p:cNvPr id="3" name="コンテンツ プレースホルダー 2">
            <a:extLst>
              <a:ext uri="{FF2B5EF4-FFF2-40B4-BE49-F238E27FC236}">
                <a16:creationId xmlns:a16="http://schemas.microsoft.com/office/drawing/2014/main" id="{75543378-46BE-9294-30B9-2997A92032E8}"/>
              </a:ext>
            </a:extLst>
          </p:cNvPr>
          <p:cNvSpPr>
            <a:spLocks noGrp="1"/>
          </p:cNvSpPr>
          <p:nvPr>
            <p:ph idx="1"/>
          </p:nvPr>
        </p:nvSpPr>
        <p:spPr>
          <a:xfrm>
            <a:off x="838199" y="1825624"/>
            <a:ext cx="10835869" cy="4781431"/>
          </a:xfrm>
        </p:spPr>
        <p:txBody>
          <a:bodyPr>
            <a:normAutofit/>
          </a:bodyPr>
          <a:lstStyle/>
          <a:p>
            <a:pPr marL="514350" indent="-514350">
              <a:buFont typeface="+mj-lt"/>
              <a:buAutoNum type="arabicPeriod"/>
            </a:pPr>
            <a:r>
              <a:rPr lang="ja-JP" altLang="en-US" dirty="0"/>
              <a:t>尾崎 了祐</a:t>
            </a:r>
            <a:r>
              <a:rPr lang="en-US" altLang="ja-JP" dirty="0"/>
              <a:t>, </a:t>
            </a:r>
            <a:r>
              <a:rPr lang="ja-JP" altLang="en-US" dirty="0"/>
              <a:t>斉藤和己</a:t>
            </a:r>
            <a:r>
              <a:rPr lang="en-US" altLang="ja-JP" dirty="0"/>
              <a:t>. </a:t>
            </a:r>
            <a:r>
              <a:rPr lang="ja-JP" altLang="en-US" dirty="0"/>
              <a:t>類似貢献度に基づく文書検索結果の可視化分析法</a:t>
            </a:r>
            <a:r>
              <a:rPr lang="en-US" altLang="ja-JP" dirty="0"/>
              <a:t>. </a:t>
            </a:r>
            <a:r>
              <a:rPr lang="ja-JP" altLang="en-US" dirty="0"/>
              <a:t>情報処理学会第８６回全国大会</a:t>
            </a:r>
            <a:r>
              <a:rPr lang="en-US" altLang="ja-JP" dirty="0"/>
              <a:t>, 2024. </a:t>
            </a:r>
          </a:p>
          <a:p>
            <a:pPr marL="514350" indent="-514350">
              <a:buFont typeface="+mj-lt"/>
              <a:buAutoNum type="arabicPeriod"/>
            </a:pPr>
            <a:r>
              <a:rPr lang="ja-JP" altLang="en-US" dirty="0"/>
              <a:t>尾崎 了祐</a:t>
            </a:r>
            <a:r>
              <a:rPr lang="en-US" altLang="ja-JP" dirty="0"/>
              <a:t>, </a:t>
            </a:r>
            <a:r>
              <a:rPr lang="ja-JP" altLang="en-US" dirty="0"/>
              <a:t>斉藤和己</a:t>
            </a:r>
            <a:r>
              <a:rPr lang="en-US" altLang="ja-JP" dirty="0"/>
              <a:t>. </a:t>
            </a:r>
            <a:r>
              <a:rPr lang="ja-JP" altLang="en-US" dirty="0"/>
              <a:t>類似貢献度に基づく文書検索結果の可視化評価法</a:t>
            </a:r>
            <a:r>
              <a:rPr lang="en-US" altLang="ja-JP" dirty="0"/>
              <a:t>. </a:t>
            </a:r>
            <a:r>
              <a:rPr lang="ja-JP" altLang="en-US" dirty="0"/>
              <a:t>情報</a:t>
            </a:r>
            <a:r>
              <a:rPr lang="ja-JP" altLang="en-US"/>
              <a:t>処理学会</a:t>
            </a:r>
            <a:r>
              <a:rPr lang="ja-JP" altLang="en-US" dirty="0"/>
              <a:t>第８７回全国大会</a:t>
            </a:r>
            <a:r>
              <a:rPr lang="en-US" altLang="ja-JP" dirty="0"/>
              <a:t>, 2025. </a:t>
            </a:r>
          </a:p>
          <a:p>
            <a:pPr marL="514350" indent="-514350">
              <a:buFont typeface="+mj-lt"/>
              <a:buAutoNum type="arabicPeriod"/>
            </a:pPr>
            <a:r>
              <a:rPr lang="ja-JP" altLang="en-US" dirty="0"/>
              <a:t>斉藤和巳</a:t>
            </a:r>
            <a:r>
              <a:rPr lang="en-US" altLang="ja-JP" dirty="0"/>
              <a:t>. </a:t>
            </a:r>
            <a:r>
              <a:rPr lang="ja-JP" altLang="en-US" dirty="0"/>
              <a:t>ネットワークの可視化技術</a:t>
            </a:r>
            <a:r>
              <a:rPr lang="en-US" altLang="ja-JP" dirty="0"/>
              <a:t>―</a:t>
            </a:r>
            <a:r>
              <a:rPr lang="ja-JP" altLang="en-US" dirty="0"/>
              <a:t>大規模情報からの意味情報の抽出</a:t>
            </a:r>
            <a:r>
              <a:rPr lang="en-US" altLang="ja-JP" dirty="0"/>
              <a:t>―. </a:t>
            </a:r>
            <a:r>
              <a:rPr lang="ja-JP" altLang="en-US" dirty="0"/>
              <a:t>数理科 学</a:t>
            </a:r>
            <a:r>
              <a:rPr lang="en-US" altLang="ja-JP" dirty="0"/>
              <a:t>, 536, 78-83, 2008. </a:t>
            </a:r>
          </a:p>
          <a:p>
            <a:pPr marL="514350" indent="-514350">
              <a:buFont typeface="+mj-lt"/>
              <a:buAutoNum type="arabicPeriod"/>
            </a:pPr>
            <a:r>
              <a:rPr lang="ja-JP" altLang="en-US" dirty="0"/>
              <a:t>池田 弘行</a:t>
            </a:r>
            <a:r>
              <a:rPr lang="en-US" altLang="ja-JP" dirty="0"/>
              <a:t>. </a:t>
            </a:r>
            <a:r>
              <a:rPr lang="ja-JP" altLang="en-US" dirty="0"/>
              <a:t>機械学習を用いた 文章データの解析・可視化技術</a:t>
            </a:r>
            <a:r>
              <a:rPr lang="en-US" altLang="ja-JP" dirty="0"/>
              <a:t>. </a:t>
            </a:r>
            <a:r>
              <a:rPr lang="ja-JP" altLang="en-US" dirty="0"/>
              <a:t>東芝レビュー</a:t>
            </a:r>
            <a:r>
              <a:rPr lang="en-US" altLang="ja-JP" dirty="0"/>
              <a:t>, 5, 68-69, 2017. </a:t>
            </a:r>
          </a:p>
          <a:p>
            <a:pPr marL="514350" indent="-514350">
              <a:buFont typeface="+mj-lt"/>
              <a:buAutoNum type="arabicPeriod"/>
            </a:pPr>
            <a:r>
              <a:rPr lang="ja-JP" altLang="en-US" dirty="0"/>
              <a:t>小田 良治</a:t>
            </a:r>
            <a:r>
              <a:rPr lang="en-US" altLang="ja-JP" dirty="0"/>
              <a:t>, </a:t>
            </a:r>
            <a:r>
              <a:rPr lang="ja-JP" altLang="en-US" dirty="0"/>
              <a:t>土井 章男</a:t>
            </a:r>
            <a:r>
              <a:rPr lang="en-US" altLang="ja-JP" dirty="0"/>
              <a:t>. </a:t>
            </a:r>
            <a:r>
              <a:rPr lang="ja-JP" altLang="en-US" dirty="0"/>
              <a:t>大規模文書検索結果のクラスタリングと可視化</a:t>
            </a:r>
            <a:r>
              <a:rPr lang="en-US" altLang="ja-JP" dirty="0"/>
              <a:t>. </a:t>
            </a:r>
            <a:r>
              <a:rPr lang="ja-JP" altLang="en-US" dirty="0"/>
              <a:t>情報処理学会 第 </a:t>
            </a:r>
            <a:r>
              <a:rPr lang="en-US" altLang="ja-JP" dirty="0"/>
              <a:t>66 </a:t>
            </a:r>
            <a:r>
              <a:rPr lang="ja-JP" altLang="en-US" dirty="0"/>
              <a:t>回全国大会</a:t>
            </a:r>
            <a:r>
              <a:rPr lang="en-US" altLang="ja-JP" dirty="0"/>
              <a:t>, 2004. </a:t>
            </a:r>
            <a:endParaRPr lang="en-US" altLang="ja-JP" b="1" dirty="0"/>
          </a:p>
        </p:txBody>
      </p:sp>
    </p:spTree>
    <p:extLst>
      <p:ext uri="{BB962C8B-B14F-4D97-AF65-F5344CB8AC3E}">
        <p14:creationId xmlns:p14="http://schemas.microsoft.com/office/powerpoint/2010/main" val="41338982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0353EF-B4CB-8764-5AE1-28A6DBE3488C}"/>
              </a:ext>
            </a:extLst>
          </p:cNvPr>
          <p:cNvSpPr>
            <a:spLocks noGrp="1"/>
          </p:cNvSpPr>
          <p:nvPr>
            <p:ph type="title"/>
          </p:nvPr>
        </p:nvSpPr>
        <p:spPr/>
        <p:txBody>
          <a:bodyPr/>
          <a:lstStyle/>
          <a:p>
            <a:r>
              <a:rPr lang="ja-JP" altLang="en-US" b="1" dirty="0"/>
              <a:t>参考文献</a:t>
            </a:r>
            <a:endParaRPr kumimoji="1" lang="ja-JP" altLang="en-US" b="1" dirty="0"/>
          </a:p>
        </p:txBody>
      </p:sp>
      <p:sp>
        <p:nvSpPr>
          <p:cNvPr id="3" name="コンテンツ プレースホルダー 2">
            <a:extLst>
              <a:ext uri="{FF2B5EF4-FFF2-40B4-BE49-F238E27FC236}">
                <a16:creationId xmlns:a16="http://schemas.microsoft.com/office/drawing/2014/main" id="{A5F17F25-4E1C-8E0D-65D4-745DBE0640C6}"/>
              </a:ext>
            </a:extLst>
          </p:cNvPr>
          <p:cNvSpPr>
            <a:spLocks noGrp="1"/>
          </p:cNvSpPr>
          <p:nvPr>
            <p:ph idx="1"/>
          </p:nvPr>
        </p:nvSpPr>
        <p:spPr/>
        <p:txBody>
          <a:bodyPr>
            <a:normAutofit lnSpcReduction="10000"/>
          </a:bodyPr>
          <a:lstStyle/>
          <a:p>
            <a:pPr marL="514350" indent="-514350">
              <a:buFont typeface="+mj-lt"/>
              <a:buAutoNum type="arabicPeriod" startAt="6"/>
            </a:pPr>
            <a:r>
              <a:rPr lang="en-US" altLang="ja-JP" dirty="0"/>
              <a:t>T. Kudo, K. Yamamoto, and Y. Matsumoto, Applying Conditional Random Fields to Japanese Morphological Analysis, Proceedings of the 2004 Conference on Empirical Methods in Natural Language Processing (EMNLP-2004), 230-237, 2004. </a:t>
            </a:r>
          </a:p>
          <a:p>
            <a:pPr marL="514350" indent="-514350">
              <a:buFont typeface="+mj-lt"/>
              <a:buAutoNum type="arabicPeriod" startAt="6"/>
            </a:pPr>
            <a:r>
              <a:rPr lang="en-US" altLang="ja-JP" dirty="0"/>
              <a:t>T. Kamada and S. Kawai. An algorithm </a:t>
            </a:r>
            <a:r>
              <a:rPr lang="en-US" altLang="ja-JP" dirty="0" err="1"/>
              <a:t>fordrawing</a:t>
            </a:r>
            <a:r>
              <a:rPr lang="en-US" altLang="ja-JP" dirty="0"/>
              <a:t> general undirected graphs. Information Processing Letters. 31, 7-15, 1989.</a:t>
            </a:r>
          </a:p>
          <a:p>
            <a:pPr marL="514350" indent="-514350">
              <a:buFont typeface="+mj-lt"/>
              <a:buAutoNum type="arabicPeriod" startAt="6"/>
            </a:pPr>
            <a:r>
              <a:rPr lang="en-US" altLang="ja-JP" dirty="0"/>
              <a:t> G. Battista, P. Eades, R. </a:t>
            </a:r>
            <a:r>
              <a:rPr lang="en-US" altLang="ja-JP" dirty="0" err="1"/>
              <a:t>Tamassia</a:t>
            </a:r>
            <a:r>
              <a:rPr lang="en-US" altLang="ja-JP" dirty="0"/>
              <a:t>, and I. Tollis, Graph drawing: An annotated bibliography Prentice-Hall, New </a:t>
            </a:r>
            <a:r>
              <a:rPr lang="en-US" altLang="ja-JP" dirty="0" err="1"/>
              <a:t>Jersy</a:t>
            </a:r>
            <a:r>
              <a:rPr lang="en-US" altLang="ja-JP" dirty="0"/>
              <a:t>, 1999. </a:t>
            </a:r>
          </a:p>
        </p:txBody>
      </p:sp>
    </p:spTree>
    <p:extLst>
      <p:ext uri="{BB962C8B-B14F-4D97-AF65-F5344CB8AC3E}">
        <p14:creationId xmlns:p14="http://schemas.microsoft.com/office/powerpoint/2010/main" val="10977147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E6B797-8136-4FAA-11B6-A19F042E23DA}"/>
              </a:ext>
            </a:extLst>
          </p:cNvPr>
          <p:cNvSpPr>
            <a:spLocks noGrp="1"/>
          </p:cNvSpPr>
          <p:nvPr>
            <p:ph type="title"/>
          </p:nvPr>
        </p:nvSpPr>
        <p:spPr/>
        <p:txBody>
          <a:bodyPr/>
          <a:lstStyle/>
          <a:p>
            <a:r>
              <a:rPr kumimoji="1" lang="ja-JP" altLang="en-US" b="1" dirty="0"/>
              <a:t>参考文献</a:t>
            </a:r>
          </a:p>
        </p:txBody>
      </p:sp>
      <p:sp>
        <p:nvSpPr>
          <p:cNvPr id="3" name="コンテンツ プレースホルダー 2">
            <a:extLst>
              <a:ext uri="{FF2B5EF4-FFF2-40B4-BE49-F238E27FC236}">
                <a16:creationId xmlns:a16="http://schemas.microsoft.com/office/drawing/2014/main" id="{0D5CCF9A-2DB4-1B14-70D0-08BCAF302F3B}"/>
              </a:ext>
            </a:extLst>
          </p:cNvPr>
          <p:cNvSpPr>
            <a:spLocks noGrp="1"/>
          </p:cNvSpPr>
          <p:nvPr>
            <p:ph idx="1"/>
          </p:nvPr>
        </p:nvSpPr>
        <p:spPr/>
        <p:txBody>
          <a:bodyPr/>
          <a:lstStyle/>
          <a:p>
            <a:pPr marL="514350" indent="-514350">
              <a:buFont typeface="+mj-lt"/>
              <a:buAutoNum type="arabicPeriod" startAt="9"/>
            </a:pPr>
            <a:r>
              <a:rPr lang="en-US" altLang="ja-JP" dirty="0"/>
              <a:t>F. R. K. Chung, Spectral Graph Theory, Number 92 in CBMS Regional Conference Series in Mathematics American Mathematical Society, 1997.</a:t>
            </a:r>
          </a:p>
          <a:p>
            <a:pPr marL="514350" indent="-514350">
              <a:buFont typeface="+mj-lt"/>
              <a:buAutoNum type="arabicPeriod" startAt="9"/>
            </a:pPr>
            <a:r>
              <a:rPr lang="ja-JP" altLang="en-US" dirty="0"/>
              <a:t>山田 武士</a:t>
            </a:r>
            <a:r>
              <a:rPr lang="en-US" altLang="ja-JP" dirty="0"/>
              <a:t>, </a:t>
            </a:r>
            <a:r>
              <a:rPr lang="ja-JP" altLang="en-US" dirty="0"/>
              <a:t>斉藤 和巳</a:t>
            </a:r>
            <a:r>
              <a:rPr lang="en-US" altLang="ja-JP" dirty="0"/>
              <a:t>, </a:t>
            </a:r>
            <a:r>
              <a:rPr lang="ja-JP" altLang="en-US" dirty="0"/>
              <a:t>上田 修功</a:t>
            </a:r>
            <a:r>
              <a:rPr lang="en-US" altLang="ja-JP" dirty="0"/>
              <a:t>, </a:t>
            </a:r>
            <a:r>
              <a:rPr lang="ja-JP" altLang="en-US" dirty="0"/>
              <a:t>クロスエントロピー最小化に基づくネットワーク データの埋め込み</a:t>
            </a:r>
            <a:r>
              <a:rPr lang="en-US" altLang="ja-JP" dirty="0"/>
              <a:t>. </a:t>
            </a:r>
            <a:r>
              <a:rPr lang="ja-JP" altLang="en-US" dirty="0"/>
              <a:t>情報処理学会論文誌</a:t>
            </a:r>
            <a:r>
              <a:rPr lang="en-US" altLang="ja-JP" dirty="0"/>
              <a:t>, 44 2401-2408, 2003.</a:t>
            </a:r>
          </a:p>
          <a:p>
            <a:endParaRPr lang="en-US" altLang="ja-JP" dirty="0"/>
          </a:p>
          <a:p>
            <a:endParaRPr kumimoji="1" lang="ja-JP" altLang="en-US" dirty="0"/>
          </a:p>
          <a:p>
            <a:endParaRPr kumimoji="1" lang="ja-JP" altLang="en-US" dirty="0"/>
          </a:p>
        </p:txBody>
      </p:sp>
    </p:spTree>
    <p:extLst>
      <p:ext uri="{BB962C8B-B14F-4D97-AF65-F5344CB8AC3E}">
        <p14:creationId xmlns:p14="http://schemas.microsoft.com/office/powerpoint/2010/main" val="3362193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3F56FF-CFB8-086A-F5F1-AA948B401CC1}"/>
              </a:ext>
            </a:extLst>
          </p:cNvPr>
          <p:cNvSpPr>
            <a:spLocks noGrp="1"/>
          </p:cNvSpPr>
          <p:nvPr>
            <p:ph type="title"/>
          </p:nvPr>
        </p:nvSpPr>
        <p:spPr>
          <a:xfrm>
            <a:off x="838200" y="2420066"/>
            <a:ext cx="10515600" cy="2454442"/>
          </a:xfrm>
        </p:spPr>
        <p:txBody>
          <a:bodyPr>
            <a:normAutofit/>
          </a:bodyPr>
          <a:lstStyle/>
          <a:p>
            <a:r>
              <a:rPr kumimoji="1" lang="ja-JP" altLang="en-US" b="1" dirty="0"/>
              <a:t>               研究発表は以上です</a:t>
            </a:r>
            <a:r>
              <a:rPr kumimoji="1" lang="en-US" altLang="ja-JP" b="1" dirty="0"/>
              <a:t>.</a:t>
            </a:r>
            <a:br>
              <a:rPr kumimoji="1" lang="en-US" altLang="ja-JP" b="1" dirty="0"/>
            </a:br>
            <a:r>
              <a:rPr kumimoji="1" lang="en-US" altLang="ja-JP" b="1" dirty="0"/>
              <a:t>              </a:t>
            </a:r>
            <a:br>
              <a:rPr kumimoji="1" lang="en-US" altLang="ja-JP" b="1" dirty="0"/>
            </a:br>
            <a:r>
              <a:rPr kumimoji="1" lang="en-US" altLang="ja-JP" b="1" dirty="0"/>
              <a:t>       </a:t>
            </a:r>
            <a:r>
              <a:rPr kumimoji="1" lang="ja-JP" altLang="en-US" b="1" dirty="0"/>
              <a:t>ご清聴ありがとうございました</a:t>
            </a:r>
          </a:p>
        </p:txBody>
      </p:sp>
    </p:spTree>
    <p:extLst>
      <p:ext uri="{BB962C8B-B14F-4D97-AF65-F5344CB8AC3E}">
        <p14:creationId xmlns:p14="http://schemas.microsoft.com/office/powerpoint/2010/main" val="2158670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4E1020-F498-56A7-9F68-F5EFB1C1716D}"/>
              </a:ext>
            </a:extLst>
          </p:cNvPr>
          <p:cNvSpPr>
            <a:spLocks noGrp="1"/>
          </p:cNvSpPr>
          <p:nvPr>
            <p:ph type="title"/>
          </p:nvPr>
        </p:nvSpPr>
        <p:spPr/>
        <p:txBody>
          <a:bodyPr/>
          <a:lstStyle/>
          <a:p>
            <a:r>
              <a:rPr kumimoji="1" lang="ja-JP" altLang="en-US" b="1" dirty="0"/>
              <a:t>カウント方式の回答</a:t>
            </a:r>
          </a:p>
        </p:txBody>
      </p:sp>
      <p:sp>
        <p:nvSpPr>
          <p:cNvPr id="3" name="コンテンツ プレースホルダー 2">
            <a:extLst>
              <a:ext uri="{FF2B5EF4-FFF2-40B4-BE49-F238E27FC236}">
                <a16:creationId xmlns:a16="http://schemas.microsoft.com/office/drawing/2014/main" id="{A0B981FF-E1F8-9049-22EB-E2F2C55BD6D8}"/>
              </a:ext>
            </a:extLst>
          </p:cNvPr>
          <p:cNvSpPr>
            <a:spLocks noGrp="1"/>
          </p:cNvSpPr>
          <p:nvPr>
            <p:ph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b="1"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楕円 3">
            <a:extLst>
              <a:ext uri="{FF2B5EF4-FFF2-40B4-BE49-F238E27FC236}">
                <a16:creationId xmlns:a16="http://schemas.microsoft.com/office/drawing/2014/main" id="{69F6A233-FCD1-8012-3FBB-133F85769A39}"/>
              </a:ext>
            </a:extLst>
          </p:cNvPr>
          <p:cNvSpPr/>
          <p:nvPr/>
        </p:nvSpPr>
        <p:spPr>
          <a:xfrm>
            <a:off x="3186113" y="4301967"/>
            <a:ext cx="1071562" cy="106441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2</a:t>
            </a:r>
            <a:endParaRPr kumimoji="1" lang="ja-JP" altLang="en-US" dirty="0"/>
          </a:p>
        </p:txBody>
      </p:sp>
      <p:sp>
        <p:nvSpPr>
          <p:cNvPr id="5" name="楕円 4">
            <a:extLst>
              <a:ext uri="{FF2B5EF4-FFF2-40B4-BE49-F238E27FC236}">
                <a16:creationId xmlns:a16="http://schemas.microsoft.com/office/drawing/2014/main" id="{9AF81019-A043-57E9-87FA-DDF2F983652E}"/>
              </a:ext>
            </a:extLst>
          </p:cNvPr>
          <p:cNvSpPr/>
          <p:nvPr/>
        </p:nvSpPr>
        <p:spPr>
          <a:xfrm>
            <a:off x="3502820" y="3614817"/>
            <a:ext cx="1071562" cy="106441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3</a:t>
            </a:r>
            <a:endParaRPr kumimoji="1" lang="ja-JP" altLang="en-US" dirty="0"/>
          </a:p>
        </p:txBody>
      </p:sp>
      <p:sp>
        <p:nvSpPr>
          <p:cNvPr id="6" name="楕円 5">
            <a:extLst>
              <a:ext uri="{FF2B5EF4-FFF2-40B4-BE49-F238E27FC236}">
                <a16:creationId xmlns:a16="http://schemas.microsoft.com/office/drawing/2014/main" id="{9D96268D-0257-A380-5361-81467C872BB8}"/>
              </a:ext>
            </a:extLst>
          </p:cNvPr>
          <p:cNvSpPr/>
          <p:nvPr/>
        </p:nvSpPr>
        <p:spPr>
          <a:xfrm>
            <a:off x="2808686" y="3623547"/>
            <a:ext cx="1071562" cy="106441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1</a:t>
            </a:r>
            <a:endParaRPr kumimoji="1" lang="ja-JP" altLang="en-US" dirty="0"/>
          </a:p>
        </p:txBody>
      </p:sp>
      <p:sp>
        <p:nvSpPr>
          <p:cNvPr id="9" name="正方形/長方形 8">
            <a:extLst>
              <a:ext uri="{FF2B5EF4-FFF2-40B4-BE49-F238E27FC236}">
                <a16:creationId xmlns:a16="http://schemas.microsoft.com/office/drawing/2014/main" id="{9362E942-AE2E-A2A9-EB5F-EB037AD69016}"/>
              </a:ext>
            </a:extLst>
          </p:cNvPr>
          <p:cNvSpPr/>
          <p:nvPr/>
        </p:nvSpPr>
        <p:spPr>
          <a:xfrm>
            <a:off x="6444853" y="2830355"/>
            <a:ext cx="3671887" cy="14716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ノード</a:t>
            </a:r>
            <a:r>
              <a:rPr lang="ja-JP" altLang="en-US" dirty="0"/>
              <a:t>１視点：自身を含めて３</a:t>
            </a:r>
            <a:endParaRPr lang="en-US" altLang="ja-JP" dirty="0"/>
          </a:p>
          <a:p>
            <a:pPr algn="ctr"/>
            <a:r>
              <a:rPr kumimoji="1" lang="ja-JP" altLang="en-US" dirty="0"/>
              <a:t>ノード２視点：自身を含めて３</a:t>
            </a:r>
            <a:endParaRPr kumimoji="1" lang="en-US" altLang="ja-JP" dirty="0"/>
          </a:p>
          <a:p>
            <a:pPr algn="ctr"/>
            <a:r>
              <a:rPr lang="ja-JP" altLang="en-US" dirty="0"/>
              <a:t>ノード３視点：自身を含めて３</a:t>
            </a:r>
            <a:endParaRPr kumimoji="1" lang="ja-JP" altLang="en-US" dirty="0"/>
          </a:p>
        </p:txBody>
      </p:sp>
      <p:sp>
        <p:nvSpPr>
          <p:cNvPr id="10" name="矢印: 下 9">
            <a:extLst>
              <a:ext uri="{FF2B5EF4-FFF2-40B4-BE49-F238E27FC236}">
                <a16:creationId xmlns:a16="http://schemas.microsoft.com/office/drawing/2014/main" id="{5F424DA1-A052-EF79-C15C-F0B1AFFED3AF}"/>
              </a:ext>
            </a:extLst>
          </p:cNvPr>
          <p:cNvSpPr/>
          <p:nvPr/>
        </p:nvSpPr>
        <p:spPr>
          <a:xfrm>
            <a:off x="7902177" y="4699238"/>
            <a:ext cx="757238" cy="8929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04DE8D3C-B606-B33C-A3FB-45F402DAECA0}"/>
              </a:ext>
            </a:extLst>
          </p:cNvPr>
          <p:cNvSpPr txBox="1"/>
          <p:nvPr/>
        </p:nvSpPr>
        <p:spPr>
          <a:xfrm>
            <a:off x="6357936" y="5942568"/>
            <a:ext cx="3845720" cy="369332"/>
          </a:xfrm>
          <a:prstGeom prst="rect">
            <a:avLst/>
          </a:prstGeom>
          <a:noFill/>
        </p:spPr>
        <p:txBody>
          <a:bodyPr wrap="square">
            <a:spAutoFit/>
          </a:bodyPr>
          <a:lstStyle/>
          <a:p>
            <a:r>
              <a:rPr kumimoji="1" lang="ja-JP" altLang="en-US" b="1" dirty="0"/>
              <a:t>重なってるノード数のカウントは</a:t>
            </a:r>
            <a:r>
              <a:rPr kumimoji="1" lang="ja-JP" altLang="en-US" b="1" dirty="0">
                <a:solidFill>
                  <a:srgbClr val="FF0000"/>
                </a:solidFill>
              </a:rPr>
              <a:t>９</a:t>
            </a:r>
            <a:endParaRPr lang="ja-JP" altLang="en-US" dirty="0">
              <a:solidFill>
                <a:srgbClr val="FF0000"/>
              </a:solidFill>
            </a:endParaRPr>
          </a:p>
        </p:txBody>
      </p:sp>
    </p:spTree>
    <p:extLst>
      <p:ext uri="{BB962C8B-B14F-4D97-AF65-F5344CB8AC3E}">
        <p14:creationId xmlns:p14="http://schemas.microsoft.com/office/powerpoint/2010/main" val="294177909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66725</TotalTime>
  <Words>4919</Words>
  <Application>Microsoft Office PowerPoint</Application>
  <PresentationFormat>ワイド画面</PresentationFormat>
  <Paragraphs>695</Paragraphs>
  <Slides>40</Slides>
  <Notes>37</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40</vt:i4>
      </vt:variant>
    </vt:vector>
  </HeadingPairs>
  <TitlesOfParts>
    <vt:vector size="49" baseType="lpstr">
      <vt:lpstr>Menlo</vt:lpstr>
      <vt:lpstr>游ゴシック</vt:lpstr>
      <vt:lpstr>游ゴシック Light</vt:lpstr>
      <vt:lpstr>Arial</vt:lpstr>
      <vt:lpstr>Cambria Math</vt:lpstr>
      <vt:lpstr>Courier New</vt:lpstr>
      <vt:lpstr>Lato</vt:lpstr>
      <vt:lpstr>Roboto</vt:lpstr>
      <vt:lpstr>Office テーマ</vt:lpstr>
      <vt:lpstr>類似貢献度に基づく文書検索結果の可視化分析法と評価法</vt:lpstr>
      <vt:lpstr>はじめに</vt:lpstr>
      <vt:lpstr>類似文書検索</vt:lpstr>
      <vt:lpstr>PowerPoint プレゼンテーション</vt:lpstr>
      <vt:lpstr>可視化ブラウジングツール</vt:lpstr>
      <vt:lpstr>可視化ブラウジングツールの特徴</vt:lpstr>
      <vt:lpstr>PowerPoint プレゼンテーション</vt:lpstr>
      <vt:lpstr>可視化ブラウジングツールの主な機能</vt:lpstr>
      <vt:lpstr>文書検索</vt:lpstr>
      <vt:lpstr>説明語は類似貢献度ベクトルで算出</vt:lpstr>
      <vt:lpstr>色と説明語を付けるだけじゃ不十分！</vt:lpstr>
      <vt:lpstr>グラフ構築</vt:lpstr>
      <vt:lpstr>PowerPoint プレゼンテーション</vt:lpstr>
      <vt:lpstr>可視化ブラウジングツールの提案</vt:lpstr>
      <vt:lpstr>中間発表での質問</vt:lpstr>
      <vt:lpstr>類似度とエッジ長は関係しているのか？</vt:lpstr>
      <vt:lpstr>PowerPoint プレゼンテーション</vt:lpstr>
      <vt:lpstr>PowerPoint プレゼンテーション</vt:lpstr>
      <vt:lpstr>PowerPoint プレゼンテーション</vt:lpstr>
      <vt:lpstr>同じ意味の単語の表記が異なってもよいか？</vt:lpstr>
      <vt:lpstr>同じ意味を持つ単語が複数存在してもよいのか？</vt:lpstr>
      <vt:lpstr>同じ意味を持つ単語が複数存在してもよいのか？</vt:lpstr>
      <vt:lpstr>同じ意味の単語の表記が異なってもよいか？</vt:lpstr>
      <vt:lpstr>可視化グラフの評価</vt:lpstr>
      <vt:lpstr>代表的な可視化グラフの生成手法</vt:lpstr>
      <vt:lpstr>PowerPoint プレゼンテーション</vt:lpstr>
      <vt:lpstr>可視化結果の良さを定量評価可能か？</vt:lpstr>
      <vt:lpstr>良い可視化グラフの基準</vt:lpstr>
      <vt:lpstr>1. 隣接ノードが離れすぎずに描画される</vt:lpstr>
      <vt:lpstr>2. 重なっているノードが存在しない</vt:lpstr>
      <vt:lpstr>可視化グラフの定量評価法</vt:lpstr>
      <vt:lpstr>可視化グラフの定量評価法</vt:lpstr>
      <vt:lpstr>定量評価と定性評価の結果は一致する？</vt:lpstr>
      <vt:lpstr>PowerPoint プレゼンテーション</vt:lpstr>
      <vt:lpstr>おわりに</vt:lpstr>
      <vt:lpstr>参考文献</vt:lpstr>
      <vt:lpstr>参考文献</vt:lpstr>
      <vt:lpstr>参考文献</vt:lpstr>
      <vt:lpstr>               研究発表は以上です.                       ご清聴ありがとうございました</vt:lpstr>
      <vt:lpstr>カウント方式の回答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202370036</dc:creator>
  <cp:lastModifiedBy>了祐 尾崎</cp:lastModifiedBy>
  <cp:revision>3139</cp:revision>
  <dcterms:created xsi:type="dcterms:W3CDTF">2023-06-16T06:06:18Z</dcterms:created>
  <dcterms:modified xsi:type="dcterms:W3CDTF">2025-02-18T00:43:46Z</dcterms:modified>
</cp:coreProperties>
</file>